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</p:sldIdLst>
  <p:notesMasterIdLst>
    <p:notesMasterId r:id="rId30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notesMaster" Target="notesMasters/notesMaster1.xml"/><Relationship Id="rId31" Type="http://schemas.openxmlformats.org/officeDocument/2006/relationships/presProps" Target="presProps.xml"/><Relationship Id="rId32" Type="http://schemas.openxmlformats.org/officeDocument/2006/relationships/viewProps" Target="viewProps.xml"/><Relationship Id="rId33" Type="http://schemas.openxmlformats.org/officeDocument/2006/relationships/theme" Target="theme/theme1.xml"/><Relationship Id="rId3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949440" y="-914400"/>
            <a:ext cx="3840480" cy="3840480"/>
          </a:xfrm>
          <a:prstGeom prst="ellipse">
            <a:avLst/>
          </a:prstGeom>
          <a:solidFill>
            <a:srgbClr val="3A4F9B">
              <a:alpha val="28000"/>
            </a:srgbClr>
          </a:solidFill>
          <a:ln w="12700">
            <a:solidFill>
              <a:srgbClr val="3A4F9B">
                <a:alpha val="28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1280160" y="3108960"/>
            <a:ext cx="3291840" cy="3291840"/>
          </a:xfrm>
          <a:prstGeom prst="ellipse">
            <a:avLst/>
          </a:prstGeom>
          <a:solidFill>
            <a:srgbClr val="3A4F9B">
              <a:alpha val="24000"/>
            </a:srgbClr>
          </a:solidFill>
          <a:ln w="12700">
            <a:solidFill>
              <a:srgbClr val="3A4F9B">
                <a:alpha val="2400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640080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CADCF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.NET Developer</a:t>
            </a:r>
            <a:endParaRPr lang="en-US" sz="4200" dirty="0"/>
          </a:p>
        </p:txBody>
      </p:sp>
      <p:sp>
        <p:nvSpPr>
          <p:cNvPr id="5" name="Text 3"/>
          <p:cNvSpPr/>
          <p:nvPr/>
        </p:nvSpPr>
        <p:spPr>
          <a:xfrm>
            <a:off x="548640" y="1298448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to Architect</a:t>
            </a:r>
            <a:endParaRPr lang="en-US" sz="4200" dirty="0"/>
          </a:p>
        </p:txBody>
      </p:sp>
      <p:sp>
        <p:nvSpPr>
          <p:cNvPr id="6" name="Text 4"/>
          <p:cNvSpPr/>
          <p:nvPr/>
        </p:nvSpPr>
        <p:spPr>
          <a:xfrm>
            <a:off x="548640" y="21031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A94C8"/>
                </a:solidFill>
              </a:rPr>
              <a:t>Complete Reference — C# from scratch · DevOps · Solutions Architect · Enterprise Architect · Intent Architect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548640" y="2560320"/>
            <a:ext cx="3200400" cy="0"/>
          </a:xfrm>
          <a:prstGeom prst="line">
            <a:avLst/>
          </a:prstGeom>
          <a:noFill/>
          <a:ln w="31750">
            <a:solidFill>
              <a:srgbClr val="F96167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48640" y="2743200"/>
            <a:ext cx="82296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ADCFC"/>
                </a:solidFill>
              </a:rPr>
              <a:t>28 slides covering:</a:t>
            </a:r>
            <a:endParaRPr lang="en-US" sz="1100" dirty="0"/>
          </a:p>
          <a:p>
            <a:pPr indent="0" marL="0">
              <a:buNone/>
            </a:pPr>
            <a:r>
              <a:rPr lang="en-US" sz="1050" dirty="0">
                <a:solidFill>
                  <a:srgbClr val="8A94C8"/>
                </a:solidFill>
              </a:rPr>
              <a:t>C# fundamentals · OOP · async/await · LINQ · Clean Architecture · CQRS · Git · CI/CD</a:t>
            </a:r>
            <a:endParaRPr lang="en-US" sz="1100" dirty="0"/>
          </a:p>
          <a:p>
            <a:pPr indent="0" marL="0">
              <a:buNone/>
            </a:pPr>
            <a:r>
              <a:rPr lang="en-US" sz="1050" dirty="0">
                <a:solidFill>
                  <a:srgbClr val="8A94C8"/>
                </a:solidFill>
              </a:rPr>
              <a:t>Security · JWT · Azure stack · Redis · Service Bus · System design · Multi-tenancy</a:t>
            </a:r>
            <a:endParaRPr lang="en-US" sz="1100" dirty="0"/>
          </a:p>
          <a:p>
            <a:pPr indent="0" marL="0">
              <a:buNone/>
            </a:pPr>
            <a:r>
              <a:rPr lang="en-US" sz="1050" dirty="0">
                <a:solidFill>
                  <a:srgbClr val="8A94C8"/>
                </a:solidFill>
              </a:rPr>
              <a:t>Career paths: Dev → DevOps → Solutions Architect → Enterprise Architect → Tool Builder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548640" y="4663440"/>
            <a:ext cx="7772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94C8"/>
                </a:solidFill>
              </a:rPr>
              <a:t>Bongani Nyoni  ·  Senior .NET Developer  ·  CPUT BEng Tech Honours  ·  Ikamva Tech Lab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9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182880"/>
            <a:ext cx="1828800" cy="237744"/>
          </a:xfrm>
          <a:prstGeom prst="roundRect">
            <a:avLst>
              <a:gd name="adj" fmla="val 50000"/>
            </a:avLst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"/>
            <a:ext cx="1828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C# FUNDAMENTALS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457200" y="438912"/>
            <a:ext cx="8412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C# from scratch: types, variables &amp; control flow</a:t>
            </a:r>
            <a:endParaRPr lang="en-US" sz="2100" dirty="0"/>
          </a:p>
        </p:txBody>
      </p:sp>
      <p:sp>
        <p:nvSpPr>
          <p:cNvPr id="5" name="Shape 3"/>
          <p:cNvSpPr/>
          <p:nvPr/>
        </p:nvSpPr>
        <p:spPr>
          <a:xfrm>
            <a:off x="457200" y="1051560"/>
            <a:ext cx="4114800" cy="3840480"/>
          </a:xfrm>
          <a:prstGeom prst="roundRect">
            <a:avLst>
              <a:gd name="adj" fmla="val 2857"/>
            </a:avLst>
          </a:prstGeom>
          <a:solidFill>
            <a:srgbClr val="FFFFFF"/>
          </a:solidFill>
          <a:ln w="6350">
            <a:solidFill>
              <a:srgbClr val="D1D9FF"/>
            </a:solidFill>
            <a:prstDash val="solid"/>
          </a:ln>
          <a:effectLst>
            <a:outerShdw sx="100000" sy="100000" kx="0" ky="0" algn="bl" rotWithShape="0" blurRad="101600" dist="25400" dir="2700000">
              <a:srgbClr val="000000">
                <a:alpha val="9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621792" y="1161288"/>
            <a:ext cx="3767328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</a:rPr>
              <a:t>Value vs reference types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621792" y="1508760"/>
            <a:ext cx="3794760" cy="2103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1A1A2E"/>
                </a:solidFill>
              </a:rPr>
              <a:t>Value types (stack): int, double, bool, char, struct, enum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1A1A2E"/>
                </a:solidFill>
              </a:rPr>
              <a:t>Reference types (heap): class, string, array, interface, delegate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1A1A2E"/>
                </a:solidFill>
              </a:rPr>
              <a:t>Nullable: int? x = null; — adds null to any value type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1A1A2E"/>
                </a:solidFill>
              </a:rPr>
              <a:t>var = inferred type (still strongly typed at compile time)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1A1A2E"/>
                </a:solidFill>
              </a:rPr>
              <a:t>const = compile-time constant; readonly = set once at runtime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1A1A2E"/>
                </a:solidFill>
              </a:rPr>
              <a:t>string is immutable — every modification creates new instance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1A1A2E"/>
                </a:solidFill>
              </a:rPr>
              <a:t>StringBuilder for string concatenation in loops (O(n) not O(n²))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621792" y="3639312"/>
            <a:ext cx="376732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</a:rPr>
              <a:t>Control flow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621792" y="3931920"/>
            <a:ext cx="379476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1A1A2E"/>
                </a:solidFill>
              </a:rPr>
              <a:t>if/else, switch expression (C#8+): x switch { 1=&gt;'one', _=&gt;'other' }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1A1A2E"/>
                </a:solidFill>
              </a:rPr>
              <a:t>for, foreach, while, do-while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1A1A2E"/>
                </a:solidFill>
              </a:rPr>
              <a:t>break, continue, return, throw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4773168" y="1051560"/>
            <a:ext cx="4114800" cy="3840480"/>
          </a:xfrm>
          <a:prstGeom prst="roundRect">
            <a:avLst>
              <a:gd name="adj" fmla="val 2857"/>
            </a:avLst>
          </a:prstGeom>
          <a:solidFill>
            <a:srgbClr val="FFFFFF"/>
          </a:solidFill>
          <a:ln w="6350">
            <a:solidFill>
              <a:srgbClr val="D1D9FF"/>
            </a:solidFill>
            <a:prstDash val="solid"/>
          </a:ln>
          <a:effectLst>
            <a:outerShdw sx="100000" sy="100000" kx="0" ky="0" algn="bl" rotWithShape="0" blurRad="101600" dist="25400" dir="2700000">
              <a:srgbClr val="000000">
                <a:alpha val="9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937760" y="1161288"/>
            <a:ext cx="3767328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</a:rPr>
              <a:t>Operators &amp; expressions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4937760" y="1508760"/>
            <a:ext cx="3767328" cy="1371600"/>
          </a:xfrm>
          <a:prstGeom prst="roundRect">
            <a:avLst>
              <a:gd name="adj" fmla="val 5333"/>
            </a:avLst>
          </a:prstGeom>
          <a:solidFill>
            <a:srgbClr val="0A1628"/>
          </a:solidFill>
          <a:ln w="6350">
            <a:solidFill>
              <a:srgbClr val="334477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074920" y="1581912"/>
            <a:ext cx="3493008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A8D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Null coalescing
string name = user?.Name ?? "Guest";
// Pattern matching (C#9+)
if (obj is Customer c &amp;&amp; c.IsActive)
  Console.WriteLine(c.Name);
// Ternary
var label = age &gt;= 18 ? "Adult" : "Minor";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4937760" y="2944368"/>
            <a:ext cx="376732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</a:rPr>
              <a:t>Collections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937760" y="3255264"/>
            <a:ext cx="379476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1A1A2E"/>
                </a:solidFill>
              </a:rPr>
              <a:t>List&lt;T&gt; — dynamic array; O(1) access, O(n) insert/delete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1A1A2E"/>
                </a:solidFill>
              </a:rPr>
              <a:t>Dictionary&lt;K,V&gt; — hash map; O(1) lookup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1A1A2E"/>
                </a:solidFill>
              </a:rPr>
              <a:t>HashSet&lt;T&gt; — unique values, O(1) contains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1A1A2E"/>
                </a:solidFill>
              </a:rPr>
              <a:t>Queue&lt;T&gt;, Stack&lt;T&gt; — FIFO and LIFO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1A1A2E"/>
                </a:solidFill>
              </a:rPr>
              <a:t>IEnumerable&lt;T&gt; — lazy sequence, never materialised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1A1A2E"/>
                </a:solidFill>
              </a:rPr>
              <a:t>Array vs List: arrays are fixed size, faster for known sizes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9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182880"/>
            <a:ext cx="1828800" cy="237744"/>
          </a:xfrm>
          <a:prstGeom prst="roundRect">
            <a:avLst>
              <a:gd name="adj" fmla="val 50000"/>
            </a:avLst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"/>
            <a:ext cx="1828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C# FUNDAMENTALS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457200" y="438912"/>
            <a:ext cx="8412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Object-oriented programming in C#</a:t>
            </a:r>
            <a:endParaRPr lang="en-US" sz="2100" dirty="0"/>
          </a:p>
        </p:txBody>
      </p:sp>
      <p:sp>
        <p:nvSpPr>
          <p:cNvPr id="5" name="Shape 3"/>
          <p:cNvSpPr/>
          <p:nvPr/>
        </p:nvSpPr>
        <p:spPr>
          <a:xfrm>
            <a:off x="457200" y="1051560"/>
            <a:ext cx="4114800" cy="18288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6350">
            <a:solidFill>
              <a:srgbClr val="D1D9FF"/>
            </a:solidFill>
            <a:prstDash val="solid"/>
          </a:ln>
          <a:effectLst>
            <a:outerShdw sx="100000" sy="100000" kx="0" ky="0" algn="bl" rotWithShape="0" blurRad="101600" dist="25400" dir="2700000">
              <a:srgbClr val="000000">
                <a:alpha val="9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621792" y="1143000"/>
            <a:ext cx="3767328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</a:rPr>
              <a:t>Classes &amp; objects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621792" y="1481328"/>
            <a:ext cx="3794760" cy="13167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1A1A2E"/>
                </a:solidFill>
              </a:rPr>
              <a:t>class = blueprint; object = instance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1A1A2E"/>
                </a:solidFill>
              </a:rPr>
              <a:t>Constructor: public MyClass(string name) { }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1A1A2E"/>
                </a:solidFill>
              </a:rPr>
              <a:t>Properties: public string Name { get; set; }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1A1A2E"/>
                </a:solidFill>
              </a:rPr>
              <a:t>Auto-property with init: public string Id { get; init; }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1A1A2E"/>
                </a:solidFill>
              </a:rPr>
              <a:t>record type: immutable value-semantics class (C#9+)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1A1A2E"/>
                </a:solidFill>
              </a:rPr>
              <a:t>static members belong to type, not instance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4800600" y="1051560"/>
            <a:ext cx="4114800" cy="18288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6350">
            <a:solidFill>
              <a:srgbClr val="D1D9FF"/>
            </a:solidFill>
            <a:prstDash val="solid"/>
          </a:ln>
          <a:effectLst>
            <a:outerShdw sx="100000" sy="100000" kx="0" ky="0" algn="bl" rotWithShape="0" blurRad="101600" dist="25400" dir="2700000">
              <a:srgbClr val="000000">
                <a:alpha val="9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4965192" y="1143000"/>
            <a:ext cx="3767328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</a:rPr>
              <a:t>Encapsulation &amp; access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4965192" y="1481328"/>
            <a:ext cx="3794760" cy="13167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1A1A2E"/>
                </a:solidFill>
              </a:rPr>
              <a:t>private — class only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1A1A2E"/>
                </a:solidFill>
              </a:rPr>
              <a:t>internal — assembly (project) only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1A1A2E"/>
                </a:solidFill>
              </a:rPr>
              <a:t>protected — class + subclasses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1A1A2E"/>
                </a:solidFill>
              </a:rPr>
              <a:t>public — everywhere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1A1A2E"/>
                </a:solidFill>
              </a:rPr>
              <a:t>private set — read externally, write internally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1A1A2E"/>
                </a:solidFill>
              </a:rPr>
              <a:t>Principle: expose as little as possible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457200" y="2990088"/>
            <a:ext cx="4114800" cy="18288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6350">
            <a:solidFill>
              <a:srgbClr val="D1D9FF"/>
            </a:solidFill>
            <a:prstDash val="solid"/>
          </a:ln>
          <a:effectLst>
            <a:outerShdw sx="100000" sy="100000" kx="0" ky="0" algn="bl" rotWithShape="0" blurRad="101600" dist="25400" dir="2700000">
              <a:srgbClr val="000000">
                <a:alpha val="9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621792" y="3081528"/>
            <a:ext cx="3767328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</a:rPr>
              <a:t>Inheritance &amp; polymorphism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621792" y="3419856"/>
            <a:ext cx="3794760" cy="13167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1A1A2E"/>
                </a:solidFill>
              </a:rPr>
              <a:t>class Dog : Animal { } — single inheritance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1A1A2E"/>
                </a:solidFill>
              </a:rPr>
              <a:t>virtual + override for runtime polymorphism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1A1A2E"/>
                </a:solidFill>
              </a:rPr>
              <a:t>abstract class — cannot instantiate, must override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1A1A2E"/>
                </a:solidFill>
              </a:rPr>
              <a:t>sealed class — cannot inherit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1A1A2E"/>
                </a:solidFill>
              </a:rPr>
              <a:t>base.Method() to call parent implementation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1A1A2E"/>
                </a:solidFill>
              </a:rPr>
              <a:t>is / as for safe casting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800600" y="2990088"/>
            <a:ext cx="4114800" cy="18288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6350">
            <a:solidFill>
              <a:srgbClr val="D1D9FF"/>
            </a:solidFill>
            <a:prstDash val="solid"/>
          </a:ln>
          <a:effectLst>
            <a:outerShdw sx="100000" sy="100000" kx="0" ky="0" algn="bl" rotWithShape="0" blurRad="101600" dist="25400" dir="2700000">
              <a:srgbClr val="000000">
                <a:alpha val="9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4965192" y="3081528"/>
            <a:ext cx="3767328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</a:rPr>
              <a:t>Interfaces &amp; generics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4965192" y="3419856"/>
            <a:ext cx="3794760" cy="13167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1A1A2E"/>
                </a:solidFill>
              </a:rPr>
              <a:t>interface IRepository&lt;T&gt; { T GetById(int id); }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1A1A2E"/>
                </a:solidFill>
              </a:rPr>
              <a:t>Implement many interfaces, inherit one class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1A1A2E"/>
                </a:solidFill>
              </a:rPr>
              <a:t>Generics: List&lt;T&gt;, Task&lt;T&gt;, where T : class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1A1A2E"/>
                </a:solidFill>
              </a:rPr>
              <a:t>Constraints: where T : IEntity, new()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1A1A2E"/>
                </a:solidFill>
              </a:rPr>
              <a:t>Covariance (out T) / contravariance (in T)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1A1A2E"/>
                </a:solidFill>
              </a:rPr>
              <a:t>Common: IEnumerable&lt;T&gt;, IDisposable, IComparable&lt;T&gt;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D1B4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182880"/>
            <a:ext cx="1828800" cy="237744"/>
          </a:xfrm>
          <a:prstGeom prst="roundRect">
            <a:avLst>
              <a:gd name="adj" fmla="val 50000"/>
            </a:avLst>
          </a:prstGeom>
          <a:solidFill>
            <a:srgbClr val="0D9488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"/>
            <a:ext cx="1828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C# FUNDAMENTALS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457200" y="438912"/>
            <a:ext cx="8412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Async/await, LINQ &amp; modern C# features</a:t>
            </a:r>
            <a:endParaRPr lang="en-US" sz="2100" dirty="0"/>
          </a:p>
        </p:txBody>
      </p:sp>
      <p:sp>
        <p:nvSpPr>
          <p:cNvPr id="5" name="Text 3"/>
          <p:cNvSpPr/>
          <p:nvPr/>
        </p:nvSpPr>
        <p:spPr>
          <a:xfrm>
            <a:off x="457200" y="877824"/>
            <a:ext cx="84124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ADCFC"/>
                </a:solidFill>
              </a:rPr>
              <a:t>The patterns that separate junior from senior .NET developers.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457200" y="1024128"/>
            <a:ext cx="4114800" cy="3840480"/>
          </a:xfrm>
          <a:prstGeom prst="roundRect">
            <a:avLst>
              <a:gd name="adj" fmla="val 2857"/>
            </a:avLst>
          </a:prstGeom>
          <a:solidFill>
            <a:srgbClr val="1A2550"/>
          </a:solidFill>
          <a:ln w="6350">
            <a:solidFill>
              <a:srgbClr val="D1D9FF"/>
            </a:solidFill>
            <a:prstDash val="solid"/>
          </a:ln>
          <a:effectLst>
            <a:outerShdw sx="100000" sy="100000" kx="0" ky="0" algn="bl" rotWithShape="0" blurRad="101600" dist="25400" dir="2700000">
              <a:srgbClr val="000000">
                <a:alpha val="9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621792" y="1133856"/>
            <a:ext cx="3767328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ADCFC"/>
                </a:solidFill>
              </a:rPr>
              <a:t>Async / await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621792" y="1481328"/>
            <a:ext cx="3767328" cy="1828800"/>
          </a:xfrm>
          <a:prstGeom prst="roundRect">
            <a:avLst>
              <a:gd name="adj" fmla="val 4000"/>
            </a:avLst>
          </a:prstGeom>
          <a:solidFill>
            <a:srgbClr val="0A1628"/>
          </a:solidFill>
          <a:ln w="6350">
            <a:solidFill>
              <a:srgbClr val="334477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58952" y="1554480"/>
            <a:ext cx="3493008" cy="1737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A8D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Async method returns Task or Task&lt;T&gt;
public async Task&lt;Order&gt; GetOrderAsync(int id)
{
  var order = await _repo.GetByIdAsync(id);
  var items = await _repo.GetItemsAsync(id);
  return order with { Items = items };
}
// ConfigureAwait(false) in library code
var data = await httpClient
  .GetStringAsync(url)
  .ConfigureAwait(false);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621792" y="3346704"/>
            <a:ext cx="376732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ADCFC"/>
                </a:solidFill>
              </a:rPr>
              <a:t>Rules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621792" y="3630168"/>
            <a:ext cx="3794760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AABCEE"/>
                </a:solidFill>
              </a:rPr>
              <a:t>async void only for event handlers — always async Task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AABCEE"/>
                </a:solidFill>
              </a:rPr>
              <a:t>Never .Result or .Wait() — causes deadlocks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AABCEE"/>
                </a:solidFill>
              </a:rPr>
              <a:t>CancellationToken propagation through every call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AABCEE"/>
                </a:solidFill>
              </a:rPr>
              <a:t>Parallel.ForEachAsync for CPU-bound batch work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AABCEE"/>
                </a:solidFill>
              </a:rPr>
              <a:t>IAsyncEnumerable&lt;T&gt; for streaming results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4773168" y="1024128"/>
            <a:ext cx="4114800" cy="3840480"/>
          </a:xfrm>
          <a:prstGeom prst="roundRect">
            <a:avLst>
              <a:gd name="adj" fmla="val 2857"/>
            </a:avLst>
          </a:prstGeom>
          <a:solidFill>
            <a:srgbClr val="1A2550"/>
          </a:solidFill>
          <a:ln w="6350">
            <a:solidFill>
              <a:srgbClr val="D1D9FF"/>
            </a:solidFill>
            <a:prstDash val="solid"/>
          </a:ln>
          <a:effectLst>
            <a:outerShdw sx="100000" sy="100000" kx="0" ky="0" algn="bl" rotWithShape="0" blurRad="101600" dist="25400" dir="2700000">
              <a:srgbClr val="000000">
                <a:alpha val="9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4937760" y="1133856"/>
            <a:ext cx="3767328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ADCFC"/>
                </a:solidFill>
              </a:rPr>
              <a:t>LINQ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4937760" y="1481328"/>
            <a:ext cx="3767328" cy="1600200"/>
          </a:xfrm>
          <a:prstGeom prst="roundRect">
            <a:avLst>
              <a:gd name="adj" fmla="val 4571"/>
            </a:avLst>
          </a:prstGeom>
          <a:solidFill>
            <a:srgbClr val="0A1628"/>
          </a:solidFill>
          <a:ln w="6350">
            <a:solidFill>
              <a:srgbClr val="334477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074920" y="1554480"/>
            <a:ext cx="3493008" cy="1508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A8D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var result = orders
  .Where(o =&gt; o.Status == "Active")
  .OrderByDescending(o =&gt; o.Total)
  .GroupBy(o =&gt; o.CustomerId)
  .Select(g =&gt; new {
    CustomerId = g.Key,
    Total = g.Sum(o =&gt; o.Total)
  })
  .ToList(); // materialise here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4937760" y="3127248"/>
            <a:ext cx="376732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ADCFC"/>
                </a:solidFill>
              </a:rPr>
              <a:t>Key LINQ concepts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4937760" y="3429000"/>
            <a:ext cx="3794760" cy="13533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AABCEE"/>
                </a:solidFill>
              </a:rPr>
              <a:t>Deferred execution — query runs at ToList()/foreach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AABCEE"/>
                </a:solidFill>
              </a:rPr>
              <a:t>Select = transform (map); Where = filter; Aggregate = reduce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AABCEE"/>
                </a:solidFill>
              </a:rPr>
              <a:t>SelectMany = flatten nested collections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AABCEE"/>
                </a:solidFill>
              </a:rPr>
              <a:t>EF Core translates LINQ to SQL — avoid client-side evals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AABCEE"/>
                </a:solidFill>
              </a:rPr>
              <a:t>First() throws if empty; FirstOrDefault() returns null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AABCEE"/>
                </a:solidFill>
              </a:rPr>
              <a:t>Any() is faster than Count() &gt; 0</a:t>
            </a:r>
            <a:endParaRPr lang="en-US" sz="9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9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182880"/>
            <a:ext cx="1828800" cy="237744"/>
          </a:xfrm>
          <a:prstGeom prst="roundRect">
            <a:avLst>
              <a:gd name="adj" fmla="val 50000"/>
            </a:avLst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"/>
            <a:ext cx="1828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C# PATTERNS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457200" y="438912"/>
            <a:ext cx="8412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Dependency injection, patterns &amp; exception handling</a:t>
            </a:r>
            <a:endParaRPr lang="en-US" sz="2100" dirty="0"/>
          </a:p>
        </p:txBody>
      </p:sp>
      <p:sp>
        <p:nvSpPr>
          <p:cNvPr id="5" name="Shape 3"/>
          <p:cNvSpPr/>
          <p:nvPr/>
        </p:nvSpPr>
        <p:spPr>
          <a:xfrm>
            <a:off x="457200" y="1024128"/>
            <a:ext cx="5029200" cy="192024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6350">
            <a:solidFill>
              <a:srgbClr val="D1D9FF"/>
            </a:solidFill>
            <a:prstDash val="solid"/>
          </a:ln>
          <a:effectLst>
            <a:outerShdw sx="100000" sy="100000" kx="0" ky="0" algn="bl" rotWithShape="0" blurRad="101600" dist="25400" dir="2700000">
              <a:srgbClr val="000000">
                <a:alpha val="9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621792" y="1133856"/>
            <a:ext cx="46634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</a:rPr>
              <a:t>Dependency injection (DI)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621792" y="1481328"/>
            <a:ext cx="4663440" cy="1243584"/>
          </a:xfrm>
          <a:prstGeom prst="roundRect">
            <a:avLst>
              <a:gd name="adj" fmla="val 5882"/>
            </a:avLst>
          </a:prstGeom>
          <a:solidFill>
            <a:srgbClr val="0A1628"/>
          </a:solidFill>
          <a:ln w="6350">
            <a:solidFill>
              <a:srgbClr val="334477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58952" y="1554480"/>
            <a:ext cx="4389120" cy="115214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A8D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Register in Program.cs
builder.Services.AddScoped&lt;IOrderService, OrderService&gt;();
builder.Services.AddSingleton&lt;ICache, RedisCache&gt;();
builder.Services.AddTransient&lt;IEmailSender, SmtpSender&gt;();
// Inject via constructor
public class OrderService(IOrderRepository repo, ICache cache) { }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457200" y="3017520"/>
            <a:ext cx="5029200" cy="18288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6350">
            <a:solidFill>
              <a:srgbClr val="D1D9FF"/>
            </a:solidFill>
            <a:prstDash val="solid"/>
          </a:ln>
          <a:effectLst>
            <a:outerShdw sx="100000" sy="100000" kx="0" ky="0" algn="bl" rotWithShape="0" blurRad="101600" dist="25400" dir="2700000">
              <a:srgbClr val="000000">
                <a:alpha val="9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621792" y="3127248"/>
            <a:ext cx="46634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</a:rPr>
              <a:t>Exception handling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621792" y="3474720"/>
            <a:ext cx="4663440" cy="1243584"/>
          </a:xfrm>
          <a:prstGeom prst="roundRect">
            <a:avLst>
              <a:gd name="adj" fmla="val 5882"/>
            </a:avLst>
          </a:prstGeom>
          <a:solidFill>
            <a:srgbClr val="0A1628"/>
          </a:solidFill>
          <a:ln w="6350">
            <a:solidFill>
              <a:srgbClr val="334477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58952" y="3547872"/>
            <a:ext cx="4389120" cy="115214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A8D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try {
  var result = await service.ProcessAsync(cmd);
} catch (DomainException ex) when (ex.Code == "NOT_FOUND") {
  return NotFound(ex.Message);
} catch (Exception ex) {
  _logger.LogError(ex, "Failed: {Command}", cmd);
  throw; // re-throw preserves stack trace
}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5650992" y="1024128"/>
            <a:ext cx="3246120" cy="3822192"/>
          </a:xfrm>
          <a:prstGeom prst="roundRect">
            <a:avLst>
              <a:gd name="adj" fmla="val 3380"/>
            </a:avLst>
          </a:prstGeom>
          <a:solidFill>
            <a:srgbClr val="FFFFFF"/>
          </a:solidFill>
          <a:ln w="6350">
            <a:solidFill>
              <a:srgbClr val="D1D9FF"/>
            </a:solidFill>
            <a:prstDash val="solid"/>
          </a:ln>
          <a:effectLst>
            <a:outerShdw sx="100000" sy="100000" kx="0" ky="0" algn="bl" rotWithShape="0" blurRad="101600" dist="25400" dir="2700000">
              <a:srgbClr val="000000">
                <a:alpha val="9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5806440" y="1133856"/>
            <a:ext cx="29260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</a:rPr>
              <a:t>Essential patterns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5806440" y="1481328"/>
            <a:ext cx="2926080" cy="3246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1A1A2E"/>
                </a:solidFill>
              </a:rPr>
              <a:t>Singleton — one instance per app (e.g. config, cache)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1A1A2E"/>
                </a:solidFill>
              </a:rPr>
              <a:t>Factory — create objects without exposing concrete type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1A1A2E"/>
                </a:solidFill>
              </a:rPr>
              <a:t>Repository — abstract data access behind interface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1A1A2E"/>
                </a:solidFill>
              </a:rPr>
              <a:t>Unit of Work — single transaction across repos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1A1A2E"/>
                </a:solidFill>
              </a:rPr>
              <a:t>Strategy — swap algorithm at runtime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1A1A2E"/>
                </a:solidFill>
              </a:rPr>
              <a:t>Decorator — wrap service to add behaviour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1A1A2E"/>
                </a:solidFill>
              </a:rPr>
              <a:t>Observer — publish/subscribe (events in C#)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1A1A2E"/>
                </a:solidFill>
              </a:rPr>
              <a:t>Mediator — MediatR: decouples caller from handler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1A1A2E"/>
                </a:solidFill>
              </a:rPr>
              <a:t>Options pattern — strongly-typed config: IOptions&lt;T&gt;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1A1A2E"/>
                </a:solidFill>
              </a:rPr>
              <a:t>Result pattern — return success/failure without exceptions</a:t>
            </a:r>
            <a:endParaRPr lang="en-US" sz="9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7F9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182880"/>
            <a:ext cx="1828800" cy="237744"/>
          </a:xfrm>
          <a:prstGeom prst="roundRect">
            <a:avLst>
              <a:gd name="adj" fmla="val 50000"/>
            </a:avLst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"/>
            <a:ext cx="1828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C# + DATA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457200" y="438912"/>
            <a:ext cx="8412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EF Core, Dapper &amp; data access patterns</a:t>
            </a:r>
            <a:endParaRPr lang="en-US" sz="2100" dirty="0"/>
          </a:p>
        </p:txBody>
      </p:sp>
      <p:sp>
        <p:nvSpPr>
          <p:cNvPr id="5" name="Shape 3"/>
          <p:cNvSpPr/>
          <p:nvPr/>
        </p:nvSpPr>
        <p:spPr>
          <a:xfrm>
            <a:off x="457200" y="1024128"/>
            <a:ext cx="5120640" cy="3840480"/>
          </a:xfrm>
          <a:prstGeom prst="roundRect">
            <a:avLst>
              <a:gd name="adj" fmla="val 2857"/>
            </a:avLst>
          </a:prstGeom>
          <a:solidFill>
            <a:srgbClr val="FFFFFF"/>
          </a:solidFill>
          <a:ln w="6350">
            <a:solidFill>
              <a:srgbClr val="D1D9FF"/>
            </a:solidFill>
            <a:prstDash val="solid"/>
          </a:ln>
          <a:effectLst>
            <a:outerShdw sx="100000" sy="100000" kx="0" ky="0" algn="bl" rotWithShape="0" blurRad="101600" dist="25400" dir="2700000">
              <a:srgbClr val="000000">
                <a:alpha val="9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621792" y="1133856"/>
            <a:ext cx="47548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</a:rPr>
              <a:t>Entity Framework Core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621792" y="1481328"/>
            <a:ext cx="4754880" cy="1993392"/>
          </a:xfrm>
          <a:prstGeom prst="roundRect">
            <a:avLst>
              <a:gd name="adj" fmla="val 3670"/>
            </a:avLst>
          </a:prstGeom>
          <a:solidFill>
            <a:srgbClr val="0A1628"/>
          </a:solidFill>
          <a:ln w="6350">
            <a:solidFill>
              <a:srgbClr val="334477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58952" y="1554480"/>
            <a:ext cx="4480560" cy="19019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A8D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DbContext
public class AppDbContext(DbContextOptions opts) : DbContext(opts)
{
  public DbSet&lt;Order&gt; Orders =&gt; Set&lt;Order&gt;();
  protected override void OnModelCreating(ModelBuilder mb)
    =&gt; mb.ApplyConfigurationsFromAssembly(Assembly.GetExecutingAssembly());
}
// Fluent config
public class OrderConfig : IEntityTypeConfiguration&lt;Order&gt;
{
  public void Configure(EntityTypeBuilder&lt;Order&gt; b) {
    b.HasKey(o =&gt; o.Id);
    b.Property(o =&gt; o.Total).HasPrecision(18, 2);
    b.HasMany(o =&gt; o.Items).WithOne(i =&gt; i.Order).OnDelete(DeleteBehavior.Cascade);
  }
}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621792" y="3520440"/>
            <a:ext cx="4754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</a:rPr>
              <a:t>Key EF Core concepts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621792" y="3822192"/>
            <a:ext cx="47548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1A1A2E"/>
                </a:solidFill>
              </a:rPr>
              <a:t>Migrations: dotnet ef migrations add Init → dotnet ef database update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1A1A2E"/>
                </a:solidFill>
              </a:rPr>
              <a:t>Tracking vs no-tracking: AsNoTracking() for read-only queries (faster)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1A1A2E"/>
                </a:solidFill>
              </a:rPr>
              <a:t>Eager loading: Include(o =&gt; o.Items) to avoid N+1 queries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1A1A2E"/>
                </a:solidFill>
              </a:rPr>
              <a:t>Raw SQL when needed: FromSqlRaw() or ExecuteSqlRaw()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5742432" y="1024128"/>
            <a:ext cx="3154680" cy="3840480"/>
          </a:xfrm>
          <a:prstGeom prst="roundRect">
            <a:avLst>
              <a:gd name="adj" fmla="val 3478"/>
            </a:avLst>
          </a:prstGeom>
          <a:solidFill>
            <a:srgbClr val="FFFFFF"/>
          </a:solidFill>
          <a:ln w="6350">
            <a:solidFill>
              <a:srgbClr val="D1D9FF"/>
            </a:solidFill>
            <a:prstDash val="solid"/>
          </a:ln>
          <a:effectLst>
            <a:outerShdw sx="100000" sy="100000" kx="0" ky="0" algn="bl" rotWithShape="0" blurRad="101600" dist="25400" dir="2700000">
              <a:srgbClr val="000000">
                <a:alpha val="9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897880" y="1133856"/>
            <a:ext cx="28346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</a:rPr>
              <a:t>Dapper &amp; patterns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5897880" y="1481328"/>
            <a:ext cx="2834640" cy="1170432"/>
          </a:xfrm>
          <a:prstGeom prst="roundRect">
            <a:avLst>
              <a:gd name="adj" fmla="val 6250"/>
            </a:avLst>
          </a:prstGeom>
          <a:solidFill>
            <a:srgbClr val="0A1628"/>
          </a:solidFill>
          <a:ln w="6350">
            <a:solidFill>
              <a:srgbClr val="334477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035040" y="1554480"/>
            <a:ext cx="2560320" cy="107899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A8D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Dapper — micro ORM
var orders = await conn
  .QueryAsync&lt;Order&gt;(
    "SELECT * FROM Orders WHERE TenantId=@id",
    new { id = tenantId }
  );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5897880" y="2697480"/>
            <a:ext cx="2834640" cy="2057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1A1A2E"/>
                </a:solidFill>
              </a:rPr>
              <a:t>Use EF for writes (change tracking, migrations)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1A1A2E"/>
                </a:solidFill>
              </a:rPr>
              <a:t>Use Dapper for complex read queries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1A1A2E"/>
                </a:solidFill>
              </a:rPr>
              <a:t>Repository pattern wraps both behind IRepository&lt;T&gt;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1A1A2E"/>
                </a:solidFill>
              </a:rPr>
              <a:t>Unit of Work = IUnitOfWork.SaveChangesAsync()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1A1A2E"/>
                </a:solidFill>
              </a:rPr>
              <a:t>Soft delete: IsDeleted flag + global filter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1A1A2E"/>
                </a:solidFill>
              </a:rPr>
              <a:t>Audit fields: CreatedAt, CreatedBy — set in SaveChanges override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1A1A2E"/>
                </a:solidFill>
              </a:rPr>
              <a:t>Row-level security: HasQueryFilter(e =&gt; e.TenantId == tenantId)</a:t>
            </a:r>
            <a:endParaRPr lang="en-US" sz="9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D1B4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182880"/>
            <a:ext cx="1828800" cy="237744"/>
          </a:xfrm>
          <a:prstGeom prst="roundRect">
            <a:avLst>
              <a:gd name="adj" fmla="val 50000"/>
            </a:avLst>
          </a:prstGeom>
          <a:solidFill>
            <a:srgbClr val="F96167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"/>
            <a:ext cx="1828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CLEAN ARCHITECTURE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457200" y="438912"/>
            <a:ext cx="8412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Clean architecture: layers, rules &amp; folder structure</a:t>
            </a:r>
            <a:endParaRPr lang="en-US" sz="2100" dirty="0"/>
          </a:p>
        </p:txBody>
      </p:sp>
      <p:sp>
        <p:nvSpPr>
          <p:cNvPr id="5" name="Text 3"/>
          <p:cNvSpPr/>
          <p:nvPr/>
        </p:nvSpPr>
        <p:spPr>
          <a:xfrm>
            <a:off x="457200" y="877824"/>
            <a:ext cx="84124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ADCFC"/>
                </a:solidFill>
              </a:rPr>
              <a:t>Dependencies always point inward. The Domain knows nothing about infrastructure.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457200" y="1005840"/>
            <a:ext cx="2633472" cy="1965960"/>
          </a:xfrm>
          <a:prstGeom prst="roundRect">
            <a:avLst>
              <a:gd name="adj" fmla="val 5581"/>
            </a:avLst>
          </a:prstGeom>
          <a:solidFill>
            <a:srgbClr val="1A2550"/>
          </a:solidFill>
          <a:ln w="6350">
            <a:solidFill>
              <a:srgbClr val="D1D9FF"/>
            </a:solidFill>
            <a:prstDash val="solid"/>
          </a:ln>
          <a:effectLst>
            <a:outerShdw sx="100000" sy="100000" kx="0" ky="0" algn="bl" rotWithShape="0" blurRad="101600" dist="25400" dir="2700000">
              <a:srgbClr val="000000">
                <a:alpha val="9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594360" y="1097280"/>
            <a:ext cx="1097280" cy="237744"/>
          </a:xfrm>
          <a:prstGeom prst="roundRect">
            <a:avLst>
              <a:gd name="adj" fmla="val 23077"/>
            </a:avLst>
          </a:prstGeom>
          <a:solidFill>
            <a:srgbClr val="F96167"/>
          </a:solidFill>
          <a:ln/>
        </p:spPr>
      </p:sp>
      <p:sp>
        <p:nvSpPr>
          <p:cNvPr id="8" name="Text 6"/>
          <p:cNvSpPr/>
          <p:nvPr/>
        </p:nvSpPr>
        <p:spPr>
          <a:xfrm>
            <a:off x="594360" y="1097280"/>
            <a:ext cx="1097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Domain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594360" y="1389888"/>
            <a:ext cx="2377440" cy="1490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AABCEE"/>
                </a:solidFill>
              </a:rPr>
              <a:t>Entities (Order, Customer, Product)</a:t>
            </a:r>
            <a:endParaRPr lang="en-US" sz="90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AABCEE"/>
                </a:solidFill>
              </a:rPr>
              <a:t>Value objects (Money, Address, TenantId)</a:t>
            </a:r>
            <a:endParaRPr lang="en-US" sz="90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AABCEE"/>
                </a:solidFill>
              </a:rPr>
              <a:t>Domain events (OrderPlaced, PaymentFailed)</a:t>
            </a:r>
            <a:endParaRPr lang="en-US" sz="90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AABCEE"/>
                </a:solidFill>
              </a:rPr>
              <a:t>Interfaces defined here (IOrderRepository)</a:t>
            </a:r>
            <a:endParaRPr lang="en-US" sz="90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AABCEE"/>
                </a:solidFill>
              </a:rPr>
              <a:t>Business rules and invariants live here</a:t>
            </a:r>
            <a:endParaRPr lang="en-US" sz="90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AABCEE"/>
                </a:solidFill>
              </a:rPr>
              <a:t>No NuGet dependencies — pure C#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3255264" y="1005840"/>
            <a:ext cx="2633472" cy="1965960"/>
          </a:xfrm>
          <a:prstGeom prst="roundRect">
            <a:avLst>
              <a:gd name="adj" fmla="val 5581"/>
            </a:avLst>
          </a:prstGeom>
          <a:solidFill>
            <a:srgbClr val="1A2550"/>
          </a:solidFill>
          <a:ln w="6350">
            <a:solidFill>
              <a:srgbClr val="D1D9FF"/>
            </a:solidFill>
            <a:prstDash val="solid"/>
          </a:ln>
          <a:effectLst>
            <a:outerShdw sx="100000" sy="100000" kx="0" ky="0" algn="bl" rotWithShape="0" blurRad="101600" dist="25400" dir="2700000">
              <a:srgbClr val="000000">
                <a:alpha val="9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392424" y="1097280"/>
            <a:ext cx="1097280" cy="237744"/>
          </a:xfrm>
          <a:prstGeom prst="roundRect">
            <a:avLst>
              <a:gd name="adj" fmla="val 23077"/>
            </a:avLst>
          </a:prstGeom>
          <a:solidFill>
            <a:srgbClr val="F39C12"/>
          </a:solidFill>
          <a:ln/>
        </p:spPr>
      </p:sp>
      <p:sp>
        <p:nvSpPr>
          <p:cNvPr id="12" name="Text 10"/>
          <p:cNvSpPr/>
          <p:nvPr/>
        </p:nvSpPr>
        <p:spPr>
          <a:xfrm>
            <a:off x="3392424" y="1097280"/>
            <a:ext cx="1097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Application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3392424" y="1389888"/>
            <a:ext cx="2377440" cy="1490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AABCEE"/>
                </a:solidFill>
              </a:rPr>
              <a:t>CQRS commands and queries (IRequest&lt;T&gt;)</a:t>
            </a:r>
            <a:endParaRPr lang="en-US" sz="90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AABCEE"/>
                </a:solidFill>
              </a:rPr>
              <a:t>Command/query handlers</a:t>
            </a:r>
            <a:endParaRPr lang="en-US" sz="90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AABCEE"/>
                </a:solidFill>
              </a:rPr>
              <a:t>Validation (FluentValidation)</a:t>
            </a:r>
            <a:endParaRPr lang="en-US" sz="90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AABCEE"/>
                </a:solidFill>
              </a:rPr>
              <a:t>Mapping (AutoMapper / manual)</a:t>
            </a:r>
            <a:endParaRPr lang="en-US" sz="90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AABCEE"/>
                </a:solidFill>
              </a:rPr>
              <a:t>Application services</a:t>
            </a:r>
            <a:endParaRPr lang="en-US" sz="90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AABCEE"/>
                </a:solidFill>
              </a:rPr>
              <a:t>References: Domain only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457200" y="3108960"/>
            <a:ext cx="2633472" cy="1965960"/>
          </a:xfrm>
          <a:prstGeom prst="roundRect">
            <a:avLst>
              <a:gd name="adj" fmla="val 5581"/>
            </a:avLst>
          </a:prstGeom>
          <a:solidFill>
            <a:srgbClr val="1A2550"/>
          </a:solidFill>
          <a:ln w="6350">
            <a:solidFill>
              <a:srgbClr val="D1D9FF"/>
            </a:solidFill>
            <a:prstDash val="solid"/>
          </a:ln>
          <a:effectLst>
            <a:outerShdw sx="100000" sy="100000" kx="0" ky="0" algn="bl" rotWithShape="0" blurRad="101600" dist="25400" dir="2700000">
              <a:srgbClr val="000000">
                <a:alpha val="9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594360" y="3200400"/>
            <a:ext cx="1097280" cy="237744"/>
          </a:xfrm>
          <a:prstGeom prst="roundRect">
            <a:avLst>
              <a:gd name="adj" fmla="val 23077"/>
            </a:avLst>
          </a:prstGeom>
          <a:solidFill>
            <a:srgbClr val="0D9488"/>
          </a:solidFill>
          <a:ln/>
        </p:spPr>
      </p:sp>
      <p:sp>
        <p:nvSpPr>
          <p:cNvPr id="16" name="Text 14"/>
          <p:cNvSpPr/>
          <p:nvPr/>
        </p:nvSpPr>
        <p:spPr>
          <a:xfrm>
            <a:off x="594360" y="3200400"/>
            <a:ext cx="1097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Infrastructure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594360" y="3493008"/>
            <a:ext cx="2377440" cy="1490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AABCEE"/>
                </a:solidFill>
              </a:rPr>
              <a:t>EF Core DbContext + configurations</a:t>
            </a:r>
            <a:endParaRPr lang="en-US" sz="90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AABCEE"/>
                </a:solidFill>
              </a:rPr>
              <a:t>Repository implementations</a:t>
            </a:r>
            <a:endParaRPr lang="en-US" sz="90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AABCEE"/>
                </a:solidFill>
              </a:rPr>
              <a:t>Azure SDK clients (Blob, Service Bus)</a:t>
            </a:r>
            <a:endParaRPr lang="en-US" sz="90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AABCEE"/>
                </a:solidFill>
              </a:rPr>
              <a:t>Email/SMS providers</a:t>
            </a:r>
            <a:endParaRPr lang="en-US" sz="90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AABCEE"/>
                </a:solidFill>
              </a:rPr>
              <a:t>External API clients (HttpClient)</a:t>
            </a:r>
            <a:endParaRPr lang="en-US" sz="90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AABCEE"/>
                </a:solidFill>
              </a:rPr>
              <a:t>References: Domain + Application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3255264" y="3108960"/>
            <a:ext cx="2633472" cy="1965960"/>
          </a:xfrm>
          <a:prstGeom prst="roundRect">
            <a:avLst>
              <a:gd name="adj" fmla="val 5581"/>
            </a:avLst>
          </a:prstGeom>
          <a:solidFill>
            <a:srgbClr val="1A2550"/>
          </a:solidFill>
          <a:ln w="6350">
            <a:solidFill>
              <a:srgbClr val="D1D9FF"/>
            </a:solidFill>
            <a:prstDash val="solid"/>
          </a:ln>
          <a:effectLst>
            <a:outerShdw sx="100000" sy="100000" kx="0" ky="0" algn="bl" rotWithShape="0" blurRad="101600" dist="25400" dir="2700000">
              <a:srgbClr val="000000">
                <a:alpha val="9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3392424" y="3200400"/>
            <a:ext cx="1097280" cy="237744"/>
          </a:xfrm>
          <a:prstGeom prst="roundRect">
            <a:avLst>
              <a:gd name="adj" fmla="val 23077"/>
            </a:avLst>
          </a:prstGeom>
          <a:solidFill>
            <a:srgbClr val="3A4F9B"/>
          </a:solidFill>
          <a:ln/>
        </p:spPr>
      </p:sp>
      <p:sp>
        <p:nvSpPr>
          <p:cNvPr id="20" name="Text 18"/>
          <p:cNvSpPr/>
          <p:nvPr/>
        </p:nvSpPr>
        <p:spPr>
          <a:xfrm>
            <a:off x="3392424" y="3200400"/>
            <a:ext cx="1097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API / Presentation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3392424" y="3493008"/>
            <a:ext cx="2377440" cy="1490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AABCEE"/>
                </a:solidFill>
              </a:rPr>
              <a:t>ASP.NET Core controllers or Minimal APIs</a:t>
            </a:r>
            <a:endParaRPr lang="en-US" sz="90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AABCEE"/>
                </a:solidFill>
              </a:rPr>
              <a:t>Middleware (auth, logging, error handling)</a:t>
            </a:r>
            <a:endParaRPr lang="en-US" sz="90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AABCEE"/>
                </a:solidFill>
              </a:rPr>
              <a:t>Dependency injection registration</a:t>
            </a:r>
            <a:endParaRPr lang="en-US" sz="90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AABCEE"/>
                </a:solidFill>
              </a:rPr>
              <a:t>OpenAPI / Swagger setup</a:t>
            </a:r>
            <a:endParaRPr lang="en-US" sz="90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AABCEE"/>
                </a:solidFill>
              </a:rPr>
              <a:t>References: Application + Infrastructure</a:t>
            </a:r>
            <a:endParaRPr lang="en-US" sz="90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AABCEE"/>
                </a:solidFill>
              </a:rPr>
              <a:t>Does not contain business logic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6053328" y="1005840"/>
            <a:ext cx="2834640" cy="4069080"/>
          </a:xfrm>
          <a:prstGeom prst="roundRect">
            <a:avLst>
              <a:gd name="adj" fmla="val 3871"/>
            </a:avLst>
          </a:prstGeom>
          <a:solidFill>
            <a:srgbClr val="1A2550"/>
          </a:solidFill>
          <a:ln w="6350">
            <a:solidFill>
              <a:srgbClr val="D1D9FF"/>
            </a:solidFill>
            <a:prstDash val="solid"/>
          </a:ln>
          <a:effectLst>
            <a:outerShdw sx="100000" sy="100000" kx="0" ky="0" algn="bl" rotWithShape="0" blurRad="101600" dist="25400" dir="2700000">
              <a:srgbClr val="000000">
                <a:alpha val="9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6199632" y="1115568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ADCFC"/>
                </a:solidFill>
              </a:rPr>
              <a:t>Folder structure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6199632" y="1426464"/>
            <a:ext cx="2542032" cy="3456432"/>
          </a:xfrm>
          <a:prstGeom prst="roundRect">
            <a:avLst>
              <a:gd name="adj" fmla="val 2878"/>
            </a:avLst>
          </a:prstGeom>
          <a:solidFill>
            <a:srgbClr val="0A1628"/>
          </a:solidFill>
          <a:ln w="6350">
            <a:solidFill>
              <a:srgbClr val="334477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336792" y="1499616"/>
            <a:ext cx="2267712" cy="336499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A8D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MyApp.sln
├── src/
│   ├── MyApp.Domain/
│   │   ├── Entities/
│   │   ├── Events/
│   │   └── ValueObjects/
│   ├── MyApp.Application/
│   │   ├── Commands/
│   │   ├── Queries/
│   │   └── Behaviours/
│   ├── MyApp.Infrastructure/
│   │   ├── Persistence/
│   │   └── Services/
│   └── MyApp.API/
│       ├── Controllers/
│       └── Middleware/
└── tests/
    ├── Unit/
    ├── Integration/
    └── E2E/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7F9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182880"/>
            <a:ext cx="1828800" cy="237744"/>
          </a:xfrm>
          <a:prstGeom prst="roundRect">
            <a:avLst>
              <a:gd name="adj" fmla="val 50000"/>
            </a:avLst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"/>
            <a:ext cx="1828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CQRS + MEDIATR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457200" y="438912"/>
            <a:ext cx="8412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CQRS and MediatR: commands, queries &amp; pipeline behaviours</a:t>
            </a:r>
            <a:endParaRPr lang="en-US" sz="2100" dirty="0"/>
          </a:p>
        </p:txBody>
      </p:sp>
      <p:sp>
        <p:nvSpPr>
          <p:cNvPr id="5" name="Shape 3"/>
          <p:cNvSpPr/>
          <p:nvPr/>
        </p:nvSpPr>
        <p:spPr>
          <a:xfrm>
            <a:off x="457200" y="1024128"/>
            <a:ext cx="4114800" cy="3840480"/>
          </a:xfrm>
          <a:prstGeom prst="roundRect">
            <a:avLst>
              <a:gd name="adj" fmla="val 2857"/>
            </a:avLst>
          </a:prstGeom>
          <a:solidFill>
            <a:srgbClr val="FFFFFF"/>
          </a:solidFill>
          <a:ln w="6350">
            <a:solidFill>
              <a:srgbClr val="D1D9FF"/>
            </a:solidFill>
            <a:prstDash val="solid"/>
          </a:ln>
          <a:effectLst>
            <a:outerShdw sx="100000" sy="100000" kx="0" ky="0" algn="bl" rotWithShape="0" blurRad="101600" dist="25400" dir="2700000">
              <a:srgbClr val="000000">
                <a:alpha val="9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621792" y="1133856"/>
            <a:ext cx="376732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</a:rPr>
              <a:t>Command (write side)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621792" y="1444752"/>
            <a:ext cx="3767328" cy="1463040"/>
          </a:xfrm>
          <a:prstGeom prst="roundRect">
            <a:avLst>
              <a:gd name="adj" fmla="val 5000"/>
            </a:avLst>
          </a:prstGeom>
          <a:solidFill>
            <a:srgbClr val="0A1628"/>
          </a:solidFill>
          <a:ln w="6350">
            <a:solidFill>
              <a:srgbClr val="334477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58952" y="1517904"/>
            <a:ext cx="3493008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A8D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Command definition
public record CreateOrderCommand(
  int CustomerId, List&lt;OrderItem&gt; Items
) : IRequest&lt;Result&lt;int&gt;&gt;;
// Handler
public class CreateOrderHandler(
  IOrderRepository repo, IUnitOfWork uow
) : IRequestHandler&lt;CreateOrderCommand, Result&lt;int&gt;&gt;
{
  public async Task&lt;Result&lt;int&gt;&gt; Handle(
    CreateOrderCommand cmd, CancellationToken ct)
  {
    var order = Order.Create(cmd.CustomerId,cmd.Items);
    await repo.AddAsync(order, ct);
    await uow.SaveChangesAsync(ct);
    return Result.Success(order.Id);
  }
}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4773168" y="1024128"/>
            <a:ext cx="4114800" cy="3840480"/>
          </a:xfrm>
          <a:prstGeom prst="roundRect">
            <a:avLst>
              <a:gd name="adj" fmla="val 2857"/>
            </a:avLst>
          </a:prstGeom>
          <a:solidFill>
            <a:srgbClr val="FFFFFF"/>
          </a:solidFill>
          <a:ln w="6350">
            <a:solidFill>
              <a:srgbClr val="D1D9FF"/>
            </a:solidFill>
            <a:prstDash val="solid"/>
          </a:ln>
          <a:effectLst>
            <a:outerShdw sx="100000" sy="100000" kx="0" ky="0" algn="bl" rotWithShape="0" blurRad="101600" dist="25400" dir="2700000">
              <a:srgbClr val="000000">
                <a:alpha val="9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4937760" y="1133856"/>
            <a:ext cx="376732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</a:rPr>
              <a:t>Pipeline behaviours (cross-cutting)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4937760" y="1444752"/>
            <a:ext cx="3767328" cy="1463040"/>
          </a:xfrm>
          <a:prstGeom prst="roundRect">
            <a:avLst>
              <a:gd name="adj" fmla="val 5000"/>
            </a:avLst>
          </a:prstGeom>
          <a:solidFill>
            <a:srgbClr val="0A1628"/>
          </a:solidFill>
          <a:ln w="6350">
            <a:solidFill>
              <a:srgbClr val="334477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074920" y="1517904"/>
            <a:ext cx="3493008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A8D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Validation behaviour (runs before every handler)
public class ValidationBehaviour&lt;TReq,TRes&gt;(
  IEnumerable&lt;IValidator&lt;TReq&gt;&gt; validators
) : IPipelineBehavior&lt;TReq,TRes&gt;
  where TReq : IRequest&lt;TRes&gt;
{
  public async Task&lt;TRes&gt; Handle(TReq req,
    RequestHandlerDelegate&lt;TRes&gt; next, CancellationToken ct)
  {
    var ctx = new ValidationContext&lt;TReq&gt;(req);
    var failures = validators
      .Select(v =&gt; v.Validate(ctx))
      .SelectMany(r =&gt; r.Errors)
      .Where(f =&gt; f != null).ToList();
    if (failures.Any()) throw new ValidationException(failures);
    return await next();
  }
}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4937760" y="2944368"/>
            <a:ext cx="37947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1A1A2E"/>
                </a:solidFill>
              </a:rPr>
              <a:t>Registered as: services.AddTransient(typeof(IPipelineBehavior&lt;,&gt;), typeof(ValidationBehaviour&lt;,&gt;))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1A1A2E"/>
                </a:solidFill>
              </a:rPr>
              <a:t>Other behaviours: logging, performance timing, retry, caching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1A1A2E"/>
                </a:solidFill>
              </a:rPr>
              <a:t>Order matters — register in execution order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4937760" y="3767328"/>
            <a:ext cx="376732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</a:rPr>
              <a:t>Query (read side)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4937760" y="4059936"/>
            <a:ext cx="3767328" cy="694944"/>
          </a:xfrm>
          <a:prstGeom prst="roundRect">
            <a:avLst>
              <a:gd name="adj" fmla="val 10526"/>
            </a:avLst>
          </a:prstGeom>
          <a:solidFill>
            <a:srgbClr val="0A1628"/>
          </a:solidFill>
          <a:ln w="6350">
            <a:solidFill>
              <a:srgbClr val="334477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074920" y="4133088"/>
            <a:ext cx="3493008" cy="60350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A8D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public record GetOrdersQuery(int CustomerId) : IRequest&lt;List&lt;OrderDto&gt;&gt;;
// Handler calls Dapper or EF AsNoTracking() — never modifies state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7F9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182880"/>
            <a:ext cx="1828800" cy="237744"/>
          </a:xfrm>
          <a:prstGeom prst="roundRect">
            <a:avLst>
              <a:gd name="adj" fmla="val 50000"/>
            </a:avLst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"/>
            <a:ext cx="1828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GIT &amp; CI/CD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457200" y="438912"/>
            <a:ext cx="8412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Git workflow &amp; CI/CD pipelines</a:t>
            </a:r>
            <a:endParaRPr lang="en-US" sz="2100" dirty="0"/>
          </a:p>
        </p:txBody>
      </p:sp>
      <p:sp>
        <p:nvSpPr>
          <p:cNvPr id="5" name="Shape 3"/>
          <p:cNvSpPr/>
          <p:nvPr/>
        </p:nvSpPr>
        <p:spPr>
          <a:xfrm>
            <a:off x="457200" y="1024128"/>
            <a:ext cx="4114800" cy="18288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6350">
            <a:solidFill>
              <a:srgbClr val="D1D9FF"/>
            </a:solidFill>
            <a:prstDash val="solid"/>
          </a:ln>
          <a:effectLst>
            <a:outerShdw sx="100000" sy="100000" kx="0" ky="0" algn="bl" rotWithShape="0" blurRad="101600" dist="25400" dir="2700000">
              <a:srgbClr val="000000">
                <a:alpha val="9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621792" y="1115568"/>
            <a:ext cx="3767328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</a:rPr>
              <a:t>Git branching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621792" y="1453896"/>
            <a:ext cx="3794760" cy="13167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1A1A2E"/>
                </a:solidFill>
              </a:rPr>
              <a:t>main = production state at all times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1A1A2E"/>
                </a:solidFill>
              </a:rPr>
              <a:t>develop = integration branch for features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1A1A2E"/>
                </a:solidFill>
              </a:rPr>
              <a:t>feature/&lt;ticket&gt; for every piece of work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1A1A2E"/>
                </a:solidFill>
              </a:rPr>
              <a:t>release/&lt;version&gt; for release stabilisation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1A1A2E"/>
                </a:solidFill>
              </a:rPr>
              <a:t>hotfix/&lt;id&gt; for production emergencies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1A1A2E"/>
                </a:solidFill>
              </a:rPr>
              <a:t>Never rebase shared branches — only local feature branches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4800600" y="1024128"/>
            <a:ext cx="4114800" cy="18288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6350">
            <a:solidFill>
              <a:srgbClr val="D1D9FF"/>
            </a:solidFill>
            <a:prstDash val="solid"/>
          </a:ln>
          <a:effectLst>
            <a:outerShdw sx="100000" sy="100000" kx="0" ky="0" algn="bl" rotWithShape="0" blurRad="101600" dist="25400" dir="2700000">
              <a:srgbClr val="000000">
                <a:alpha val="9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4965192" y="1115568"/>
            <a:ext cx="3767328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</a:rPr>
              <a:t>Pull request discipline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4965192" y="1453896"/>
            <a:ext cx="3794760" cy="13167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1A1A2E"/>
                </a:solidFill>
              </a:rPr>
              <a:t>PR description: what, why, how to test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1A1A2E"/>
                </a:solidFill>
              </a:rPr>
              <a:t>Branch protection: require 1 review + all CI checks green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1A1A2E"/>
                </a:solidFill>
              </a:rPr>
              <a:t>Squash merge keeps main history clean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1A1A2E"/>
                </a:solidFill>
              </a:rPr>
              <a:t>Link PR to ticket/issue for traceability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1A1A2E"/>
                </a:solidFill>
              </a:rPr>
              <a:t>PR size: aim for &lt;400 lines changed per PR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1A1A2E"/>
                </a:solidFill>
              </a:rPr>
              <a:t>Conventional commits: feat: / fix: / chore: / refactor: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457200" y="2962656"/>
            <a:ext cx="4114800" cy="18288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6350">
            <a:solidFill>
              <a:srgbClr val="D1D9FF"/>
            </a:solidFill>
            <a:prstDash val="solid"/>
          </a:ln>
          <a:effectLst>
            <a:outerShdw sx="100000" sy="100000" kx="0" ky="0" algn="bl" rotWithShape="0" blurRad="101600" dist="25400" dir="2700000">
              <a:srgbClr val="000000">
                <a:alpha val="9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621792" y="3054096"/>
            <a:ext cx="3767328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</a:rPr>
              <a:t>CI pipeline (Azure DevOps / GitHub Actions)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621792" y="3392424"/>
            <a:ext cx="3794760" cy="13167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1A1A2E"/>
                </a:solidFill>
              </a:rPr>
              <a:t>Stage 1: dotnet restore → build → unit tests → coverage gate (&gt;80%)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1A1A2E"/>
                </a:solidFill>
              </a:rPr>
              <a:t>Stage 2: SAST scan (SonarQube), dependency vulnerability check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1A1A2E"/>
                </a:solidFill>
              </a:rPr>
              <a:t>Stage 3: docker build → push to ACR (multi-stage Dockerfile)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1A1A2E"/>
                </a:solidFill>
              </a:rPr>
              <a:t>Fail fast: put fastest checks first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1A1A2E"/>
                </a:solidFill>
              </a:rPr>
              <a:t>Cache NuGet packages to speed up builds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1A1A2E"/>
                </a:solidFill>
              </a:rPr>
              <a:t>Artifacts: publish test results + coverage HTML report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800600" y="2962656"/>
            <a:ext cx="4114800" cy="18288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6350">
            <a:solidFill>
              <a:srgbClr val="D1D9FF"/>
            </a:solidFill>
            <a:prstDash val="solid"/>
          </a:ln>
          <a:effectLst>
            <a:outerShdw sx="100000" sy="100000" kx="0" ky="0" algn="bl" rotWithShape="0" blurRad="101600" dist="25400" dir="2700000">
              <a:srgbClr val="000000">
                <a:alpha val="9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4965192" y="3054096"/>
            <a:ext cx="3767328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</a:rPr>
              <a:t>CD pipeline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4965192" y="3392424"/>
            <a:ext cx="3794760" cy="13167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1A1A2E"/>
                </a:solidFill>
              </a:rPr>
              <a:t>Environment promotion: dev → staging → production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1A1A2E"/>
                </a:solidFill>
              </a:rPr>
              <a:t>Manual approval gates before staging and production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1A1A2E"/>
                </a:solidFill>
              </a:rPr>
              <a:t>Blue-green: run new version alongside old, shift traffic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1A1A2E"/>
                </a:solidFill>
              </a:rPr>
              <a:t>Canary: route 5% of traffic to new version, monitor errors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1A1A2E"/>
                </a:solidFill>
              </a:rPr>
              <a:t>Rollback: re-deploy last known good image tag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1A1A2E"/>
                </a:solidFill>
              </a:rPr>
              <a:t>Release notes auto-generated from conventional commits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D1B4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182880"/>
            <a:ext cx="1828800" cy="237744"/>
          </a:xfrm>
          <a:prstGeom prst="roundRect">
            <a:avLst>
              <a:gd name="adj" fmla="val 50000"/>
            </a:avLst>
          </a:prstGeom>
          <a:solidFill>
            <a:srgbClr val="F96167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"/>
            <a:ext cx="1828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SECURITY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457200" y="438912"/>
            <a:ext cx="8412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Security: JWT, OAuth 2.0, Azure AD &amp; Key Vault</a:t>
            </a:r>
            <a:endParaRPr lang="en-US" sz="2100" dirty="0"/>
          </a:p>
        </p:txBody>
      </p:sp>
      <p:sp>
        <p:nvSpPr>
          <p:cNvPr id="5" name="Text 3"/>
          <p:cNvSpPr/>
          <p:nvPr/>
        </p:nvSpPr>
        <p:spPr>
          <a:xfrm>
            <a:off x="457200" y="877824"/>
            <a:ext cx="84124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ADCFC"/>
                </a:solidFill>
              </a:rPr>
              <a:t>Every request must prove identity. Every secret must live in Key Vault.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457200" y="1005840"/>
            <a:ext cx="4114800" cy="1920240"/>
          </a:xfrm>
          <a:prstGeom prst="roundRect">
            <a:avLst>
              <a:gd name="adj" fmla="val 5714"/>
            </a:avLst>
          </a:prstGeom>
          <a:solidFill>
            <a:srgbClr val="1A2550"/>
          </a:solidFill>
          <a:ln w="6350">
            <a:solidFill>
              <a:srgbClr val="D1D9FF"/>
            </a:solidFill>
            <a:prstDash val="solid"/>
          </a:ln>
          <a:effectLst>
            <a:outerShdw sx="100000" sy="100000" kx="0" ky="0" algn="bl" rotWithShape="0" blurRad="101600" dist="25400" dir="2700000">
              <a:srgbClr val="000000">
                <a:alpha val="9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621792" y="1115568"/>
            <a:ext cx="376732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ADCFC"/>
                </a:solidFill>
              </a:rPr>
              <a:t>JWT token: what's inside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621792" y="1426464"/>
            <a:ext cx="3767328" cy="1353312"/>
          </a:xfrm>
          <a:prstGeom prst="roundRect">
            <a:avLst>
              <a:gd name="adj" fmla="val 5405"/>
            </a:avLst>
          </a:prstGeom>
          <a:solidFill>
            <a:srgbClr val="0A1628"/>
          </a:solidFill>
          <a:ln w="6350">
            <a:solidFill>
              <a:srgbClr val="334477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58952" y="1499616"/>
            <a:ext cx="3493008" cy="12618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A8D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Decoded payload example
{
  "sub": "user-uuid-here",          // subject
  "iss": "https://login.microsoftonline.com/...", // issuer
  "aud": "api://my-app-client-id",  // audience
  "exp": 1749600000,                // expiry (Unix)
  "roles": ["Admin","ReadOnly"],     // RBAC roles
  "tid": "tenant-id-guid",          // tenant ID
  "custom_tenantId": "acme-corp"    // your claims
}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4773168" y="1005840"/>
            <a:ext cx="4114800" cy="1920240"/>
          </a:xfrm>
          <a:prstGeom prst="roundRect">
            <a:avLst>
              <a:gd name="adj" fmla="val 5714"/>
            </a:avLst>
          </a:prstGeom>
          <a:solidFill>
            <a:srgbClr val="1A2550"/>
          </a:solidFill>
          <a:ln w="6350">
            <a:solidFill>
              <a:srgbClr val="D1D9FF"/>
            </a:solidFill>
            <a:prstDash val="solid"/>
          </a:ln>
          <a:effectLst>
            <a:outerShdw sx="100000" sy="100000" kx="0" ky="0" algn="bl" rotWithShape="0" blurRad="101600" dist="25400" dir="2700000">
              <a:srgbClr val="000000">
                <a:alpha val="9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937760" y="1115568"/>
            <a:ext cx="376732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ADCFC"/>
                </a:solidFill>
              </a:rPr>
              <a:t>Validate JWT in .NET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937760" y="1426464"/>
            <a:ext cx="3767328" cy="1353312"/>
          </a:xfrm>
          <a:prstGeom prst="roundRect">
            <a:avLst>
              <a:gd name="adj" fmla="val 5405"/>
            </a:avLst>
          </a:prstGeom>
          <a:solidFill>
            <a:srgbClr val="0A1628"/>
          </a:solidFill>
          <a:ln w="6350">
            <a:solidFill>
              <a:srgbClr val="334477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074920" y="1499616"/>
            <a:ext cx="3493008" cy="12618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A8D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builder.Services.AddAuthentication(JwtBearerDefaults.AuthenticationScheme)
.AddJwtBearer(o =&gt; {
  o.Authority = "https://login.microsoftonline.com/{tenant}";
  o.Audience  = "api://my-app-client-id";
  o.TokenValidationParameters = new() {
    ValidateIssuer   = true,
    ValidateAudience = true,
    ValidateLifetime = true,
  };
});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457200" y="2999232"/>
            <a:ext cx="4114800" cy="1901952"/>
          </a:xfrm>
          <a:prstGeom prst="roundRect">
            <a:avLst>
              <a:gd name="adj" fmla="val 5769"/>
            </a:avLst>
          </a:prstGeom>
          <a:solidFill>
            <a:srgbClr val="1A2550"/>
          </a:solidFill>
          <a:ln w="6350">
            <a:solidFill>
              <a:srgbClr val="D1D9FF"/>
            </a:solidFill>
            <a:prstDash val="solid"/>
          </a:ln>
          <a:effectLst>
            <a:outerShdw sx="100000" sy="100000" kx="0" ky="0" algn="bl" rotWithShape="0" blurRad="101600" dist="25400" dir="2700000">
              <a:srgbClr val="000000">
                <a:alpha val="9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621792" y="3108960"/>
            <a:ext cx="376732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ADCFC"/>
                </a:solidFill>
              </a:rPr>
              <a:t>OAuth 2.0 flows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621792" y="3419856"/>
            <a:ext cx="3794760" cy="1389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AABCEE"/>
                </a:solidFill>
              </a:rPr>
              <a:t>Auth Code + PKCE — user-facing web/mobile apps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AABCEE"/>
                </a:solidFill>
              </a:rPr>
              <a:t>Client Credentials — service-to-service (no user present)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AABCEE"/>
                </a:solidFill>
              </a:rPr>
              <a:t>On-Behalf-Of — API calls another API on user's behalf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AABCEE"/>
                </a:solidFill>
              </a:rPr>
              <a:t>Device Code — CLI tools / IoT devices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AABCEE"/>
                </a:solidFill>
              </a:rPr>
              <a:t>Azure AD handles token issuance and JWKS rotation — your API just validates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4773168" y="2999232"/>
            <a:ext cx="4114800" cy="1901952"/>
          </a:xfrm>
          <a:prstGeom prst="roundRect">
            <a:avLst>
              <a:gd name="adj" fmla="val 5769"/>
            </a:avLst>
          </a:prstGeom>
          <a:solidFill>
            <a:srgbClr val="1A2550"/>
          </a:solidFill>
          <a:ln w="6350">
            <a:solidFill>
              <a:srgbClr val="D1D9FF"/>
            </a:solidFill>
            <a:prstDash val="solid"/>
          </a:ln>
          <a:effectLst>
            <a:outerShdw sx="100000" sy="100000" kx="0" ky="0" algn="bl" rotWithShape="0" blurRad="101600" dist="25400" dir="2700000">
              <a:srgbClr val="000000">
                <a:alpha val="9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4937760" y="3108960"/>
            <a:ext cx="376732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ADCFC"/>
                </a:solidFill>
              </a:rPr>
              <a:t>Key Vault &amp; Managed Identity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4937760" y="3419856"/>
            <a:ext cx="3767328" cy="1261872"/>
          </a:xfrm>
          <a:prstGeom prst="roundRect">
            <a:avLst>
              <a:gd name="adj" fmla="val 5797"/>
            </a:avLst>
          </a:prstGeom>
          <a:solidFill>
            <a:srgbClr val="0A1628"/>
          </a:solidFill>
          <a:ln w="6350">
            <a:solidFill>
              <a:srgbClr val="334477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074920" y="3493008"/>
            <a:ext cx="3493008" cy="11704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A8D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Reference Key Vault in appsettings.json
// "ConnectionStrings:Db": "@Microsoft.KeyVault(VaultName=myvault;SecretName=DbConn)"
// Or in code with Managed Identity (no credentials needed)
var client = new SecretClient(
  new Uri("https://myvault.vault.azure.net"),
  new DefaultAzureCredential()); // uses MI automatically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7F9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182880"/>
            <a:ext cx="1828800" cy="237744"/>
          </a:xfrm>
          <a:prstGeom prst="roundRect">
            <a:avLst>
              <a:gd name="adj" fmla="val 50000"/>
            </a:avLst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"/>
            <a:ext cx="1828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AZURE INFRASTRUCTURE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457200" y="438912"/>
            <a:ext cx="8412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Azure infrastructure: AKS, App Service, APIM &amp; networking</a:t>
            </a:r>
            <a:endParaRPr lang="en-US" sz="2100" dirty="0"/>
          </a:p>
        </p:txBody>
      </p:sp>
      <p:sp>
        <p:nvSpPr>
          <p:cNvPr id="5" name="Shape 3"/>
          <p:cNvSpPr/>
          <p:nvPr/>
        </p:nvSpPr>
        <p:spPr>
          <a:xfrm>
            <a:off x="457200" y="1024128"/>
            <a:ext cx="4114800" cy="18288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6350">
            <a:solidFill>
              <a:srgbClr val="D1D9FF"/>
            </a:solidFill>
            <a:prstDash val="solid"/>
          </a:ln>
          <a:effectLst>
            <a:outerShdw sx="100000" sy="100000" kx="0" ky="0" algn="bl" rotWithShape="0" blurRad="101600" dist="25400" dir="2700000">
              <a:srgbClr val="000000">
                <a:alpha val="9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621792" y="1115568"/>
            <a:ext cx="3767328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</a:rPr>
              <a:t>AKS (Kubernetes) deep dive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621792" y="1453896"/>
            <a:ext cx="3794760" cy="13167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1A1A2E"/>
                </a:solidFill>
              </a:rPr>
              <a:t>Pod = one or more containers, shared network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1A1A2E"/>
                </a:solidFill>
              </a:rPr>
              <a:t>Deployment = desired state (replicas, image, resources)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1A1A2E"/>
                </a:solidFill>
              </a:rPr>
              <a:t>Service = stable DNS + IP (ClusterIP / LoadBalancer / NodePort)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1A1A2E"/>
                </a:solidFill>
              </a:rPr>
              <a:t>Ingress = HTTP routing + TLS termination (nginx ingress controller)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1A1A2E"/>
                </a:solidFill>
              </a:rPr>
              <a:t>ConfigMap = non-secret config; Secret = base64-encoded secrets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1A1A2E"/>
                </a:solidFill>
              </a:rPr>
              <a:t>HPA = scale pods on CPU/memory/custom metric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1A1A2E"/>
                </a:solidFill>
              </a:rPr>
              <a:t>Namespace = logical isolation within cluster (dev/staging/prod)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4800600" y="1024128"/>
            <a:ext cx="4114800" cy="18288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6350">
            <a:solidFill>
              <a:srgbClr val="D1D9FF"/>
            </a:solidFill>
            <a:prstDash val="solid"/>
          </a:ln>
          <a:effectLst>
            <a:outerShdw sx="100000" sy="100000" kx="0" ky="0" algn="bl" rotWithShape="0" blurRad="101600" dist="25400" dir="2700000">
              <a:srgbClr val="000000">
                <a:alpha val="9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4965192" y="1115568"/>
            <a:ext cx="3767328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</a:rPr>
              <a:t>App Service essentials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4965192" y="1453896"/>
            <a:ext cx="3794760" cy="13167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1A1A2E"/>
                </a:solidFill>
              </a:rPr>
              <a:t>Plan tiers: Free → Shared → Basic → Standard → Premium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1A1A2E"/>
                </a:solidFill>
              </a:rPr>
              <a:t>Deployment slots: staging slot for zero-downtime swap to prod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1A1A2E"/>
                </a:solidFill>
              </a:rPr>
              <a:t>Scale out (more instances) vs scale up (bigger VM)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1A1A2E"/>
                </a:solidFill>
              </a:rPr>
              <a:t>App Settings = env vars injected at runtime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1A1A2E"/>
                </a:solidFill>
              </a:rPr>
              <a:t>Always On: prevent app from sleeping in B1+ plans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1A1A2E"/>
                </a:solidFill>
              </a:rPr>
              <a:t>Health checks: /health endpoint → App Service restarts unhealthy instances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1A1A2E"/>
                </a:solidFill>
              </a:rPr>
              <a:t>Managed Identity: no connection strings stored in App Service config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457200" y="2962656"/>
            <a:ext cx="4114800" cy="18288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6350">
            <a:solidFill>
              <a:srgbClr val="D1D9FF"/>
            </a:solidFill>
            <a:prstDash val="solid"/>
          </a:ln>
          <a:effectLst>
            <a:outerShdw sx="100000" sy="100000" kx="0" ky="0" algn="bl" rotWithShape="0" blurRad="101600" dist="25400" dir="2700000">
              <a:srgbClr val="000000">
                <a:alpha val="9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621792" y="3054096"/>
            <a:ext cx="3767328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</a:rPr>
              <a:t>API Management (APIM)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621792" y="3392424"/>
            <a:ext cx="3794760" cy="13167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1A1A2E"/>
                </a:solidFill>
              </a:rPr>
              <a:t>Products group APIs; subscriptions control access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1A1A2E"/>
                </a:solidFill>
              </a:rPr>
              <a:t>Policies: inbound (auth, rate limit, transform), outbound (response shape)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1A1A2E"/>
                </a:solidFill>
              </a:rPr>
              <a:t>Named values = Key Vault references in policies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1A1A2E"/>
                </a:solidFill>
              </a:rPr>
              <a:t>Backends: route to App Service / AKS / Function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1A1A2E"/>
                </a:solidFill>
              </a:rPr>
              <a:t>Mock responses: test clients before backend is ready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1A1A2E"/>
                </a:solidFill>
              </a:rPr>
              <a:t>Developer portal: auto-generated docs + test console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1A1A2E"/>
                </a:solidFill>
              </a:rPr>
              <a:t>Versioning: URL path /v1/ or header-based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800600" y="2962656"/>
            <a:ext cx="4114800" cy="18288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6350">
            <a:solidFill>
              <a:srgbClr val="D1D9FF"/>
            </a:solidFill>
            <a:prstDash val="solid"/>
          </a:ln>
          <a:effectLst>
            <a:outerShdw sx="100000" sy="100000" kx="0" ky="0" algn="bl" rotWithShape="0" blurRad="101600" dist="25400" dir="2700000">
              <a:srgbClr val="000000">
                <a:alpha val="9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4965192" y="3054096"/>
            <a:ext cx="3767328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</a:rPr>
              <a:t>Networking &amp; security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4965192" y="3392424"/>
            <a:ext cx="3794760" cy="13167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1A1A2E"/>
                </a:solidFill>
              </a:rPr>
              <a:t>VNet: isolate resources from internet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1A1A2E"/>
                </a:solidFill>
              </a:rPr>
              <a:t>NSG: firewall rules per subnet (stateful packet filter)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1A1A2E"/>
                </a:solidFill>
              </a:rPr>
              <a:t>Private Endpoint: service accessible only within VNet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1A1A2E"/>
                </a:solidFill>
              </a:rPr>
              <a:t>Application Gateway: L7 load balancer + WAF (OWASP rules)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1A1A2E"/>
                </a:solidFill>
              </a:rPr>
              <a:t>Front Door: global CDN + WAF + anycast routing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1A1A2E"/>
                </a:solidFill>
              </a:rPr>
              <a:t>Service Endpoint: allow subnet access to PaaS services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1A1A2E"/>
                </a:solidFill>
              </a:rPr>
              <a:t>Zero trust: every service authenticates, no implicit trust by network location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D1B4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182880"/>
            <a:ext cx="1828800" cy="237744"/>
          </a:xfrm>
          <a:prstGeom prst="roundRect">
            <a:avLst>
              <a:gd name="adj" fmla="val 50000"/>
            </a:avLst>
          </a:prstGeom>
          <a:solidFill>
            <a:srgbClr val="0D9488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"/>
            <a:ext cx="1828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RUNTIME SERVICES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457200" y="438912"/>
            <a:ext cx="8412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Redis cache &amp; Azure Service Bus: patterns &amp; pitfalls</a:t>
            </a:r>
            <a:endParaRPr lang="en-US" sz="2100" dirty="0"/>
          </a:p>
        </p:txBody>
      </p:sp>
      <p:sp>
        <p:nvSpPr>
          <p:cNvPr id="5" name="Text 3"/>
          <p:cNvSpPr/>
          <p:nvPr/>
        </p:nvSpPr>
        <p:spPr>
          <a:xfrm>
            <a:off x="457200" y="877824"/>
            <a:ext cx="84124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ADCFC"/>
                </a:solidFill>
              </a:rPr>
              <a:t>Distributed caching and async messaging are the backbone of scalable .NET systems.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457200" y="1005840"/>
            <a:ext cx="4114800" cy="3886200"/>
          </a:xfrm>
          <a:prstGeom prst="roundRect">
            <a:avLst>
              <a:gd name="adj" fmla="val 2824"/>
            </a:avLst>
          </a:prstGeom>
          <a:solidFill>
            <a:srgbClr val="1A2550"/>
          </a:solidFill>
          <a:ln w="6350">
            <a:solidFill>
              <a:srgbClr val="D1D9FF"/>
            </a:solidFill>
            <a:prstDash val="solid"/>
          </a:ln>
          <a:effectLst>
            <a:outerShdw sx="100000" sy="100000" kx="0" ky="0" algn="bl" rotWithShape="0" blurRad="101600" dist="25400" dir="2700000">
              <a:srgbClr val="000000">
                <a:alpha val="9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621792" y="1115568"/>
            <a:ext cx="376732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ADCFC"/>
                </a:solidFill>
              </a:rPr>
              <a:t>Redis: patterns in .NET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621792" y="1426464"/>
            <a:ext cx="3767328" cy="2103120"/>
          </a:xfrm>
          <a:prstGeom prst="roundRect">
            <a:avLst>
              <a:gd name="adj" fmla="val 3478"/>
            </a:avLst>
          </a:prstGeom>
          <a:solidFill>
            <a:srgbClr val="0A1628"/>
          </a:solidFill>
          <a:ln w="6350">
            <a:solidFill>
              <a:srgbClr val="334477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58952" y="1499616"/>
            <a:ext cx="3493008" cy="2011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A8D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Register
builder.Services.AddStackExchangeRedisCache(o =&gt;
  o.Configuration = config["Redis:Connection"]);
// Cache-aside pattern
public async Task&lt;CustomerDto?&gt; GetCustomerAsync(int id)
{
  var key = $"customer:{id}";
  var cached = await _cache.GetStringAsync(key);
  if (cached != null) return JsonSerializer.Deserialize&lt;CustomerDto&gt;(cached);
  var customer = await _repo.GetByIdAsync(id);
  if (customer is null) return null;
  await _cache.SetStringAsync(key,
    JsonSerializer.Serialize(customer),
    new DistributedCacheEntryOptions {
      AbsoluteExpirationRelativeToNow = TimeSpan.FromMinutes(5)
    });
  return customer;
}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621792" y="3566160"/>
            <a:ext cx="376732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ADCFC"/>
                </a:solidFill>
              </a:rPr>
              <a:t>Redis gotchas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621792" y="3858768"/>
            <a:ext cx="3794760" cy="9875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AABCEE"/>
                </a:solidFill>
              </a:rPr>
              <a:t>Always set TTL — unbounded cache = memory leak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AABCEE"/>
                </a:solidFill>
              </a:rPr>
              <a:t>Invalidate on write: await _cache.RemoveAsync(key)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AABCEE"/>
                </a:solidFill>
              </a:rPr>
              <a:t>Stale-while-revalidate pattern for hot paths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AABCEE"/>
                </a:solidFill>
              </a:rPr>
              <a:t>Cache stampede: distributed lock (Redlock) prevents thundering herd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AABCEE"/>
                </a:solidFill>
              </a:rPr>
              <a:t>Never cache sensitive PII without encryption at rest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4773168" y="1005840"/>
            <a:ext cx="4114800" cy="3886200"/>
          </a:xfrm>
          <a:prstGeom prst="roundRect">
            <a:avLst>
              <a:gd name="adj" fmla="val 2824"/>
            </a:avLst>
          </a:prstGeom>
          <a:solidFill>
            <a:srgbClr val="1A2550"/>
          </a:solidFill>
          <a:ln w="6350">
            <a:solidFill>
              <a:srgbClr val="D1D9FF"/>
            </a:solidFill>
            <a:prstDash val="solid"/>
          </a:ln>
          <a:effectLst>
            <a:outerShdw sx="100000" sy="100000" kx="0" ky="0" algn="bl" rotWithShape="0" blurRad="101600" dist="25400" dir="2700000">
              <a:srgbClr val="000000">
                <a:alpha val="9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4937760" y="1115568"/>
            <a:ext cx="376732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ADCFC"/>
                </a:solidFill>
              </a:rPr>
              <a:t>Azure Service Bus patterns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4937760" y="1426464"/>
            <a:ext cx="3767328" cy="1828800"/>
          </a:xfrm>
          <a:prstGeom prst="roundRect">
            <a:avLst>
              <a:gd name="adj" fmla="val 4000"/>
            </a:avLst>
          </a:prstGeom>
          <a:solidFill>
            <a:srgbClr val="0A1628"/>
          </a:solidFill>
          <a:ln w="6350">
            <a:solidFill>
              <a:srgbClr val="334477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074920" y="1499616"/>
            <a:ext cx="3493008" cy="1737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A8D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Publisher
public async Task PublishOrderPlacedAsync(Order o)
{
  var msg = new ServiceBusMessage(
    JsonSerializer.SerializeToUtf8Bytes(new OrderPlacedEvent(o.Id, o.Total))
  ) { MessageId = Guid.NewGuid().ToString(),
      Subject = "OrderPlaced",
      SessionId = o.CustomerId.ToString() }; // for ordered delivery
  await _sender.SendMessageAsync(msg);
}
// Consumer (hosted service)
public async Task ProcessMessageAsync(ProcessMessageEventArgs args) {
  var evt = JsonSerializer.Deserialize&lt;OrderPlacedEvent&gt;(args.Message.Body);
  await _handler.HandleAsync(evt);
  await args.CompleteMessageAsync(args.Message);
}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4937760" y="3291840"/>
            <a:ext cx="376732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ADCFC"/>
                </a:solidFill>
              </a:rPr>
              <a:t>Service Bus concepts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4937760" y="3584448"/>
            <a:ext cx="3794760" cy="12161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AABCEE"/>
                </a:solidFill>
              </a:rPr>
              <a:t>Queues: competing consumers, one message delivered once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AABCEE"/>
                </a:solidFill>
              </a:rPr>
              <a:t>Topics + Subscriptions: fan-out to many independent consumers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AABCEE"/>
                </a:solidFill>
              </a:rPr>
              <a:t>Dead-letter queue (DLQ): inspect and replay failed messages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AABCEE"/>
                </a:solidFill>
              </a:rPr>
              <a:t>Message lock: claim lease, must complete/abandon before lock expires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AABCEE"/>
                </a:solidFill>
              </a:rPr>
              <a:t>Sessions: ordered delivery per session ID (e.g. per customer)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AABCEE"/>
                </a:solidFill>
              </a:rPr>
              <a:t>Retry policy: max delivery count before DLQ</a:t>
            </a:r>
            <a:endParaRPr lang="en-US" sz="9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7F9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182880"/>
            <a:ext cx="1828800" cy="237744"/>
          </a:xfrm>
          <a:prstGeom prst="roundRect">
            <a:avLst>
              <a:gd name="adj" fmla="val 50000"/>
            </a:avLst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"/>
            <a:ext cx="1828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SYSTEM DESIGN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457200" y="438912"/>
            <a:ext cx="8412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System design thinking: trade-offs, NFRs &amp; architecture decisions</a:t>
            </a:r>
            <a:endParaRPr lang="en-US" sz="2100" dirty="0"/>
          </a:p>
        </p:txBody>
      </p:sp>
      <p:sp>
        <p:nvSpPr>
          <p:cNvPr id="5" name="Shape 3"/>
          <p:cNvSpPr/>
          <p:nvPr/>
        </p:nvSpPr>
        <p:spPr>
          <a:xfrm>
            <a:off x="457200" y="1024128"/>
            <a:ext cx="4114800" cy="18288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6350">
            <a:solidFill>
              <a:srgbClr val="D1D9FF"/>
            </a:solidFill>
            <a:prstDash val="solid"/>
          </a:ln>
          <a:effectLst>
            <a:outerShdw sx="100000" sy="100000" kx="0" ky="0" algn="bl" rotWithShape="0" blurRad="101600" dist="25400" dir="2700000">
              <a:srgbClr val="000000">
                <a:alpha val="9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621792" y="1115568"/>
            <a:ext cx="3767328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</a:rPr>
              <a:t>The trade-off triangle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621792" y="1453896"/>
            <a:ext cx="3794760" cy="13167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1A1A2E"/>
                </a:solidFill>
              </a:rPr>
              <a:t>CAP theorem: consistency, availability, partition tolerance — pick 2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1A1A2E"/>
                </a:solidFill>
              </a:rPr>
              <a:t>Strong consistency: SQL, two-phase commit (distributed transactions)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1A1A2E"/>
                </a:solidFill>
              </a:rPr>
              <a:t>Eventual consistency: Service Bus events, CQRS read models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1A1A2E"/>
                </a:solidFill>
              </a:rPr>
              <a:t>Latency vs throughput: one fast request vs many per second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1A1A2E"/>
                </a:solidFill>
              </a:rPr>
              <a:t>Read-heavy vs write-heavy: different caching and DB strategies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1A1A2E"/>
                </a:solidFill>
              </a:rPr>
              <a:t>Build complexity only when bottleneck is proven, not anticipated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4800600" y="1024128"/>
            <a:ext cx="4114800" cy="18288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6350">
            <a:solidFill>
              <a:srgbClr val="D1D9FF"/>
            </a:solidFill>
            <a:prstDash val="solid"/>
          </a:ln>
          <a:effectLst>
            <a:outerShdw sx="100000" sy="100000" kx="0" ky="0" algn="bl" rotWithShape="0" blurRad="101600" dist="25400" dir="2700000">
              <a:srgbClr val="000000">
                <a:alpha val="9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4965192" y="1115568"/>
            <a:ext cx="3767328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</a:rPr>
              <a:t>Non-functional requirements (NFRs)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4965192" y="1453896"/>
            <a:ext cx="3794760" cy="13167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1A1A2E"/>
                </a:solidFill>
              </a:rPr>
              <a:t>Latency SLA: p95 &lt; 200ms, p99 &lt; 500ms (measure at API Gateway)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1A1A2E"/>
                </a:solidFill>
              </a:rPr>
              <a:t>Availability: 99.9% = 8.7hrs downtime/yr; 99.99% = 52min/yr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1A1A2E"/>
                </a:solidFill>
              </a:rPr>
              <a:t>RTO (Recovery Time Objective): how fast to restore after failure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1A1A2E"/>
                </a:solidFill>
              </a:rPr>
              <a:t>RPO (Recovery Point Objective): how much data can be lost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1A1A2E"/>
                </a:solidFill>
              </a:rPr>
              <a:t>Throughput: 1,000 req/s? 100k req/s? Design accordingly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1A1A2E"/>
                </a:solidFill>
              </a:rPr>
              <a:t>Compliance: GDPR (EU), POPIA (ZA), PCI-DSS (payments)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457200" y="2962656"/>
            <a:ext cx="4114800" cy="18288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6350">
            <a:solidFill>
              <a:srgbClr val="D1D9FF"/>
            </a:solidFill>
            <a:prstDash val="solid"/>
          </a:ln>
          <a:effectLst>
            <a:outerShdw sx="100000" sy="100000" kx="0" ky="0" algn="bl" rotWithShape="0" blurRad="101600" dist="25400" dir="2700000">
              <a:srgbClr val="000000">
                <a:alpha val="9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621792" y="3054096"/>
            <a:ext cx="3767328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</a:rPr>
              <a:t>Architecture Decision Records (ADRs)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621792" y="3392424"/>
            <a:ext cx="3794760" cy="13167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1A1A2E"/>
                </a:solidFill>
              </a:rPr>
              <a:t>Title: short phrase describing the decision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1A1A2E"/>
                </a:solidFill>
              </a:rPr>
              <a:t>Status: proposed / accepted / superseded / deprecated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1A1A2E"/>
                </a:solidFill>
              </a:rPr>
              <a:t>Context: why this decision needs to be made now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1A1A2E"/>
                </a:solidFill>
              </a:rPr>
              <a:t>Decision: what we chose and why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1A1A2E"/>
                </a:solidFill>
              </a:rPr>
              <a:t>Consequences: trade-offs, risks, what gets harder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1A1A2E"/>
                </a:solidFill>
              </a:rPr>
              <a:t>Store ADRs in /docs/architecture/ in source control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1A1A2E"/>
                </a:solidFill>
              </a:rPr>
              <a:t>Tools: adr-tools CLI, GitHub markdown, Backstage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800600" y="2962656"/>
            <a:ext cx="4114800" cy="18288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6350">
            <a:solidFill>
              <a:srgbClr val="D1D9FF"/>
            </a:solidFill>
            <a:prstDash val="solid"/>
          </a:ln>
          <a:effectLst>
            <a:outerShdw sx="100000" sy="100000" kx="0" ky="0" algn="bl" rotWithShape="0" blurRad="101600" dist="25400" dir="2700000">
              <a:srgbClr val="000000">
                <a:alpha val="9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4965192" y="3054096"/>
            <a:ext cx="3767328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</a:rPr>
              <a:t>C4 model (Simon Brown)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4965192" y="3392424"/>
            <a:ext cx="3794760" cy="13167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1A1A2E"/>
                </a:solidFill>
              </a:rPr>
              <a:t>Level 1 — Context: your system + users + external systems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1A1A2E"/>
                </a:solidFill>
              </a:rPr>
              <a:t>Level 2 — Container: web app, API, database, message bus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1A1A2E"/>
                </a:solidFill>
              </a:rPr>
              <a:t>Level 3 — Component: controllers, services, repos inside a container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1A1A2E"/>
                </a:solidFill>
              </a:rPr>
              <a:t>Level 4 — Code: class diagrams (rarely needed)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1A1A2E"/>
                </a:solidFill>
              </a:rPr>
              <a:t>Draw with: Structurizr, PlantUML, draw.io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1A1A2E"/>
                </a:solidFill>
              </a:rPr>
              <a:t>Living diagrams: generate from code annotations (Structurizr DSL)</a:t>
            </a: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D1B4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182880"/>
            <a:ext cx="1828800" cy="237744"/>
          </a:xfrm>
          <a:prstGeom prst="roundRect">
            <a:avLst>
              <a:gd name="adj" fmla="val 50000"/>
            </a:avLst>
          </a:prstGeom>
          <a:solidFill>
            <a:srgbClr val="0D9488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"/>
            <a:ext cx="1828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DDD &amp; MULTI-TENANCY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457200" y="438912"/>
            <a:ext cx="8412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Domain-driven design &amp; multi-tenancy in depth</a:t>
            </a:r>
            <a:endParaRPr lang="en-US" sz="2100" dirty="0"/>
          </a:p>
        </p:txBody>
      </p:sp>
      <p:sp>
        <p:nvSpPr>
          <p:cNvPr id="5" name="Text 3"/>
          <p:cNvSpPr/>
          <p:nvPr/>
        </p:nvSpPr>
        <p:spPr>
          <a:xfrm>
            <a:off x="457200" y="877824"/>
            <a:ext cx="84124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ADCFC"/>
                </a:solidFill>
              </a:rPr>
              <a:t>DDD gives you the vocabulary. Multi-tenancy is the most consequential architectural decision for SaaS.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457200" y="1005840"/>
            <a:ext cx="4114800" cy="3886200"/>
          </a:xfrm>
          <a:prstGeom prst="roundRect">
            <a:avLst>
              <a:gd name="adj" fmla="val 2824"/>
            </a:avLst>
          </a:prstGeom>
          <a:solidFill>
            <a:srgbClr val="1A2550"/>
          </a:solidFill>
          <a:ln w="6350">
            <a:solidFill>
              <a:srgbClr val="D1D9FF"/>
            </a:solidFill>
            <a:prstDash val="solid"/>
          </a:ln>
          <a:effectLst>
            <a:outerShdw sx="100000" sy="100000" kx="0" ky="0" algn="bl" rotWithShape="0" blurRad="101600" dist="25400" dir="2700000">
              <a:srgbClr val="000000">
                <a:alpha val="9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621792" y="1115568"/>
            <a:ext cx="376732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ADCFC"/>
                </a:solidFill>
              </a:rPr>
              <a:t>DDD building blocks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621792" y="1426464"/>
            <a:ext cx="3794760" cy="3383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AABCEE"/>
                </a:solidFill>
              </a:rPr>
              <a:t>Entity: has identity (OrderId) — same object over time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AABCEE"/>
                </a:solidFill>
              </a:rPr>
              <a:t>Value object: no identity (Money, Address) — equality by value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AABCEE"/>
                </a:solidFill>
              </a:rPr>
              <a:t>Aggregate: consistency boundary — load and save as one unit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AABCEE"/>
                </a:solidFill>
              </a:rPr>
              <a:t>Aggregate root: the only entry point to the aggregate (Order, not OrderItem)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AABCEE"/>
                </a:solidFill>
              </a:rPr>
              <a:t>Domain event: a fact (OrderPlaced) — raised inside domain, handled outside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AABCEE"/>
                </a:solidFill>
              </a:rPr>
              <a:t>Repository: one per aggregate root — IOrderRepository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AABCEE"/>
                </a:solidFill>
              </a:rPr>
              <a:t>Domain service: logic that doesn't belong to one entity (PricingService)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AABCEE"/>
                </a:solidFill>
              </a:rPr>
              <a:t>Specification: encapsulate a query predicate as an object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AABCEE"/>
                </a:solidFill>
              </a:rPr>
              <a:t>Anti-corruption layer (ACL): translate between bounded contexts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AABCEE"/>
                </a:solidFill>
              </a:rPr>
              <a:t>Context map: Shared Kernel / Customer-Supplier / Conformist / ACL patterns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4773168" y="1005840"/>
            <a:ext cx="4114800" cy="1874520"/>
          </a:xfrm>
          <a:prstGeom prst="roundRect">
            <a:avLst>
              <a:gd name="adj" fmla="val 5854"/>
            </a:avLst>
          </a:prstGeom>
          <a:solidFill>
            <a:srgbClr val="1A2550"/>
          </a:solidFill>
          <a:ln w="6350">
            <a:solidFill>
              <a:srgbClr val="D1D9FF"/>
            </a:solidFill>
            <a:prstDash val="solid"/>
          </a:ln>
          <a:effectLst>
            <a:outerShdw sx="100000" sy="100000" kx="0" ky="0" algn="bl" rotWithShape="0" blurRad="101600" dist="25400" dir="2700000">
              <a:srgbClr val="000000">
                <a:alpha val="9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4937760" y="1115568"/>
            <a:ext cx="376732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ADCFC"/>
                </a:solidFill>
              </a:rPr>
              <a:t>Multi-tenancy: silo vs pool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937760" y="1426464"/>
            <a:ext cx="3794760" cy="13533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AABCEE"/>
                </a:solidFill>
              </a:rPr>
              <a:t>Silo: one DB per tenant — max isolation, high cost (your Transfer Agency uses this)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AABCEE"/>
                </a:solidFill>
              </a:rPr>
              <a:t>Pool: shared DB, TenantId column on every table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AABCEE"/>
                </a:solidFill>
              </a:rPr>
              <a:t>Bridge: shared compute, separate DBs — most common SaaS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AABCEE"/>
                </a:solidFill>
              </a:rPr>
              <a:t>RLS in SQL Server: CREATE SECURITY POLICY filter by SUSER_SNAME()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AABCEE"/>
                </a:solidFill>
              </a:rPr>
              <a:t>Global query filter in EF Core: HasQueryFilter(e =&gt; e.TenantId == _tenantId)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AABCEE"/>
                </a:solidFill>
              </a:rPr>
              <a:t>ITenantContext: inject current tenant everywhere, set from JWT claim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4773168" y="2944368"/>
            <a:ext cx="4114800" cy="1947672"/>
          </a:xfrm>
          <a:prstGeom prst="roundRect">
            <a:avLst>
              <a:gd name="adj" fmla="val 5634"/>
            </a:avLst>
          </a:prstGeom>
          <a:solidFill>
            <a:srgbClr val="1A2550"/>
          </a:solidFill>
          <a:ln w="6350">
            <a:solidFill>
              <a:srgbClr val="D1D9FF"/>
            </a:solidFill>
            <a:prstDash val="solid"/>
          </a:ln>
          <a:effectLst>
            <a:outerShdw sx="100000" sy="100000" kx="0" ky="0" algn="bl" rotWithShape="0" blurRad="101600" dist="25400" dir="2700000">
              <a:srgbClr val="000000">
                <a:alpha val="9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4937760" y="3054096"/>
            <a:ext cx="376732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ADCFC"/>
                </a:solidFill>
              </a:rPr>
              <a:t>Microservice boundaries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4937760" y="3364992"/>
            <a:ext cx="3767328" cy="1389888"/>
          </a:xfrm>
          <a:prstGeom prst="roundRect">
            <a:avLst>
              <a:gd name="adj" fmla="val 5263"/>
            </a:avLst>
          </a:prstGeom>
          <a:solidFill>
            <a:srgbClr val="0A1628"/>
          </a:solidFill>
          <a:ln w="6350">
            <a:solidFill>
              <a:srgbClr val="334477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074920" y="3438144"/>
            <a:ext cx="3493008" cy="12984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A8D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Bounded context = microservice candidate
// Orders BC: Order, OrderItem, OrderStatus
// Inventory BC: Product, StockLevel, Reservation
// Payments BC: Invoice, Payment, Refund
// They communicate via events, not shared DB:
// OrderService publishes OrderPlaced event
// InventoryService subscribes and reserves stock
// PaymentsService subscribes and creates invoice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7F9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182880"/>
            <a:ext cx="1828800" cy="237744"/>
          </a:xfrm>
          <a:prstGeom prst="roundRect">
            <a:avLst>
              <a:gd name="adj" fmla="val 50000"/>
            </a:avLst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"/>
            <a:ext cx="1828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CAREER PATHS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457200" y="438912"/>
            <a:ext cx="8412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Role: DevOps engineer</a:t>
            </a:r>
            <a:endParaRPr lang="en-US" sz="2100" dirty="0"/>
          </a:p>
        </p:txBody>
      </p:sp>
      <p:sp>
        <p:nvSpPr>
          <p:cNvPr id="5" name="Text 3"/>
          <p:cNvSpPr/>
          <p:nvPr/>
        </p:nvSpPr>
        <p:spPr>
          <a:xfrm>
            <a:off x="457200" y="877824"/>
            <a:ext cx="84124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DevOps is the discipline of reducing friction between writing code and running it reliably in production.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457200" y="1024128"/>
            <a:ext cx="4114800" cy="18288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6350">
            <a:solidFill>
              <a:srgbClr val="D1D9FF"/>
            </a:solidFill>
            <a:prstDash val="solid"/>
          </a:ln>
          <a:effectLst>
            <a:outerShdw sx="100000" sy="100000" kx="0" ky="0" algn="bl" rotWithShape="0" blurRad="101600" dist="25400" dir="2700000">
              <a:srgbClr val="000000">
                <a:alpha val="9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621792" y="1115568"/>
            <a:ext cx="3767328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</a:rPr>
              <a:t>Core responsibilities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621792" y="1453896"/>
            <a:ext cx="3794760" cy="13167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1A1A2E"/>
                </a:solidFill>
              </a:rPr>
              <a:t>Own CI/CD pipelines end-to-end (build → test → deploy)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1A1A2E"/>
                </a:solidFill>
              </a:rPr>
              <a:t>Manage infrastructure as code (Bicep / Terraform)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1A1A2E"/>
                </a:solidFill>
              </a:rPr>
              <a:t>Container orchestration: AKS cluster config, node pools, upgrades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1A1A2E"/>
                </a:solidFill>
              </a:rPr>
              <a:t>Monitoring and alerting: App Insights, Prometheus, Grafana dashboards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1A1A2E"/>
                </a:solidFill>
              </a:rPr>
              <a:t>Incident response: on-call, post-mortems, SLA reporting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1A1A2E"/>
                </a:solidFill>
              </a:rPr>
              <a:t>Security: SAST in pipelines, container image scanning, secret rotation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1A1A2E"/>
                </a:solidFill>
              </a:rPr>
              <a:t>Platform engineering: build internal developer platforms (IDPs)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4800600" y="1024128"/>
            <a:ext cx="4114800" cy="18288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6350">
            <a:solidFill>
              <a:srgbClr val="D1D9FF"/>
            </a:solidFill>
            <a:prstDash val="solid"/>
          </a:ln>
          <a:effectLst>
            <a:outerShdw sx="100000" sy="100000" kx="0" ky="0" algn="bl" rotWithShape="0" blurRad="101600" dist="25400" dir="2700000">
              <a:srgbClr val="000000">
                <a:alpha val="9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4965192" y="1115568"/>
            <a:ext cx="3767328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</a:rPr>
              <a:t>Key skills to develop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965192" y="1453896"/>
            <a:ext cx="3794760" cy="13167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1A1A2E"/>
                </a:solidFill>
              </a:rPr>
              <a:t>Azure DevOps or GitHub Actions — write YAML pipelines from scratch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1A1A2E"/>
                </a:solidFill>
              </a:rPr>
              <a:t>Kubernetes: kubectl, Helm charts, kustomize, ArgoCD (GitOps)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1A1A2E"/>
                </a:solidFill>
              </a:rPr>
              <a:t>Terraform or Bicep: provision Azure resources declaratively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1A1A2E"/>
                </a:solidFill>
              </a:rPr>
              <a:t>Docker: multi-stage builds, image optimisation, vulnerability scanning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1A1A2E"/>
                </a:solidFill>
              </a:rPr>
              <a:t>Bash / PowerShell scripting for automation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1A1A2E"/>
                </a:solidFill>
              </a:rPr>
              <a:t>Prometheus + Grafana or Datadog for observability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1A1A2E"/>
                </a:solidFill>
              </a:rPr>
              <a:t>Zero-downtime deployment strategies: blue-green, canary, rolling update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457200" y="2962656"/>
            <a:ext cx="4114800" cy="18288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6350">
            <a:solidFill>
              <a:srgbClr val="D1D9FF"/>
            </a:solidFill>
            <a:prstDash val="solid"/>
          </a:ln>
          <a:effectLst>
            <a:outerShdw sx="100000" sy="100000" kx="0" ky="0" algn="bl" rotWithShape="0" blurRad="101600" dist="25400" dir="2700000">
              <a:srgbClr val="000000">
                <a:alpha val="9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621792" y="3054096"/>
            <a:ext cx="3767328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</a:rPr>
              <a:t>Tools in the DevOps stack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621792" y="3392424"/>
            <a:ext cx="3794760" cy="13167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1A1A2E"/>
                </a:solidFill>
              </a:rPr>
              <a:t>Source: GitHub / Azure DevOps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1A1A2E"/>
                </a:solidFill>
              </a:rPr>
              <a:t>Registry: ACR (Azure Container Registry)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1A1A2E"/>
                </a:solidFill>
              </a:rPr>
              <a:t>Secrets: Key Vault + External Secrets Operator (K8s)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1A1A2E"/>
                </a:solidFill>
              </a:rPr>
              <a:t>Monitoring: App Insights + Log Analytics + Prometheus + Grafana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1A1A2E"/>
                </a:solidFill>
              </a:rPr>
              <a:t>IaC: Terraform Cloud + Azure Bicep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1A1A2E"/>
                </a:solidFill>
              </a:rPr>
              <a:t>Policy: Azure Policy + OPA/Gatekeeper (K8s)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1A1A2E"/>
                </a:solidFill>
              </a:rPr>
              <a:t>GitOps: ArgoCD / Flux — K8s state driven from Git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4800600" y="2962656"/>
            <a:ext cx="4114800" cy="18288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6350">
            <a:solidFill>
              <a:srgbClr val="D1D9FF"/>
            </a:solidFill>
            <a:prstDash val="solid"/>
          </a:ln>
          <a:effectLst>
            <a:outerShdw sx="100000" sy="100000" kx="0" ky="0" algn="bl" rotWithShape="0" blurRad="101600" dist="25400" dir="2700000">
              <a:srgbClr val="000000">
                <a:alpha val="9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4965192" y="3054096"/>
            <a:ext cx="3767328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</a:rPr>
              <a:t>How to get there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4965192" y="3392424"/>
            <a:ext cx="3794760" cy="13167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1A1A2E"/>
                </a:solidFill>
              </a:rPr>
              <a:t>Start: get AZ-204 (Azure Developer) then AZ-400 (DevOps Engineer Expert)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1A1A2E"/>
                </a:solidFill>
              </a:rPr>
              <a:t>Build a real pipeline: automate deployment of your portfolio project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1A1A2E"/>
                </a:solidFill>
              </a:rPr>
              <a:t>Learn Terraform: free tier on Terraform Cloud, deploy Azure resources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1A1A2E"/>
                </a:solidFill>
              </a:rPr>
              <a:t>Contribute to DevOps tooling at work — own the pipeline config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1A1A2E"/>
                </a:solidFill>
              </a:rPr>
              <a:t>Study: 'The Phoenix Project' (mindset), 'Kubernetes Up &amp; Running' (technical)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1A1A2E"/>
                </a:solidFill>
              </a:rPr>
              <a:t>Target: DevOps Engineer is typically 2-3 years from senior developer</a:t>
            </a:r>
            <a:endParaRPr lang="en-US" sz="10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D1B4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182880"/>
            <a:ext cx="1828800" cy="237744"/>
          </a:xfrm>
          <a:prstGeom prst="roundRect">
            <a:avLst>
              <a:gd name="adj" fmla="val 50000"/>
            </a:avLst>
          </a:prstGeom>
          <a:solidFill>
            <a:srgbClr val="F96167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"/>
            <a:ext cx="1828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CAREER PATHS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457200" y="438912"/>
            <a:ext cx="8412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Role: solutions architect</a:t>
            </a:r>
            <a:endParaRPr lang="en-US" sz="2100" dirty="0"/>
          </a:p>
        </p:txBody>
      </p:sp>
      <p:sp>
        <p:nvSpPr>
          <p:cNvPr id="5" name="Text 3"/>
          <p:cNvSpPr/>
          <p:nvPr/>
        </p:nvSpPr>
        <p:spPr>
          <a:xfrm>
            <a:off x="457200" y="877824"/>
            <a:ext cx="84124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ADCFC"/>
                </a:solidFill>
              </a:rPr>
              <a:t>A Solutions Architect owns the technical blueprint for a specific system or project. It is the most natural next step from senior developer.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457200" y="1024128"/>
            <a:ext cx="4114800" cy="1828800"/>
          </a:xfrm>
          <a:prstGeom prst="roundRect">
            <a:avLst>
              <a:gd name="adj" fmla="val 6000"/>
            </a:avLst>
          </a:prstGeom>
          <a:solidFill>
            <a:srgbClr val="1A2550"/>
          </a:solidFill>
          <a:ln w="6350">
            <a:solidFill>
              <a:srgbClr val="D1D9FF"/>
            </a:solidFill>
            <a:prstDash val="solid"/>
          </a:ln>
          <a:effectLst>
            <a:outerShdw sx="100000" sy="100000" kx="0" ky="0" algn="bl" rotWithShape="0" blurRad="101600" dist="25400" dir="2700000">
              <a:srgbClr val="000000">
                <a:alpha val="9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621792" y="1115568"/>
            <a:ext cx="3767328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ADCFC"/>
                </a:solidFill>
              </a:rPr>
              <a:t>Core responsibilities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621792" y="1453896"/>
            <a:ext cx="3794760" cy="13167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AABCEE"/>
                </a:solidFill>
              </a:rPr>
              <a:t>Translate business requirements into a technical design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AABCEE"/>
                </a:solidFill>
              </a:rPr>
              <a:t>Produce Architecture Decision Records (ADRs) for every major choice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AABCEE"/>
                </a:solidFill>
              </a:rPr>
              <a:t>Own the C4 model diagrams for your system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AABCEE"/>
                </a:solidFill>
              </a:rPr>
              <a:t>Lead technical discovery with stakeholders and vendors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AABCEE"/>
                </a:solidFill>
              </a:rPr>
              <a:t>Define integration contracts: API specs, event schemas, data models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AABCEE"/>
                </a:solidFill>
              </a:rPr>
              <a:t>Review code for architectural compliance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AABCEE"/>
                </a:solidFill>
              </a:rPr>
              <a:t>Present architecture to business stakeholders (non-technical)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4800600" y="1024128"/>
            <a:ext cx="4114800" cy="1828800"/>
          </a:xfrm>
          <a:prstGeom prst="roundRect">
            <a:avLst>
              <a:gd name="adj" fmla="val 6000"/>
            </a:avLst>
          </a:prstGeom>
          <a:solidFill>
            <a:srgbClr val="1A2550"/>
          </a:solidFill>
          <a:ln w="6350">
            <a:solidFill>
              <a:srgbClr val="D1D9FF"/>
            </a:solidFill>
            <a:prstDash val="solid"/>
          </a:ln>
          <a:effectLst>
            <a:outerShdw sx="100000" sy="100000" kx="0" ky="0" algn="bl" rotWithShape="0" blurRad="101600" dist="25400" dir="2700000">
              <a:srgbClr val="000000">
                <a:alpha val="9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4965192" y="1115568"/>
            <a:ext cx="3767328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ADCFC"/>
                </a:solidFill>
              </a:rPr>
              <a:t>What makes it different from senior dev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965192" y="1453896"/>
            <a:ext cx="3794760" cy="13167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AABCEE"/>
                </a:solidFill>
              </a:rPr>
              <a:t>You design the system before code is written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AABCEE"/>
                </a:solidFill>
              </a:rPr>
              <a:t>You must justify decisions in terms of cost, risk, and trade-offs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AABCEE"/>
                </a:solidFill>
              </a:rPr>
              <a:t>You communicate design to both technical and non-technical audiences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AABCEE"/>
                </a:solidFill>
              </a:rPr>
              <a:t>You own the non-functional requirements (latency, availability, scale)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AABCEE"/>
                </a:solidFill>
              </a:rPr>
              <a:t>You make decisions that will be lived with for years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AABCEE"/>
                </a:solidFill>
              </a:rPr>
              <a:t>You are accountable when architecture choices cause production problems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457200" y="2962656"/>
            <a:ext cx="4114800" cy="1828800"/>
          </a:xfrm>
          <a:prstGeom prst="roundRect">
            <a:avLst>
              <a:gd name="adj" fmla="val 6000"/>
            </a:avLst>
          </a:prstGeom>
          <a:solidFill>
            <a:srgbClr val="1A2550"/>
          </a:solidFill>
          <a:ln w="6350">
            <a:solidFill>
              <a:srgbClr val="D1D9FF"/>
            </a:solidFill>
            <a:prstDash val="solid"/>
          </a:ln>
          <a:effectLst>
            <a:outerShdw sx="100000" sy="100000" kx="0" ky="0" algn="bl" rotWithShape="0" blurRad="101600" dist="25400" dir="2700000">
              <a:srgbClr val="000000">
                <a:alpha val="9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621792" y="3054096"/>
            <a:ext cx="3767328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ADCFC"/>
                </a:solidFill>
              </a:rPr>
              <a:t>Technical depth required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621792" y="3392424"/>
            <a:ext cx="3794760" cy="13167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AABCEE"/>
                </a:solidFill>
              </a:rPr>
              <a:t>Deep expertise in 1-2 cloud platforms (Azure AZ-305 = Solutions Architect Expert)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AABCEE"/>
                </a:solidFill>
              </a:rPr>
              <a:t>System design: load balancing, caching, sharding, CAP theorem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AABCEE"/>
                </a:solidFill>
              </a:rPr>
              <a:t>Event-driven architecture: choreography vs orchestration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AABCEE"/>
                </a:solidFill>
              </a:rPr>
              <a:t>API design: REST, gRPC, GraphQL trade-offs per use case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AABCEE"/>
                </a:solidFill>
              </a:rPr>
              <a:t>Database selection: SQL vs document vs graph vs time-series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AABCEE"/>
                </a:solidFill>
              </a:rPr>
              <a:t>Networking: DNS, CDN, TLS, VPN, private endpoints in depth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AABCEE"/>
                </a:solidFill>
              </a:rPr>
              <a:t>Security architecture: threat modelling (STRIDE), zero-trust design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4800600" y="2962656"/>
            <a:ext cx="4114800" cy="1828800"/>
          </a:xfrm>
          <a:prstGeom prst="roundRect">
            <a:avLst>
              <a:gd name="adj" fmla="val 6000"/>
            </a:avLst>
          </a:prstGeom>
          <a:solidFill>
            <a:srgbClr val="1A2550"/>
          </a:solidFill>
          <a:ln w="6350">
            <a:solidFill>
              <a:srgbClr val="D1D9FF"/>
            </a:solidFill>
            <a:prstDash val="solid"/>
          </a:ln>
          <a:effectLst>
            <a:outerShdw sx="100000" sy="100000" kx="0" ky="0" algn="bl" rotWithShape="0" blurRad="101600" dist="25400" dir="2700000">
              <a:srgbClr val="000000">
                <a:alpha val="9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4965192" y="3054096"/>
            <a:ext cx="3767328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ADCFC"/>
                </a:solidFill>
              </a:rPr>
              <a:t>How to get there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4965192" y="3392424"/>
            <a:ext cx="3794760" cy="13167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AABCEE"/>
                </a:solidFill>
              </a:rPr>
              <a:t>Certifications: AZ-204 → AZ-305 (Azure Solutions Architect Expert)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AABCEE"/>
                </a:solidFill>
              </a:rPr>
              <a:t>Build a portfolio: design a real system end-to-end, document with C4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AABCEE"/>
                </a:solidFill>
              </a:rPr>
              <a:t>Study: 'Designing Data-Intensive Applications' (essential)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AABCEE"/>
                </a:solidFill>
              </a:rPr>
              <a:t>Practice system design interviews: Design Twitter, Design Uber, Design WhatsApp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AABCEE"/>
                </a:solidFill>
              </a:rPr>
              <a:t>Work with your current architect — shadow their decisions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AABCEE"/>
                </a:solidFill>
              </a:rPr>
              <a:t>Target: 5-7 years from first developer role; 2-3 years from senior developer</a:t>
            </a:r>
            <a:endParaRPr lang="en-US" sz="10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7F9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182880"/>
            <a:ext cx="1828800" cy="237744"/>
          </a:xfrm>
          <a:prstGeom prst="roundRect">
            <a:avLst>
              <a:gd name="adj" fmla="val 50000"/>
            </a:avLst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"/>
            <a:ext cx="1828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CAREER PATHS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457200" y="438912"/>
            <a:ext cx="8412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Role: enterprise architect</a:t>
            </a:r>
            <a:endParaRPr lang="en-US" sz="2100" dirty="0"/>
          </a:p>
        </p:txBody>
      </p:sp>
      <p:sp>
        <p:nvSpPr>
          <p:cNvPr id="5" name="Text 3"/>
          <p:cNvSpPr/>
          <p:nvPr/>
        </p:nvSpPr>
        <p:spPr>
          <a:xfrm>
            <a:off x="457200" y="877824"/>
            <a:ext cx="84124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Enterprise Architects operate at organisation level — aligning technology strategy with business strategy across all systems and teams.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457200" y="1024128"/>
            <a:ext cx="4114800" cy="18288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6350">
            <a:solidFill>
              <a:srgbClr val="D1D9FF"/>
            </a:solidFill>
            <a:prstDash val="solid"/>
          </a:ln>
          <a:effectLst>
            <a:outerShdw sx="100000" sy="100000" kx="0" ky="0" algn="bl" rotWithShape="0" blurRad="101600" dist="25400" dir="2700000">
              <a:srgbClr val="000000">
                <a:alpha val="9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621792" y="1115568"/>
            <a:ext cx="3767328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</a:rPr>
              <a:t>Core responsibilities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621792" y="1453896"/>
            <a:ext cx="3794760" cy="13167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1A1A2E"/>
                </a:solidFill>
              </a:rPr>
              <a:t>Define enterprise-wide technology standards and patterns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1A1A2E"/>
                </a:solidFill>
              </a:rPr>
              <a:t>Own the technology roadmap: 3-5 year horizon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1A1A2E"/>
                </a:solidFill>
              </a:rPr>
              <a:t>Govern vendor and platform selection (build vs buy decisions)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1A1A2E"/>
                </a:solidFill>
              </a:rPr>
              <a:t>Manage technical debt across the organisation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1A1A2E"/>
                </a:solidFill>
              </a:rPr>
              <a:t>Design integration architecture across all systems (APIs, events, data)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1A1A2E"/>
                </a:solidFill>
              </a:rPr>
              <a:t>Produce enterprise architecture models (TOGAF / ArchiMate)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1A1A2E"/>
                </a:solidFill>
              </a:rPr>
              <a:t>Advise C-suite (CTO, CIO) on technology investment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4800600" y="1024128"/>
            <a:ext cx="4114800" cy="18288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6350">
            <a:solidFill>
              <a:srgbClr val="D1D9FF"/>
            </a:solidFill>
            <a:prstDash val="solid"/>
          </a:ln>
          <a:effectLst>
            <a:outerShdw sx="100000" sy="100000" kx="0" ky="0" algn="bl" rotWithShape="0" blurRad="101600" dist="25400" dir="2700000">
              <a:srgbClr val="000000">
                <a:alpha val="9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4965192" y="1115568"/>
            <a:ext cx="3767328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</a:rPr>
              <a:t>EA frameworks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965192" y="1453896"/>
            <a:ext cx="3794760" cy="13167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1A1A2E"/>
                </a:solidFill>
              </a:rPr>
              <a:t>TOGAF (The Open Group Architecture Framework): most widely used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1A1A2E"/>
                </a:solidFill>
              </a:rPr>
              <a:t>ArchiMate: modelling language for EA (like UML but for enterprises)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1A1A2E"/>
                </a:solidFill>
              </a:rPr>
              <a:t>Zachman Framework: rows = stakeholder perspectives, cols = 5W+H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1A1A2E"/>
                </a:solidFill>
              </a:rPr>
              <a:t>EA layers: Business → Application → Data → Technology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1A1A2E"/>
                </a:solidFill>
              </a:rPr>
              <a:t>Viewpoints: stakeholder concerns drive which views you produce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1A1A2E"/>
                </a:solidFill>
              </a:rPr>
              <a:t>Domain-driven: bounded contexts map to business capabilities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1A1A2E"/>
                </a:solidFill>
              </a:rPr>
              <a:t>Two-speed IT: systems of record (stable) vs systems of engagement (fast)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457200" y="2962656"/>
            <a:ext cx="4114800" cy="18288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6350">
            <a:solidFill>
              <a:srgbClr val="D1D9FF"/>
            </a:solidFill>
            <a:prstDash val="solid"/>
          </a:ln>
          <a:effectLst>
            <a:outerShdw sx="100000" sy="100000" kx="0" ky="0" algn="bl" rotWithShape="0" blurRad="101600" dist="25400" dir="2700000">
              <a:srgbClr val="000000">
                <a:alpha val="9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621792" y="3054096"/>
            <a:ext cx="3767328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</a:rPr>
              <a:t>What separates EA from SA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621792" y="3392424"/>
            <a:ext cx="3794760" cy="13167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1A1A2E"/>
                </a:solidFill>
              </a:rPr>
              <a:t>SA: one system/project; EA: the whole organisation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1A1A2E"/>
                </a:solidFill>
              </a:rPr>
              <a:t>SA: months to years; EA: years to decades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1A1A2E"/>
                </a:solidFill>
              </a:rPr>
              <a:t>SA: works with developers; EA: works with business leaders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1A1A2E"/>
                </a:solidFill>
              </a:rPr>
              <a:t>SA: technical decisions; EA: business + technical + commercial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1A1A2E"/>
                </a:solidFill>
              </a:rPr>
              <a:t>SA: knows the code; EA: knows the business capabilities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1A1A2E"/>
                </a:solidFill>
              </a:rPr>
              <a:t>SA: owns one ADR; EA: owns the technology strategy document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1A1A2E"/>
                </a:solidFill>
              </a:rPr>
              <a:t>EA rarely writes code — influence without authority is the core skill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4800600" y="2962656"/>
            <a:ext cx="4114800" cy="18288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6350">
            <a:solidFill>
              <a:srgbClr val="D1D9FF"/>
            </a:solidFill>
            <a:prstDash val="solid"/>
          </a:ln>
          <a:effectLst>
            <a:outerShdw sx="100000" sy="100000" kx="0" ky="0" algn="bl" rotWithShape="0" blurRad="101600" dist="25400" dir="2700000">
              <a:srgbClr val="000000">
                <a:alpha val="9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4965192" y="3054096"/>
            <a:ext cx="3767328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</a:rPr>
              <a:t>How to get there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4965192" y="3392424"/>
            <a:ext cx="3794760" cy="13167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1A1A2E"/>
                </a:solidFill>
              </a:rPr>
              <a:t>Experience: 10+ years, having been a dev, SA, and tech lead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1A1A2E"/>
                </a:solidFill>
              </a:rPr>
              <a:t>Certifications: TOGAF 10 certification, AWS/Azure Solutions Architect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1A1A2E"/>
                </a:solidFill>
              </a:rPr>
              <a:t>Soft skills are as important as technical: communication, influence, politics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1A1A2E"/>
                </a:solidFill>
              </a:rPr>
              <a:t>Study: 'Enterprise Integration Patterns' (Hohpe), TOGAF study guide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1A1A2E"/>
                </a:solidFill>
              </a:rPr>
              <a:t>Understand the business: P&amp;L, strategy, org structure, vendor contracts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1A1A2E"/>
                </a:solidFill>
              </a:rPr>
              <a:t>Path: Senior Dev → Solutions Architect → Principal/Lead Architect → EA</a:t>
            </a:r>
            <a:endParaRPr lang="en-US" sz="10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0D1B4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182880"/>
            <a:ext cx="1828800" cy="237744"/>
          </a:xfrm>
          <a:prstGeom prst="roundRect">
            <a:avLst>
              <a:gd name="adj" fmla="val 50000"/>
            </a:avLst>
          </a:prstGeom>
          <a:solidFill>
            <a:srgbClr val="0D9488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"/>
            <a:ext cx="1828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INTENT ARCHITECT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457200" y="438912"/>
            <a:ext cx="8412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Intent Architect: what it is and why it matters</a:t>
            </a:r>
            <a:endParaRPr lang="en-US" sz="2100" dirty="0"/>
          </a:p>
        </p:txBody>
      </p:sp>
      <p:sp>
        <p:nvSpPr>
          <p:cNvPr id="5" name="Text 3"/>
          <p:cNvSpPr/>
          <p:nvPr/>
        </p:nvSpPr>
        <p:spPr>
          <a:xfrm>
            <a:off x="457200" y="877824"/>
            <a:ext cx="84124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ADCFC"/>
                </a:solidFill>
              </a:rPr>
              <a:t>The first architecture-centric AI code automation platform for .NET — used by DVT, TFG, African Bank, Capgemini, DP World.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457200" y="1005840"/>
            <a:ext cx="4114800" cy="3886200"/>
          </a:xfrm>
          <a:prstGeom prst="roundRect">
            <a:avLst>
              <a:gd name="adj" fmla="val 2824"/>
            </a:avLst>
          </a:prstGeom>
          <a:solidFill>
            <a:srgbClr val="1A2550"/>
          </a:solidFill>
          <a:ln w="6350">
            <a:solidFill>
              <a:srgbClr val="D1D9FF"/>
            </a:solidFill>
            <a:prstDash val="solid"/>
          </a:ln>
          <a:effectLst>
            <a:outerShdw sx="100000" sy="100000" kx="0" ky="0" algn="bl" rotWithShape="0" blurRad="101600" dist="25400" dir="2700000">
              <a:srgbClr val="000000">
                <a:alpha val="9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621792" y="1115568"/>
            <a:ext cx="376732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ADCFC"/>
                </a:solidFill>
              </a:rPr>
              <a:t>What Intent Architect does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621792" y="1426464"/>
            <a:ext cx="3794760" cy="3383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AABCEE"/>
                </a:solidFill>
              </a:rPr>
              <a:t>You define your system in visual design tools (living blueprints)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AABCEE"/>
                </a:solidFill>
              </a:rPr>
              <a:t>Architecture Enforcement Systems produce deterministic code from those blueprints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AABCEE"/>
                </a:solidFill>
              </a:rPr>
              <a:t>Every file generated conforms 100% to your chosen architecture pattern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AABCEE"/>
                </a:solidFill>
              </a:rPr>
              <a:t>When you change the design, IA regenerates the affected code automatically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AABCEE"/>
                </a:solidFill>
              </a:rPr>
              <a:t>AI agents (Claude, Copilot, etc.) execute within the guardrails IA enforces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AABCEE"/>
                </a:solidFill>
              </a:rPr>
              <a:t>Modules exist for: Clean Architecture, CQRS, EF Core, FastEndpoints, gRPC, React, Angular, and 100+ others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AABCEE"/>
                </a:solidFill>
              </a:rPr>
              <a:t>Result: 4x–10x faster development with zero architecture drift between developers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AABCEE"/>
                </a:solidFill>
              </a:rPr>
              <a:t>South African company: offices in Cape Town and Amsterdam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4773168" y="1005840"/>
            <a:ext cx="4114800" cy="1874520"/>
          </a:xfrm>
          <a:prstGeom prst="roundRect">
            <a:avLst>
              <a:gd name="adj" fmla="val 5854"/>
            </a:avLst>
          </a:prstGeom>
          <a:solidFill>
            <a:srgbClr val="1A2550"/>
          </a:solidFill>
          <a:ln w="6350">
            <a:solidFill>
              <a:srgbClr val="D1D9FF"/>
            </a:solidFill>
            <a:prstDash val="solid"/>
          </a:ln>
          <a:effectLst>
            <a:outerShdw sx="100000" sy="100000" kx="0" ky="0" algn="bl" rotWithShape="0" blurRad="101600" dist="25400" dir="2700000">
              <a:srgbClr val="000000">
                <a:alpha val="9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4937760" y="1115568"/>
            <a:ext cx="376732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ADCFC"/>
                </a:solidFill>
              </a:rPr>
              <a:t>The core problems it solves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937760" y="1426464"/>
            <a:ext cx="3794760" cy="1325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AABCEE"/>
                </a:solidFill>
              </a:rPr>
              <a:t>Boilerplate code: every new feature needs the same scaffolding — IA generates it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AABCEE"/>
                </a:solidFill>
              </a:rPr>
              <a:t>Architecture drift: different developers implement the same pattern differently — IA prevents it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AABCEE"/>
                </a:solidFill>
              </a:rPr>
              <a:t>Onboarding time: new dev takes months to learn patterns — IA reduces to days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AABCEE"/>
                </a:solidFill>
              </a:rPr>
              <a:t>Large-scale refactors: change architecture pattern → IA regenerates everything in one click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AABCEE"/>
                </a:solidFill>
              </a:rPr>
              <a:t>Code review overhead: checking for pattern compliance is eliminated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AABCEE"/>
                </a:solidFill>
              </a:rPr>
              <a:t>Context engineering for AI: IA provides structured context so AI agents code accurately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4773168" y="2944368"/>
            <a:ext cx="4114800" cy="1947672"/>
          </a:xfrm>
          <a:prstGeom prst="roundRect">
            <a:avLst>
              <a:gd name="adj" fmla="val 5634"/>
            </a:avLst>
          </a:prstGeom>
          <a:solidFill>
            <a:srgbClr val="1A2550"/>
          </a:solidFill>
          <a:ln w="6350">
            <a:solidFill>
              <a:srgbClr val="D1D9FF"/>
            </a:solidFill>
            <a:prstDash val="solid"/>
          </a:ln>
          <a:effectLst>
            <a:outerShdw sx="100000" sy="100000" kx="0" ky="0" algn="bl" rotWithShape="0" blurRad="101600" dist="25400" dir="2700000">
              <a:srgbClr val="000000">
                <a:alpha val="9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4937760" y="3054096"/>
            <a:ext cx="376732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ADCFC"/>
                </a:solidFill>
              </a:rPr>
              <a:t>Real customer results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4937760" y="3364992"/>
            <a:ext cx="3794760" cy="1435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AABCEE"/>
                </a:solidFill>
              </a:rPr>
              <a:t>Teljoy: 2 years of coding done in 6 months (4× speedup)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AABCEE"/>
                </a:solidFill>
              </a:rPr>
              <a:t>DVT: 90% of project time now spent on business logic (was 40%)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AABCEE"/>
                </a:solidFill>
              </a:rPr>
              <a:t>PSG: 100% consistency across 30+ microservices with one junior dev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AABCEE"/>
                </a:solidFill>
              </a:rPr>
              <a:t>Aryzac: 12-month rewrite done in 57 hours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AABCEE"/>
                </a:solidFill>
              </a:rPr>
              <a:t>TFG: 100% automated standard enforcement across 40+ applications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AABCEE"/>
                </a:solidFill>
              </a:rPr>
              <a:t>Senwes: 200 hours of dev work reduced to 24 hours</a:t>
            </a:r>
            <a:endParaRPr lang="en-US" sz="95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7F9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182880"/>
            <a:ext cx="1828800" cy="237744"/>
          </a:xfrm>
          <a:prstGeom prst="roundRect">
            <a:avLst>
              <a:gd name="adj" fmla="val 50000"/>
            </a:avLst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"/>
            <a:ext cx="1828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INTENT ARCHITECT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457200" y="438912"/>
            <a:ext cx="8412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Intent Architect works: modules, templates &amp; Roslyn</a:t>
            </a:r>
            <a:endParaRPr lang="en-US" sz="2100" dirty="0"/>
          </a:p>
        </p:txBody>
      </p:sp>
      <p:sp>
        <p:nvSpPr>
          <p:cNvPr id="5" name="Shape 3"/>
          <p:cNvSpPr/>
          <p:nvPr/>
        </p:nvSpPr>
        <p:spPr>
          <a:xfrm>
            <a:off x="457200" y="1005840"/>
            <a:ext cx="4114800" cy="3886200"/>
          </a:xfrm>
          <a:prstGeom prst="roundRect">
            <a:avLst>
              <a:gd name="adj" fmla="val 2824"/>
            </a:avLst>
          </a:prstGeom>
          <a:solidFill>
            <a:srgbClr val="FFFFFF"/>
          </a:solidFill>
          <a:ln w="6350">
            <a:solidFill>
              <a:srgbClr val="D1D9FF"/>
            </a:solidFill>
            <a:prstDash val="solid"/>
          </a:ln>
          <a:effectLst>
            <a:outerShdw sx="100000" sy="100000" kx="0" ky="0" algn="bl" rotWithShape="0" blurRad="101600" dist="25400" dir="2700000">
              <a:srgbClr val="000000">
                <a:alpha val="9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621792" y="1115568"/>
            <a:ext cx="376732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</a:rPr>
              <a:t>The technical architecture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621792" y="1426464"/>
            <a:ext cx="3794760" cy="3383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1A1A2E"/>
                </a:solidFill>
              </a:rPr>
              <a:t>Modules are NuGet packages containing code templates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1A1A2E"/>
                </a:solidFill>
              </a:rPr>
              <a:t>Templates are written in C# using IA's SDK — they describe what files to generate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1A1A2E"/>
                </a:solidFill>
              </a:rPr>
              <a:t>The IA designer captures your domain model: entities, services, events, repos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1A1A2E"/>
                </a:solidFill>
              </a:rPr>
              <a:t>When you apply a module, templates read your model and emit code files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1A1A2E"/>
                </a:solidFill>
              </a:rPr>
              <a:t>You can override any generated file — IA merges your changes on next generation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1A1A2E"/>
                </a:solidFill>
              </a:rPr>
              <a:t>Roslyn (C# compiler API) is used internally to analyse and transform code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1A1A2E"/>
                </a:solidFill>
              </a:rPr>
              <a:t>The output is normal .NET code — no lock-in, no runtime dependency on IA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1A1A2E"/>
                </a:solidFill>
              </a:rPr>
              <a:t>Module marketplace: 100+ community and official modules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4773168" y="1005840"/>
            <a:ext cx="4114800" cy="3886200"/>
          </a:xfrm>
          <a:prstGeom prst="roundRect">
            <a:avLst>
              <a:gd name="adj" fmla="val 2824"/>
            </a:avLst>
          </a:prstGeom>
          <a:solidFill>
            <a:srgbClr val="FFFFFF"/>
          </a:solidFill>
          <a:ln w="6350">
            <a:solidFill>
              <a:srgbClr val="D1D9FF"/>
            </a:solidFill>
            <a:prstDash val="solid"/>
          </a:ln>
          <a:effectLst>
            <a:outerShdw sx="100000" sy="100000" kx="0" ky="0" algn="bl" rotWithShape="0" blurRad="101600" dist="25400" dir="2700000">
              <a:srgbClr val="000000">
                <a:alpha val="9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4937760" y="1115568"/>
            <a:ext cx="376732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</a:rPr>
              <a:t>What you need to know to build modules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4937760" y="1426464"/>
            <a:ext cx="3794760" cy="3383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1A1A2E"/>
                </a:solidFill>
              </a:rPr>
              <a:t>Deep C# knowledge — templates are C# code that generates C# code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1A1A2E"/>
                </a:solidFill>
              </a:rPr>
              <a:t>Deep architecture knowledge — you must know the pattern before you can enforce it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1A1A2E"/>
                </a:solidFill>
              </a:rPr>
              <a:t>Roslyn / code analysis — understanding syntax trees, symbols, source generators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1A1A2E"/>
                </a:solidFill>
              </a:rPr>
              <a:t>T4 templates or Scriban templating (IA uses its own engine, similar concept)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1A1A2E"/>
                </a:solidFill>
              </a:rPr>
              <a:t>Understanding of what boilerplate looks like at scale (experience from projects)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1A1A2E"/>
                </a:solidFill>
              </a:rPr>
              <a:t>NuGet packaging — modules are distributed as NuGet packages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1A1A2E"/>
                </a:solidFill>
              </a:rPr>
              <a:t>Metaprogramming mindset: you write code that writes code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1A1A2E"/>
                </a:solidFill>
              </a:rPr>
              <a:t>Domain modelling: your templates must handle every valid combination of model choices</a:t>
            </a:r>
            <a:endParaRPr lang="en-US" sz="10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0D1B4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182880"/>
            <a:ext cx="1828800" cy="237744"/>
          </a:xfrm>
          <a:prstGeom prst="roundRect">
            <a:avLst>
              <a:gd name="adj" fmla="val 50000"/>
            </a:avLst>
          </a:prstGeom>
          <a:solidFill>
            <a:srgbClr val="F96167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"/>
            <a:ext cx="1828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TOOL BUILDER PATH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457200" y="438912"/>
            <a:ext cx="8412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to build tools like Intent Architect</a:t>
            </a:r>
            <a:endParaRPr lang="en-US" sz="2100" dirty="0"/>
          </a:p>
        </p:txBody>
      </p:sp>
      <p:sp>
        <p:nvSpPr>
          <p:cNvPr id="5" name="Text 3"/>
          <p:cNvSpPr/>
          <p:nvPr/>
        </p:nvSpPr>
        <p:spPr>
          <a:xfrm>
            <a:off x="457200" y="877824"/>
            <a:ext cx="84124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ADCFC"/>
                </a:solidFill>
              </a:rPr>
              <a:t>This is the pinnacle of the .NET craft — writing tools that other developers use to write better code.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457200" y="1024128"/>
            <a:ext cx="4114800" cy="1828800"/>
          </a:xfrm>
          <a:prstGeom prst="roundRect">
            <a:avLst>
              <a:gd name="adj" fmla="val 6000"/>
            </a:avLst>
          </a:prstGeom>
          <a:solidFill>
            <a:srgbClr val="1A2550"/>
          </a:solidFill>
          <a:ln w="6350">
            <a:solidFill>
              <a:srgbClr val="D1D9FF"/>
            </a:solidFill>
            <a:prstDash val="solid"/>
          </a:ln>
          <a:effectLst>
            <a:outerShdw sx="100000" sy="100000" kx="0" ky="0" algn="bl" rotWithShape="0" blurRad="101600" dist="25400" dir="2700000">
              <a:srgbClr val="000000">
                <a:alpha val="9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621792" y="1115568"/>
            <a:ext cx="3767328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ADCFC"/>
                </a:solidFill>
              </a:rPr>
              <a:t>Layer 1: master the foundations first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621792" y="1453896"/>
            <a:ext cx="3794760" cy="13167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AABCEE"/>
                </a:solidFill>
              </a:rPr>
              <a:t>You cannot build a code generation tool without deep knowledge of what it generates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AABCEE"/>
                </a:solidFill>
              </a:rPr>
              <a:t>Master C#: types, generics, reflection, expression trees, IL basics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AABCEE"/>
                </a:solidFill>
              </a:rPr>
              <a:t>Master architecture: clean arch, DDD, CQRS — all the patterns IA enforces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AABCEE"/>
                </a:solidFill>
              </a:rPr>
              <a:t>Master tooling: Roslyn (compiler APIs), source generators, T4/Scriban templates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AABCEE"/>
                </a:solidFill>
              </a:rPr>
              <a:t>Estimated time: 3-5 years of real project experience at senior level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4800600" y="1024128"/>
            <a:ext cx="4114800" cy="1828800"/>
          </a:xfrm>
          <a:prstGeom prst="roundRect">
            <a:avLst>
              <a:gd name="adj" fmla="val 6000"/>
            </a:avLst>
          </a:prstGeom>
          <a:solidFill>
            <a:srgbClr val="1A2550"/>
          </a:solidFill>
          <a:ln w="6350">
            <a:solidFill>
              <a:srgbClr val="D1D9FF"/>
            </a:solidFill>
            <a:prstDash val="solid"/>
          </a:ln>
          <a:effectLst>
            <a:outerShdw sx="100000" sy="100000" kx="0" ky="0" algn="bl" rotWithShape="0" blurRad="101600" dist="25400" dir="2700000">
              <a:srgbClr val="000000">
                <a:alpha val="9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4965192" y="1115568"/>
            <a:ext cx="3767328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ADCFC"/>
                </a:solidFill>
              </a:rPr>
              <a:t>Layer 2: learn metaprogramming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965192" y="1453896"/>
            <a:ext cx="3794760" cy="13167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AABCEE"/>
                </a:solidFill>
              </a:rPr>
              <a:t>Source generators: IIncrementalGenerator — run at compile time, generate .cs files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AABCEE"/>
                </a:solidFill>
              </a:rPr>
              <a:t>Roslyn: CSharpSyntaxTree, SyntaxFactory, SemanticModel, ISymbol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AABCEE"/>
                </a:solidFill>
              </a:rPr>
              <a:t>Reflection: Type, MethodInfo, PropertyInfo — analyse code at runtime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AABCEE"/>
                </a:solidFill>
              </a:rPr>
              <a:t>Expression trees: build LINQ-style APIs (EF Core does this internally)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AABCEE"/>
                </a:solidFill>
              </a:rPr>
              <a:t>Code analysis: Roslyn Analyzers — enforce rules with compiler warnings/errors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AABCEE"/>
                </a:solidFill>
              </a:rPr>
              <a:t>T4 / Scriban / Liquid templates: text template engines for code generation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457200" y="2962656"/>
            <a:ext cx="4114800" cy="1828800"/>
          </a:xfrm>
          <a:prstGeom prst="roundRect">
            <a:avLst>
              <a:gd name="adj" fmla="val 6000"/>
            </a:avLst>
          </a:prstGeom>
          <a:solidFill>
            <a:srgbClr val="1A2550"/>
          </a:solidFill>
          <a:ln w="6350">
            <a:solidFill>
              <a:srgbClr val="D1D9FF"/>
            </a:solidFill>
            <a:prstDash val="solid"/>
          </a:ln>
          <a:effectLst>
            <a:outerShdw sx="100000" sy="100000" kx="0" ky="0" algn="bl" rotWithShape="0" blurRad="101600" dist="25400" dir="2700000">
              <a:srgbClr val="000000">
                <a:alpha val="9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621792" y="3054096"/>
            <a:ext cx="3767328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ADCFC"/>
                </a:solidFill>
              </a:rPr>
              <a:t>Layer 3: build domain-specific tools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621792" y="3392424"/>
            <a:ext cx="3794760" cy="13167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AABCEE"/>
                </a:solidFill>
              </a:rPr>
              <a:t>CLI tools: System.CommandLine or Spectre.Console for rich terminal UIs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AABCEE"/>
                </a:solidFill>
              </a:rPr>
              <a:t>VS Code extensions: Language Server Protocol (LSP) for custom IDE support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AABCEE"/>
                </a:solidFill>
              </a:rPr>
              <a:t>Visual Studio extensions: VSIX packages, editor integrations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AABCEE"/>
                </a:solidFill>
              </a:rPr>
              <a:t>Electron / Avalonia / WPF for desktop GUI applications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AABCEE"/>
                </a:solidFill>
              </a:rPr>
              <a:t>Plugin systems: MEF (Managed Extensibility Framework) or custom NuGet-based loading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AABCEE"/>
                </a:solidFill>
              </a:rPr>
              <a:t>JSON/YAML schema design: your tool needs a domain model format (DSL)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4800600" y="2962656"/>
            <a:ext cx="4114800" cy="1828800"/>
          </a:xfrm>
          <a:prstGeom prst="roundRect">
            <a:avLst>
              <a:gd name="adj" fmla="val 6000"/>
            </a:avLst>
          </a:prstGeom>
          <a:solidFill>
            <a:srgbClr val="1A2550"/>
          </a:solidFill>
          <a:ln w="6350">
            <a:solidFill>
              <a:srgbClr val="D1D9FF"/>
            </a:solidFill>
            <a:prstDash val="solid"/>
          </a:ln>
          <a:effectLst>
            <a:outerShdw sx="100000" sy="100000" kx="0" ky="0" algn="bl" rotWithShape="0" blurRad="101600" dist="25400" dir="2700000">
              <a:srgbClr val="000000">
                <a:alpha val="9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4965192" y="3054096"/>
            <a:ext cx="3767328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ADCFC"/>
                </a:solidFill>
              </a:rPr>
              <a:t>The learning path to tool builder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4965192" y="3392424"/>
            <a:ext cx="3794760" cy="13167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AABCEE"/>
                </a:solidFill>
              </a:rPr>
              <a:t>Year 1-3: Senior .NET developer — master the fundamentals in production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AABCEE"/>
                </a:solidFill>
              </a:rPr>
              <a:t>Year 3-5: Solutions Architect — understand patterns deeply enough to enforce them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AABCEE"/>
                </a:solidFill>
              </a:rPr>
              <a:t>Year 5-7: Lead/Principal — build internal tools, Roslyn analyzers, source generators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AABCEE"/>
                </a:solidFill>
              </a:rPr>
              <a:t>Year 7+: Build your own platform — start small, solve a real pain point you have lived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AABCEE"/>
                </a:solidFill>
              </a:rPr>
              <a:t>Study: Intent Architect's open-source modules on GitHub, Roslyn docs, NDC/dotNext talks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AABCEE"/>
                </a:solidFill>
              </a:rPr>
              <a:t>Community: dotnet/roslyn GitHub, Nick Chapsas YouTube, dotnet.microsoft.com/learn</a:t>
            </a:r>
            <a:endParaRPr lang="en-US" sz="10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7F9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182880"/>
            <a:ext cx="1828800" cy="237744"/>
          </a:xfrm>
          <a:prstGeom prst="roundRect">
            <a:avLst>
              <a:gd name="adj" fmla="val 50000"/>
            </a:avLst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"/>
            <a:ext cx="1828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TOOL BUILDER PATH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457200" y="438912"/>
            <a:ext cx="8412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Roslyn &amp; source generators: writing code that writes code</a:t>
            </a:r>
            <a:endParaRPr lang="en-US" sz="2100" dirty="0"/>
          </a:p>
        </p:txBody>
      </p:sp>
      <p:sp>
        <p:nvSpPr>
          <p:cNvPr id="5" name="Shape 3"/>
          <p:cNvSpPr/>
          <p:nvPr/>
        </p:nvSpPr>
        <p:spPr>
          <a:xfrm>
            <a:off x="457200" y="1005840"/>
            <a:ext cx="5120640" cy="2011680"/>
          </a:xfrm>
          <a:prstGeom prst="roundRect">
            <a:avLst>
              <a:gd name="adj" fmla="val 5455"/>
            </a:avLst>
          </a:prstGeom>
          <a:solidFill>
            <a:srgbClr val="FFFFFF"/>
          </a:solidFill>
          <a:ln w="6350">
            <a:solidFill>
              <a:srgbClr val="D1D9FF"/>
            </a:solidFill>
            <a:prstDash val="solid"/>
          </a:ln>
          <a:effectLst>
            <a:outerShdw sx="100000" sy="100000" kx="0" ky="0" algn="bl" rotWithShape="0" blurRad="101600" dist="25400" dir="2700000">
              <a:srgbClr val="000000">
                <a:alpha val="9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621792" y="1115568"/>
            <a:ext cx="4754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</a:rPr>
              <a:t>Roslyn compiler pipeline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621792" y="1426464"/>
            <a:ext cx="4754880" cy="1371600"/>
          </a:xfrm>
          <a:prstGeom prst="roundRect">
            <a:avLst>
              <a:gd name="adj" fmla="val 5333"/>
            </a:avLst>
          </a:prstGeom>
          <a:solidFill>
            <a:srgbClr val="0A1628"/>
          </a:solidFill>
          <a:ln w="6350">
            <a:solidFill>
              <a:srgbClr val="334477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58952" y="1499616"/>
            <a:ext cx="448056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A8D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Roslyn: parse and analyse C# code
var tree = CSharpSyntaxTree.ParseText(sourceCode);
var root = tree.GetCompilationUnitRoot();
// Find all classes implementing IEntity
var entities = root.DescendantNodes()
  .OfType&lt;ClassDeclarationSyntax&gt;()
  .Where(c =&gt; c.BaseList?.Types.Any(t =&gt; t.ToString() == "IEntity") == true)
  .ToList();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457200" y="3090672"/>
            <a:ext cx="5120640" cy="1801368"/>
          </a:xfrm>
          <a:prstGeom prst="roundRect">
            <a:avLst>
              <a:gd name="adj" fmla="val 6091"/>
            </a:avLst>
          </a:prstGeom>
          <a:solidFill>
            <a:srgbClr val="FFFFFF"/>
          </a:solidFill>
          <a:ln w="6350">
            <a:solidFill>
              <a:srgbClr val="D1D9FF"/>
            </a:solidFill>
            <a:prstDash val="solid"/>
          </a:ln>
          <a:effectLst>
            <a:outerShdw sx="100000" sy="100000" kx="0" ky="0" algn="bl" rotWithShape="0" blurRad="101600" dist="25400" dir="2700000">
              <a:srgbClr val="000000">
                <a:alpha val="9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621792" y="3200400"/>
            <a:ext cx="4754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</a:rPr>
              <a:t>Incremental source generator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621792" y="3511296"/>
            <a:ext cx="4754880" cy="1261872"/>
          </a:xfrm>
          <a:prstGeom prst="roundRect">
            <a:avLst>
              <a:gd name="adj" fmla="val 5797"/>
            </a:avLst>
          </a:prstGeom>
          <a:solidFill>
            <a:srgbClr val="0A1628"/>
          </a:solidFill>
          <a:ln w="6350">
            <a:solidFill>
              <a:srgbClr val="334477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58952" y="3584448"/>
            <a:ext cx="4480560" cy="11704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A8D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[Generator]
public class EntityGenerator : IIncrementalGenerator {
  public void Initialize(IncrementalGeneratorInitializationContext ctx) {
    var entities = ctx.SyntaxProvider.CreateSyntaxProvider(
      predicate: (node, _) =&gt; node is ClassDeclarationSyntax,
      transform: (ctx, _) =&gt; GetEntityInfo(ctx)
    ).Where(e =&gt; e != null);
    ctx.RegisterSourceOutput(entities, (spc, entity) =&gt; {
      var code = GenerateRepositoryCode(entity!);
      spc.AddSource($"{entity!.Name}Repository.g.cs", code);
    });
  }
}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5742432" y="1005840"/>
            <a:ext cx="3154680" cy="3886200"/>
          </a:xfrm>
          <a:prstGeom prst="roundRect">
            <a:avLst>
              <a:gd name="adj" fmla="val 3478"/>
            </a:avLst>
          </a:prstGeom>
          <a:solidFill>
            <a:srgbClr val="FFFFFF"/>
          </a:solidFill>
          <a:ln w="6350">
            <a:solidFill>
              <a:srgbClr val="D1D9FF"/>
            </a:solidFill>
            <a:prstDash val="solid"/>
          </a:ln>
          <a:effectLst>
            <a:outerShdw sx="100000" sy="100000" kx="0" ky="0" algn="bl" rotWithShape="0" blurRad="101600" dist="25400" dir="2700000">
              <a:srgbClr val="000000">
                <a:alpha val="9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5897880" y="1115568"/>
            <a:ext cx="2834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</a:rPr>
              <a:t>When to use each tool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5897880" y="1426464"/>
            <a:ext cx="2834640" cy="3383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1A1A2E"/>
                </a:solidFill>
              </a:rPr>
              <a:t>Source generator: generate code at compile time with full type safety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1A1A2E"/>
                </a:solidFill>
              </a:rPr>
              <a:t>T4 template: generate files outside compile pipeline (config, docs, SQL)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1A1A2E"/>
                </a:solidFill>
              </a:rPr>
              <a:t>Roslyn analyser: enforce rules as compiler warnings/errors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1A1A2E"/>
                </a:solidFill>
              </a:rPr>
              <a:t>Reflection: inspect types at runtime (plugin systems, ORMs)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1A1A2E"/>
                </a:solidFill>
              </a:rPr>
              <a:t>Expression trees: build APIs that translate to SQL/other languages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1A1A2E"/>
                </a:solidFill>
              </a:rPr>
              <a:t>CLI + file writing: scaffolding tools (like dotnet new templates)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1A1A2E"/>
                </a:solidFill>
              </a:rPr>
              <a:t>dotnet new templates: custom project/item templates for teams</a:t>
            </a:r>
            <a:endParaRPr lang="en-US" sz="95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7F9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182880"/>
            <a:ext cx="1828800" cy="237744"/>
          </a:xfrm>
          <a:prstGeom prst="roundRect">
            <a:avLst>
              <a:gd name="adj" fmla="val 50000"/>
            </a:avLst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"/>
            <a:ext cx="1828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PRODUCTION READINESS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457200" y="438912"/>
            <a:ext cx="8412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Observability, resilience &amp; production-ready .NET</a:t>
            </a:r>
            <a:endParaRPr lang="en-US" sz="2100" dirty="0"/>
          </a:p>
        </p:txBody>
      </p:sp>
      <p:sp>
        <p:nvSpPr>
          <p:cNvPr id="5" name="Shape 3"/>
          <p:cNvSpPr/>
          <p:nvPr/>
        </p:nvSpPr>
        <p:spPr>
          <a:xfrm>
            <a:off x="457200" y="1024128"/>
            <a:ext cx="4114800" cy="18288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6350">
            <a:solidFill>
              <a:srgbClr val="D1D9FF"/>
            </a:solidFill>
            <a:prstDash val="solid"/>
          </a:ln>
          <a:effectLst>
            <a:outerShdw sx="100000" sy="100000" kx="0" ky="0" algn="bl" rotWithShape="0" blurRad="101600" dist="25400" dir="2700000">
              <a:srgbClr val="000000">
                <a:alpha val="9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621792" y="1115568"/>
            <a:ext cx="3767328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</a:rPr>
              <a:t>Structured logging with Serilog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621792" y="1453896"/>
            <a:ext cx="3794760" cy="13167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1A1A2E"/>
                </a:solidFill>
              </a:rPr>
              <a:t>Install: Serilog.AspNetCore + Serilog.Sinks.ApplicationInsights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1A1A2E"/>
                </a:solidFill>
              </a:rPr>
              <a:t>_logger.LogInformation("Order {OrderId} placed by {CustomerId}", id, custId)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1A1A2E"/>
                </a:solidFill>
              </a:rPr>
              <a:t>Semantic properties enable queries in Log Analytics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1A1A2E"/>
                </a:solidFill>
              </a:rPr>
              <a:t>LogContext.PushProperty() for ambient properties (tenantId, requestId)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1A1A2E"/>
                </a:solidFill>
              </a:rPr>
              <a:t>Log levels: Trace &lt; Debug &lt; Information &lt; Warning &lt; Error &lt; Critical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1A1A2E"/>
                </a:solidFill>
              </a:rPr>
              <a:t>Never log passwords, PII, or full JWT tokens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4800600" y="1024128"/>
            <a:ext cx="4114800" cy="18288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6350">
            <a:solidFill>
              <a:srgbClr val="D1D9FF"/>
            </a:solidFill>
            <a:prstDash val="solid"/>
          </a:ln>
          <a:effectLst>
            <a:outerShdw sx="100000" sy="100000" kx="0" ky="0" algn="bl" rotWithShape="0" blurRad="101600" dist="25400" dir="2700000">
              <a:srgbClr val="000000">
                <a:alpha val="9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4965192" y="1115568"/>
            <a:ext cx="3767328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</a:rPr>
              <a:t>Distributed tracing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4965192" y="1453896"/>
            <a:ext cx="3794760" cy="13167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1A1A2E"/>
                </a:solidFill>
              </a:rPr>
              <a:t>Activity API (OpenTelemetry): automatic for HttpClient, EF Core, Service Bus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1A1A2E"/>
                </a:solidFill>
              </a:rPr>
              <a:t>Propagated via W3C traceparent header across service boundaries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1A1A2E"/>
                </a:solidFill>
              </a:rPr>
              <a:t>App Insights: end-to-end transaction map across all services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1A1A2E"/>
                </a:solidFill>
              </a:rPr>
              <a:t>Correlation ID: inject into all log messages for a request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1A1A2E"/>
                </a:solidFill>
              </a:rPr>
              <a:t>Custom spans: using var activity = ActivitySource.StartActivity("ProcessOrder")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1A1A2E"/>
                </a:solidFill>
              </a:rPr>
              <a:t>Export to: App Insights, Jaeger, Zipkin, OTLP endpoint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457200" y="2962656"/>
            <a:ext cx="4114800" cy="18288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6350">
            <a:solidFill>
              <a:srgbClr val="D1D9FF"/>
            </a:solidFill>
            <a:prstDash val="solid"/>
          </a:ln>
          <a:effectLst>
            <a:outerShdw sx="100000" sy="100000" kx="0" ky="0" algn="bl" rotWithShape="0" blurRad="101600" dist="25400" dir="2700000">
              <a:srgbClr val="000000">
                <a:alpha val="9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621792" y="3054096"/>
            <a:ext cx="3767328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</a:rPr>
              <a:t>Resilience with Polly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621792" y="3392424"/>
            <a:ext cx="3794760" cy="13167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1A1A2E"/>
                </a:solidFill>
              </a:rPr>
              <a:t>Retry: HttpStatusCode.ServiceUnavailable with exponential backoff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1A1A2E"/>
                </a:solidFill>
              </a:rPr>
              <a:t>Circuit breaker: after 5 failures, open circuit for 30 seconds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1A1A2E"/>
                </a:solidFill>
              </a:rPr>
              <a:t>Timeout: fail fast after 2 seconds instead of hanging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1A1A2E"/>
                </a:solidFill>
              </a:rPr>
              <a:t>Bulkhead: limit concurrent calls to downstream service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1A1A2E"/>
                </a:solidFill>
              </a:rPr>
              <a:t>Hedge: send duplicate request if first is slow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1A1A2E"/>
                </a:solidFill>
              </a:rPr>
              <a:t>services.AddResiliencePipeline("orders", builder =&gt; { builder.AddRetry(); builder.AddCircuitBreaker(); builder.AddTimeout(); })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800600" y="2962656"/>
            <a:ext cx="4114800" cy="18288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6350">
            <a:solidFill>
              <a:srgbClr val="D1D9FF"/>
            </a:solidFill>
            <a:prstDash val="solid"/>
          </a:ln>
          <a:effectLst>
            <a:outerShdw sx="100000" sy="100000" kx="0" ky="0" algn="bl" rotWithShape="0" blurRad="101600" dist="25400" dir="2700000">
              <a:srgbClr val="000000">
                <a:alpha val="9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4965192" y="3054096"/>
            <a:ext cx="3767328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</a:rPr>
              <a:t>Health checks &amp; metrics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4965192" y="3392424"/>
            <a:ext cx="3794760" cy="13167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1A1A2E"/>
                </a:solidFill>
              </a:rPr>
              <a:t>app.MapHealthChecks("/health") — readiness + liveness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1A1A2E"/>
                </a:solidFill>
              </a:rPr>
              <a:t>AddDbContextCheck(), AddAzureServiceBusTopicCheck()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1A1A2E"/>
                </a:solidFill>
              </a:rPr>
              <a:t>/health/ready: can the app serve requests? (DB available? Cache up?)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1A1A2E"/>
                </a:solidFill>
              </a:rPr>
              <a:t>Prometheus: expose /metrics — request count, latency histograms, error rates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1A1A2E"/>
                </a:solidFill>
              </a:rPr>
              <a:t>Custom metric: Meter.CreateCounter&lt;long&gt;("orders.placed")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1A1A2E"/>
                </a:solidFill>
              </a:rPr>
              <a:t>Alert on: p99 latency &gt; 2s, error rate &gt; 1%, disk &gt; 80%</a:t>
            </a:r>
            <a:endParaRPr lang="en-US" sz="10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0D1B4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182880"/>
            <a:ext cx="1828800" cy="237744"/>
          </a:xfrm>
          <a:prstGeom prst="roundRect">
            <a:avLst>
              <a:gd name="adj" fmla="val 50000"/>
            </a:avLst>
          </a:prstGeom>
          <a:solidFill>
            <a:srgbClr val="F39C12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"/>
            <a:ext cx="1828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PERFORMANCE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457200" y="438912"/>
            <a:ext cx="8412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Performance engineering &amp; advanced async patterns in .NET</a:t>
            </a:r>
            <a:endParaRPr lang="en-US" sz="2100" dirty="0"/>
          </a:p>
        </p:txBody>
      </p:sp>
      <p:sp>
        <p:nvSpPr>
          <p:cNvPr id="5" name="Text 3"/>
          <p:cNvSpPr/>
          <p:nvPr/>
        </p:nvSpPr>
        <p:spPr>
          <a:xfrm>
            <a:off x="457200" y="877824"/>
            <a:ext cx="84124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ADCFC"/>
                </a:solidFill>
              </a:rPr>
              <a:t>Performance is not about guessing. Measure first, optimise second.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457200" y="1005840"/>
            <a:ext cx="4114800" cy="3886200"/>
          </a:xfrm>
          <a:prstGeom prst="roundRect">
            <a:avLst>
              <a:gd name="adj" fmla="val 2824"/>
            </a:avLst>
          </a:prstGeom>
          <a:solidFill>
            <a:srgbClr val="1A2550"/>
          </a:solidFill>
          <a:ln w="6350">
            <a:solidFill>
              <a:srgbClr val="D1D9FF"/>
            </a:solidFill>
            <a:prstDash val="solid"/>
          </a:ln>
          <a:effectLst>
            <a:outerShdw sx="100000" sy="100000" kx="0" ky="0" algn="bl" rotWithShape="0" blurRad="101600" dist="25400" dir="2700000">
              <a:srgbClr val="000000">
                <a:alpha val="9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621792" y="1115568"/>
            <a:ext cx="376732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ADCFC"/>
                </a:solidFill>
              </a:rPr>
              <a:t>Memory &amp; allocation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621792" y="1426464"/>
            <a:ext cx="379476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AABCEE"/>
                </a:solidFill>
              </a:rPr>
              <a:t>Span&lt;T&gt; and Memory&lt;T&gt;: slice arrays without allocation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AABCEE"/>
                </a:solidFill>
              </a:rPr>
              <a:t>ArrayPool&lt;T&gt;.Shared.Rent() for temporary buffers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AABCEE"/>
                </a:solidFill>
              </a:rPr>
              <a:t>Record structs for value types with equality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AABCEE"/>
                </a:solidFill>
              </a:rPr>
              <a:t>Avoid boxing: int → object creates heap allocation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AABCEE"/>
                </a:solidFill>
              </a:rPr>
              <a:t>IMemoryOwner&lt;T&gt; for pooled memory ownership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AABCEE"/>
                </a:solidFill>
              </a:rPr>
              <a:t>BenchmarkDotNet: measure before optimising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AABCEE"/>
                </a:solidFill>
              </a:rPr>
              <a:t>dotnet-counters: live memory, GC, thread pool metrics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621792" y="3474720"/>
            <a:ext cx="3767328" cy="1325880"/>
          </a:xfrm>
          <a:prstGeom prst="roundRect">
            <a:avLst>
              <a:gd name="adj" fmla="val 5517"/>
            </a:avLst>
          </a:prstGeom>
          <a:solidFill>
            <a:srgbClr val="0A1628"/>
          </a:solidFill>
          <a:ln w="6350">
            <a:solidFill>
              <a:srgbClr val="334477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58952" y="3547872"/>
            <a:ext cx="3493008" cy="1234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A8D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Zero-allocation string parsing
ReadOnlySpan&lt;char&gt; span = input.AsSpan();
int commaIdx = span.IndexOf(',');
var firstName = span[..commaIdx].ToString();
var lastName  = span[(commaIdx+1)..].ToString();
// Channel: high-perf producer/consumer
var channel = Channel.CreateBounded&lt;Order&gt;(1000);
await channel.Writer.WriteAsync(order);
await foreach (var o in channel.Reader.ReadAllAsync(ct)) { }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4773168" y="1005840"/>
            <a:ext cx="4114800" cy="3886200"/>
          </a:xfrm>
          <a:prstGeom prst="roundRect">
            <a:avLst>
              <a:gd name="adj" fmla="val 2824"/>
            </a:avLst>
          </a:prstGeom>
          <a:solidFill>
            <a:srgbClr val="1A2550"/>
          </a:solidFill>
          <a:ln w="6350">
            <a:solidFill>
              <a:srgbClr val="D1D9FF"/>
            </a:solidFill>
            <a:prstDash val="solid"/>
          </a:ln>
          <a:effectLst>
            <a:outerShdw sx="100000" sy="100000" kx="0" ky="0" algn="bl" rotWithShape="0" blurRad="101600" dist="25400" dir="2700000">
              <a:srgbClr val="000000">
                <a:alpha val="9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4937760" y="1115568"/>
            <a:ext cx="376732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ADCFC"/>
                </a:solidFill>
              </a:rPr>
              <a:t>Advanced async &amp; concurrency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4937760" y="1426464"/>
            <a:ext cx="379476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AABCEE"/>
                </a:solidFill>
              </a:rPr>
              <a:t>Task.WhenAll: run multiple async ops in parallel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AABCEE"/>
                </a:solidFill>
              </a:rPr>
              <a:t>Task.WhenAny: first to complete wins (hedging)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AABCEE"/>
                </a:solidFill>
              </a:rPr>
              <a:t>SemaphoreSlim(n): limit concurrent async operations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AABCEE"/>
                </a:solidFill>
              </a:rPr>
              <a:t>IAsyncEnumerable&lt;T&gt;: stream results from DB/API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AABCEE"/>
                </a:solidFill>
              </a:rPr>
              <a:t>Channel&lt;T&gt;: producer/consumer without locking overhead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AABCEE"/>
                </a:solidFill>
              </a:rPr>
              <a:t>Parallel.ForEachAsync: bounded parallelism for CPU work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AABCEE"/>
                </a:solidFill>
              </a:rPr>
              <a:t>ValueTask&lt;T&gt;: avoids Task allocation for hot-path synchronous cases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4937760" y="3474720"/>
            <a:ext cx="3767328" cy="1325880"/>
          </a:xfrm>
          <a:prstGeom prst="roundRect">
            <a:avLst>
              <a:gd name="adj" fmla="val 5517"/>
            </a:avLst>
          </a:prstGeom>
          <a:solidFill>
            <a:srgbClr val="0A1628"/>
          </a:solidFill>
          <a:ln w="6350">
            <a:solidFill>
              <a:srgbClr val="334477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074920" y="3547872"/>
            <a:ext cx="3493008" cy="1234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A8D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Run 3 tasks in parallel, all must succeed
var (orders, customers, products) = await (
  _orderSvc.GetAllAsync(ct),
  _customerSvc.GetAllAsync(ct),
  _productSvc.GetAllAsync(ct)
).WhenAll();
// Stream large dataset
await foreach (var row in _repo.StreamOrdersAsync(filter, ct))
  await ProcessAsync(row, ct);</a:t>
            </a:r>
            <a:endParaRPr lang="en-US" sz="9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7F9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182880"/>
            <a:ext cx="1828800" cy="237744"/>
          </a:xfrm>
          <a:prstGeom prst="roundRect">
            <a:avLst>
              <a:gd name="adj" fmla="val 50000"/>
            </a:avLst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"/>
            <a:ext cx="1828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TESTING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457200" y="438912"/>
            <a:ext cx="8412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Testing strategy: unit, integration &amp; architecture tests</a:t>
            </a:r>
            <a:endParaRPr lang="en-US" sz="2100" dirty="0"/>
          </a:p>
        </p:txBody>
      </p:sp>
      <p:sp>
        <p:nvSpPr>
          <p:cNvPr id="5" name="Shape 3"/>
          <p:cNvSpPr/>
          <p:nvPr/>
        </p:nvSpPr>
        <p:spPr>
          <a:xfrm>
            <a:off x="457200" y="1005840"/>
            <a:ext cx="4114800" cy="3886200"/>
          </a:xfrm>
          <a:prstGeom prst="roundRect">
            <a:avLst>
              <a:gd name="adj" fmla="val 2824"/>
            </a:avLst>
          </a:prstGeom>
          <a:solidFill>
            <a:srgbClr val="FFFFFF"/>
          </a:solidFill>
          <a:ln w="6350">
            <a:solidFill>
              <a:srgbClr val="D1D9FF"/>
            </a:solidFill>
            <a:prstDash val="solid"/>
          </a:ln>
          <a:effectLst>
            <a:outerShdw sx="100000" sy="100000" kx="0" ky="0" algn="bl" rotWithShape="0" blurRad="101600" dist="25400" dir="2700000">
              <a:srgbClr val="000000">
                <a:alpha val="9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621792" y="1115568"/>
            <a:ext cx="376732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</a:rPr>
              <a:t>Unit testing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621792" y="1426464"/>
            <a:ext cx="3767328" cy="1444752"/>
          </a:xfrm>
          <a:prstGeom prst="roundRect">
            <a:avLst>
              <a:gd name="adj" fmla="val 5063"/>
            </a:avLst>
          </a:prstGeom>
          <a:solidFill>
            <a:srgbClr val="0A1628"/>
          </a:solidFill>
          <a:ln w="6350">
            <a:solidFill>
              <a:srgbClr val="334477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58952" y="1499616"/>
            <a:ext cx="3493008" cy="13533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A8D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xUnit + FluentAssertions + NSubstitute
public class CreateOrderHandlerTests
{
  [Fact]
  public async Task Handle_ValidCommand_CreatesOrder()
  {
    var repo = Substitute.For&lt;IOrderRepository&gt;();
    var uow  = Substitute.For&lt;IUnitOfWork&gt;();
    var handler = new CreateOrderHandler(repo, uow);
    var cmd = new CreateOrderCommand(CustomerId: 1, Items: [...]);
    var result = await handler.Handle(cmd, CancellationToken.None);
    result.IsSuccess.Should().BeTrue();
    await repo.Received(1).AddAsync(Arg.Any&lt;Order&gt;(), Arg.Any&lt;CancellationToken&gt;());
  }
}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621792" y="2907792"/>
            <a:ext cx="376732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</a:rPr>
              <a:t>Integration testing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621792" y="3218688"/>
            <a:ext cx="3767328" cy="1545336"/>
          </a:xfrm>
          <a:prstGeom prst="roundRect">
            <a:avLst>
              <a:gd name="adj" fmla="val 4734"/>
            </a:avLst>
          </a:prstGeom>
          <a:solidFill>
            <a:srgbClr val="0A1628"/>
          </a:solidFill>
          <a:ln w="6350">
            <a:solidFill>
              <a:srgbClr val="33447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58952" y="3291840"/>
            <a:ext cx="3493008" cy="145389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A8D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WebApplicationFactory + Testcontainers
public class OrdersApiTests(WebApplicationFactory&lt;Program&gt; factory)
  : IClassFixture&lt;WebApplicationFactory&lt;Program&gt;&gt;
{
  [Fact]
  public async Task POST_Order_Returns201()
  {
    var client = factory.CreateClient();
    var response = await client.PostAsJsonAsync("/api/orders",
      new { CustomerId = 1, Items = [...] });
    response.StatusCode.Should().Be(HttpStatusCode.Created);
  }
}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4773168" y="1005840"/>
            <a:ext cx="4114800" cy="3886200"/>
          </a:xfrm>
          <a:prstGeom prst="roundRect">
            <a:avLst>
              <a:gd name="adj" fmla="val 2824"/>
            </a:avLst>
          </a:prstGeom>
          <a:solidFill>
            <a:srgbClr val="FFFFFF"/>
          </a:solidFill>
          <a:ln w="6350">
            <a:solidFill>
              <a:srgbClr val="D1D9FF"/>
            </a:solidFill>
            <a:prstDash val="solid"/>
          </a:ln>
          <a:effectLst>
            <a:outerShdw sx="100000" sy="100000" kx="0" ky="0" algn="bl" rotWithShape="0" blurRad="101600" dist="25400" dir="2700000">
              <a:srgbClr val="000000">
                <a:alpha val="9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4937760" y="1115568"/>
            <a:ext cx="376732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</a:rPr>
              <a:t>Architecture tests (NetArchTest)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4937760" y="1426464"/>
            <a:ext cx="3767328" cy="1444752"/>
          </a:xfrm>
          <a:prstGeom prst="roundRect">
            <a:avLst>
              <a:gd name="adj" fmla="val 5063"/>
            </a:avLst>
          </a:prstGeom>
          <a:solidFill>
            <a:srgbClr val="0A1628"/>
          </a:solidFill>
          <a:ln w="6350">
            <a:solidFill>
              <a:srgbClr val="334477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074920" y="1499616"/>
            <a:ext cx="3493008" cy="13533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A8D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Enforce that Domain never references Infrastructure
[Fact]
public void Domain_Should_Not_Reference_Infrastructure()
{
  Types.InAssembly(DomainAssembly)
    .ShouldNot()
    .HaveDependencyOn("MyApp.Infrastructure")
    .GetResult()
    .IsSuccessful
    .Should().BeTrue();
}
// Also enforce: no public constructors on entities,
// all handlers in Application layer, etc.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4937760" y="2907792"/>
            <a:ext cx="376732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</a:rPr>
              <a:t>Testing pyramid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4937760" y="3218688"/>
            <a:ext cx="3794760" cy="1581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1A1A2E"/>
                </a:solidFill>
              </a:rPr>
              <a:t>Unit tests: 70% — fast, isolated, mock everything external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1A1A2E"/>
                </a:solidFill>
              </a:rPr>
              <a:t>Integration tests: 20% — real DB (Testcontainers), real HTTP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1A1A2E"/>
                </a:solidFill>
              </a:rPr>
              <a:t>E2E / contract tests: 10% — full system, slow, run in CI only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1A1A2E"/>
                </a:solidFill>
              </a:rPr>
              <a:t>Architecture tests: run in CI, zero maintenance cost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1A1A2E"/>
                </a:solidFill>
              </a:rPr>
              <a:t>Mutation testing (Stryker.NET): verify tests actually catch bugs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1A1A2E"/>
                </a:solidFill>
              </a:rPr>
              <a:t>Test coverage target: 80% line coverage as gate, not goal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1A1A2E"/>
                </a:solidFill>
              </a:rPr>
              <a:t>Test naming: MethodName_Scenario_ExpectedBehaviour</a:t>
            </a:r>
            <a:endParaRPr lang="en-US" sz="95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0D1B4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182880"/>
            <a:ext cx="1828800" cy="237744"/>
          </a:xfrm>
          <a:prstGeom prst="roundRect">
            <a:avLst>
              <a:gd name="adj" fmla="val 50000"/>
            </a:avLst>
          </a:prstGeom>
          <a:solidFill>
            <a:srgbClr val="0D9488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"/>
            <a:ext cx="1828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API DESIGN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457200" y="438912"/>
            <a:ext cx="8412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API design: REST, minimal APIs, versioning &amp; OpenAPI</a:t>
            </a:r>
            <a:endParaRPr lang="en-US" sz="2100" dirty="0"/>
          </a:p>
        </p:txBody>
      </p:sp>
      <p:sp>
        <p:nvSpPr>
          <p:cNvPr id="5" name="Text 3"/>
          <p:cNvSpPr/>
          <p:nvPr/>
        </p:nvSpPr>
        <p:spPr>
          <a:xfrm>
            <a:off x="457200" y="877824"/>
            <a:ext cx="84124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ADCFC"/>
                </a:solidFill>
              </a:rPr>
              <a:t>Good API design is a contract with your consumers. Breaking it costs trust.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457200" y="1005840"/>
            <a:ext cx="4114800" cy="3886200"/>
          </a:xfrm>
          <a:prstGeom prst="roundRect">
            <a:avLst>
              <a:gd name="adj" fmla="val 2824"/>
            </a:avLst>
          </a:prstGeom>
          <a:solidFill>
            <a:srgbClr val="1A2550"/>
          </a:solidFill>
          <a:ln w="6350">
            <a:solidFill>
              <a:srgbClr val="D1D9FF"/>
            </a:solidFill>
            <a:prstDash val="solid"/>
          </a:ln>
          <a:effectLst>
            <a:outerShdw sx="100000" sy="100000" kx="0" ky="0" algn="bl" rotWithShape="0" blurRad="101600" dist="25400" dir="2700000">
              <a:srgbClr val="000000">
                <a:alpha val="9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621792" y="1115568"/>
            <a:ext cx="376732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ADCFC"/>
                </a:solidFill>
              </a:rPr>
              <a:t>REST design principles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621792" y="1426464"/>
            <a:ext cx="3794760" cy="3383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AABCEE"/>
                </a:solidFill>
              </a:rPr>
              <a:t>Resource-oriented: /orders/{id}/items not /getOrderItems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AABCEE"/>
                </a:solidFill>
              </a:rPr>
              <a:t>HTTP verbs: GET (read), POST (create), PUT (full replace), PATCH (partial), DELETE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AABCEE"/>
                </a:solidFill>
              </a:rPr>
              <a:t>Status codes: 200 OK, 201 Created, 204 No Content, 400 Bad Request, 401 Unauth, 403 Forbidden, 404 Not Found, 409 Conflict, 422 Unprocessable, 500 Server Error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AABCEE"/>
                </a:solidFill>
              </a:rPr>
              <a:t>Consistent error shape: { type, title, status, detail, traceId } (RFC 7807)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AABCEE"/>
                </a:solidFill>
              </a:rPr>
              <a:t>Pagination: cursor-based (after=lastId) or offset (skip/take) with totalCount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AABCEE"/>
                </a:solidFill>
              </a:rPr>
              <a:t>HATEOAS: include links to related actions in response (advanced)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AABCEE"/>
                </a:solidFill>
              </a:rPr>
              <a:t>Idempotency-Key header for POST operations (safe to retry)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AABCEE"/>
                </a:solidFill>
              </a:rPr>
              <a:t>Filtering: GET /orders?status=active&amp;customerId=123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4773168" y="1005840"/>
            <a:ext cx="4114800" cy="1874520"/>
          </a:xfrm>
          <a:prstGeom prst="roundRect">
            <a:avLst>
              <a:gd name="adj" fmla="val 5854"/>
            </a:avLst>
          </a:prstGeom>
          <a:solidFill>
            <a:srgbClr val="1A2550"/>
          </a:solidFill>
          <a:ln w="6350">
            <a:solidFill>
              <a:srgbClr val="D1D9FF"/>
            </a:solidFill>
            <a:prstDash val="solid"/>
          </a:ln>
          <a:effectLst>
            <a:outerShdw sx="100000" sy="100000" kx="0" ky="0" algn="bl" rotWithShape="0" blurRad="101600" dist="25400" dir="2700000">
              <a:srgbClr val="000000">
                <a:alpha val="9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4937760" y="1115568"/>
            <a:ext cx="376732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ADCFC"/>
                </a:solidFill>
              </a:rPr>
              <a:t>Minimal APIs vs controllers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937760" y="1426464"/>
            <a:ext cx="3767328" cy="1325880"/>
          </a:xfrm>
          <a:prstGeom prst="roundRect">
            <a:avLst>
              <a:gd name="adj" fmla="val 5517"/>
            </a:avLst>
          </a:prstGeom>
          <a:solidFill>
            <a:srgbClr val="0A1628"/>
          </a:solidFill>
          <a:ln w="6350">
            <a:solidFill>
              <a:srgbClr val="334477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074920" y="1499616"/>
            <a:ext cx="3493008" cy="1234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A8D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Minimal API (ASP.NET Core 6+)
app.MapPost("/api/v1/orders",
  async (CreateOrderCommand cmd, ISender sender) =&gt;
    await sender.Send(cmd) is { IsSuccess: true } result
      ? Results.Created($"/orders/{result.Value}", result.Value)
      : Results.BadRequest(result.Error)
).RequireAuthorization().WithOpenApi();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4773168" y="2944368"/>
            <a:ext cx="4114800" cy="1947672"/>
          </a:xfrm>
          <a:prstGeom prst="roundRect">
            <a:avLst>
              <a:gd name="adj" fmla="val 5634"/>
            </a:avLst>
          </a:prstGeom>
          <a:solidFill>
            <a:srgbClr val="1A2550"/>
          </a:solidFill>
          <a:ln w="6350">
            <a:solidFill>
              <a:srgbClr val="D1D9FF"/>
            </a:solidFill>
            <a:prstDash val="solid"/>
          </a:ln>
          <a:effectLst>
            <a:outerShdw sx="100000" sy="100000" kx="0" ky="0" algn="bl" rotWithShape="0" blurRad="101600" dist="25400" dir="2700000">
              <a:srgbClr val="000000">
                <a:alpha val="9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4937760" y="3054096"/>
            <a:ext cx="376732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ADCFC"/>
                </a:solidFill>
              </a:rPr>
              <a:t>API versioning &amp; OpenAPI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937760" y="3364992"/>
            <a:ext cx="3794760" cy="1435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AABCEE"/>
                </a:solidFill>
              </a:rPr>
              <a:t>URL versioning: /api/v1/orders — simplest, most discoverable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AABCEE"/>
                </a:solidFill>
              </a:rPr>
              <a:t>Header versioning: api-version: 2.0 — cleaner URLs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AABCEE"/>
                </a:solidFill>
              </a:rPr>
              <a:t>Asp.Versioning.Http NuGet for .NET versioning support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AABCEE"/>
                </a:solidFill>
              </a:rPr>
              <a:t>Deprecated versions: return Sunset header with date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AABCEE"/>
                </a:solidFill>
              </a:rPr>
              <a:t>OpenAPI/Swagger: Swashbuckle.AspNetCore generates from attributes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AABCEE"/>
                </a:solidFill>
              </a:rPr>
              <a:t>Scalar UI: modern alternative to Swagger UI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AABCEE"/>
                </a:solidFill>
              </a:rPr>
              <a:t>Contract testing: Pact.NET ensures consumer and provider agree on schema</a:t>
            </a:r>
            <a:endParaRPr lang="en-US" sz="95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7F9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182880"/>
            <a:ext cx="1828800" cy="237744"/>
          </a:xfrm>
          <a:prstGeom prst="roundRect">
            <a:avLst>
              <a:gd name="adj" fmla="val 50000"/>
            </a:avLst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"/>
            <a:ext cx="1828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CAREER PROGRESSION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457200" y="438912"/>
            <a:ext cx="8412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full career map: junior developer to tool builder</a:t>
            </a:r>
            <a:endParaRPr lang="en-US" sz="2100" dirty="0"/>
          </a:p>
        </p:txBody>
      </p:sp>
      <p:sp>
        <p:nvSpPr>
          <p:cNvPr id="5" name="Shape 3"/>
          <p:cNvSpPr/>
          <p:nvPr/>
        </p:nvSpPr>
        <p:spPr>
          <a:xfrm>
            <a:off x="457200" y="1024128"/>
            <a:ext cx="4114800" cy="1280160"/>
          </a:xfrm>
          <a:prstGeom prst="roundRect">
            <a:avLst>
              <a:gd name="adj" fmla="val 8571"/>
            </a:avLst>
          </a:prstGeom>
          <a:solidFill>
            <a:srgbClr val="FFFFFF"/>
          </a:solidFill>
          <a:ln w="6350">
            <a:solidFill>
              <a:srgbClr val="D1D9FF"/>
            </a:solidFill>
            <a:prstDash val="solid"/>
          </a:ln>
          <a:effectLst>
            <a:outerShdw sx="100000" sy="100000" kx="0" ky="0" algn="bl" rotWithShape="0" blurRad="101600" dist="25400" dir="2700000">
              <a:srgbClr val="000000">
                <a:alpha val="9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594360" y="1115568"/>
            <a:ext cx="2103120" cy="237744"/>
          </a:xfrm>
          <a:prstGeom prst="roundRect">
            <a:avLst>
              <a:gd name="adj" fmla="val 23077"/>
            </a:avLst>
          </a:prstGeom>
          <a:solidFill>
            <a:srgbClr val="64748B"/>
          </a:solidFill>
          <a:ln/>
        </p:spPr>
      </p:sp>
      <p:sp>
        <p:nvSpPr>
          <p:cNvPr id="7" name="Text 5"/>
          <p:cNvSpPr/>
          <p:nvPr/>
        </p:nvSpPr>
        <p:spPr>
          <a:xfrm>
            <a:off x="594360" y="1115568"/>
            <a:ext cx="21031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Junior dev</a:t>
            </a:r>
            <a:endParaRPr lang="en-US" sz="950" dirty="0"/>
          </a:p>
        </p:txBody>
      </p:sp>
      <p:sp>
        <p:nvSpPr>
          <p:cNvPr id="8" name="Text 6"/>
          <p:cNvSpPr/>
          <p:nvPr/>
        </p:nvSpPr>
        <p:spPr>
          <a:xfrm>
            <a:off x="2834640" y="1115568"/>
            <a:ext cx="15544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0–2 yrs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594360" y="1408176"/>
            <a:ext cx="3822192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850" dirty="0">
                <a:solidFill>
                  <a:srgbClr val="1A1A2E"/>
                </a:solidFill>
              </a:rPr>
              <a:t>C# basics: types, OOP, collections</a:t>
            </a:r>
            <a:endParaRPr lang="en-US" sz="850" dirty="0"/>
          </a:p>
          <a:p>
            <a:pPr marL="342900" indent="-342900">
              <a:buSzPct val="100000"/>
              <a:buChar char="•"/>
            </a:pPr>
            <a:r>
              <a:rPr lang="en-US" sz="850" dirty="0">
                <a:solidFill>
                  <a:srgbClr val="1A1A2E"/>
                </a:solidFill>
              </a:rPr>
              <a:t>LINQ, async/await</a:t>
            </a:r>
            <a:endParaRPr lang="en-US" sz="850" dirty="0"/>
          </a:p>
          <a:p>
            <a:pPr marL="342900" indent="-342900">
              <a:buSzPct val="100000"/>
              <a:buChar char="•"/>
            </a:pPr>
            <a:r>
              <a:rPr lang="en-US" sz="850" dirty="0">
                <a:solidFill>
                  <a:srgbClr val="1A1A2E"/>
                </a:solidFill>
              </a:rPr>
              <a:t>Unit testing with xUnit</a:t>
            </a:r>
            <a:endParaRPr lang="en-US" sz="850" dirty="0"/>
          </a:p>
          <a:p>
            <a:pPr marL="342900" indent="-342900">
              <a:buSzPct val="100000"/>
              <a:buChar char="•"/>
            </a:pPr>
            <a:r>
              <a:rPr lang="en-US" sz="850" dirty="0">
                <a:solidFill>
                  <a:srgbClr val="1A1A2E"/>
                </a:solidFill>
              </a:rPr>
              <a:t>Git: commit, branch, PR</a:t>
            </a:r>
            <a:endParaRPr lang="en-US" sz="850" dirty="0"/>
          </a:p>
        </p:txBody>
      </p:sp>
      <p:sp>
        <p:nvSpPr>
          <p:cNvPr id="10" name="Shape 8"/>
          <p:cNvSpPr/>
          <p:nvPr/>
        </p:nvSpPr>
        <p:spPr>
          <a:xfrm>
            <a:off x="457200" y="2395728"/>
            <a:ext cx="4114800" cy="1280160"/>
          </a:xfrm>
          <a:prstGeom prst="roundRect">
            <a:avLst>
              <a:gd name="adj" fmla="val 8571"/>
            </a:avLst>
          </a:prstGeom>
          <a:solidFill>
            <a:srgbClr val="FFFFFF"/>
          </a:solidFill>
          <a:ln w="6350">
            <a:solidFill>
              <a:srgbClr val="D1D9FF"/>
            </a:solidFill>
            <a:prstDash val="solid"/>
          </a:ln>
          <a:effectLst>
            <a:outerShdw sx="100000" sy="100000" kx="0" ky="0" algn="bl" rotWithShape="0" blurRad="101600" dist="25400" dir="2700000">
              <a:srgbClr val="000000">
                <a:alpha val="9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594360" y="2487168"/>
            <a:ext cx="2103120" cy="237744"/>
          </a:xfrm>
          <a:prstGeom prst="roundRect">
            <a:avLst>
              <a:gd name="adj" fmla="val 23077"/>
            </a:avLst>
          </a:prstGeom>
          <a:solidFill>
            <a:srgbClr val="0D9488"/>
          </a:solidFill>
          <a:ln/>
        </p:spPr>
      </p:sp>
      <p:sp>
        <p:nvSpPr>
          <p:cNvPr id="12" name="Text 10"/>
          <p:cNvSpPr/>
          <p:nvPr/>
        </p:nvSpPr>
        <p:spPr>
          <a:xfrm>
            <a:off x="594360" y="2487168"/>
            <a:ext cx="21031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Mid developer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2834640" y="2487168"/>
            <a:ext cx="15544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2–4 yrs</a:t>
            </a:r>
            <a:endParaRPr lang="en-US" sz="850" dirty="0"/>
          </a:p>
        </p:txBody>
      </p:sp>
      <p:sp>
        <p:nvSpPr>
          <p:cNvPr id="14" name="Text 12"/>
          <p:cNvSpPr/>
          <p:nvPr/>
        </p:nvSpPr>
        <p:spPr>
          <a:xfrm>
            <a:off x="594360" y="2779776"/>
            <a:ext cx="3822192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850" dirty="0">
                <a:solidFill>
                  <a:srgbClr val="1A1A2E"/>
                </a:solidFill>
              </a:rPr>
              <a:t>Clean architecture</a:t>
            </a:r>
            <a:endParaRPr lang="en-US" sz="850" dirty="0"/>
          </a:p>
          <a:p>
            <a:pPr marL="342900" indent="-342900">
              <a:buSzPct val="100000"/>
              <a:buChar char="•"/>
            </a:pPr>
            <a:r>
              <a:rPr lang="en-US" sz="850" dirty="0">
                <a:solidFill>
                  <a:srgbClr val="1A1A2E"/>
                </a:solidFill>
              </a:rPr>
              <a:t>CQRS + MediatR patterns</a:t>
            </a:r>
            <a:endParaRPr lang="en-US" sz="850" dirty="0"/>
          </a:p>
          <a:p>
            <a:pPr marL="342900" indent="-342900">
              <a:buSzPct val="100000"/>
              <a:buChar char="•"/>
            </a:pPr>
            <a:r>
              <a:rPr lang="en-US" sz="850" dirty="0">
                <a:solidFill>
                  <a:srgbClr val="1A1A2E"/>
                </a:solidFill>
              </a:rPr>
              <a:t>DI + Options pattern</a:t>
            </a:r>
            <a:endParaRPr lang="en-US" sz="850" dirty="0"/>
          </a:p>
          <a:p>
            <a:pPr marL="342900" indent="-342900">
              <a:buSzPct val="100000"/>
              <a:buChar char="•"/>
            </a:pPr>
            <a:r>
              <a:rPr lang="en-US" sz="850" dirty="0">
                <a:solidFill>
                  <a:srgbClr val="1A1A2E"/>
                </a:solidFill>
              </a:rPr>
              <a:t>Docker: containerise an app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457200" y="3767328"/>
            <a:ext cx="4114800" cy="1280160"/>
          </a:xfrm>
          <a:prstGeom prst="roundRect">
            <a:avLst>
              <a:gd name="adj" fmla="val 8571"/>
            </a:avLst>
          </a:prstGeom>
          <a:solidFill>
            <a:srgbClr val="FFFFFF"/>
          </a:solidFill>
          <a:ln w="6350">
            <a:solidFill>
              <a:srgbClr val="D1D9FF"/>
            </a:solidFill>
            <a:prstDash val="solid"/>
          </a:ln>
          <a:effectLst>
            <a:outerShdw sx="100000" sy="100000" kx="0" ky="0" algn="bl" rotWithShape="0" blurRad="101600" dist="25400" dir="2700000">
              <a:srgbClr val="000000">
                <a:alpha val="9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594360" y="3858768"/>
            <a:ext cx="2103120" cy="237744"/>
          </a:xfrm>
          <a:prstGeom prst="roundRect">
            <a:avLst>
              <a:gd name="adj" fmla="val 23077"/>
            </a:avLst>
          </a:prstGeom>
          <a:solidFill>
            <a:srgbClr val="3A4F9B"/>
          </a:solidFill>
          <a:ln/>
        </p:spPr>
      </p:sp>
      <p:sp>
        <p:nvSpPr>
          <p:cNvPr id="17" name="Text 15"/>
          <p:cNvSpPr/>
          <p:nvPr/>
        </p:nvSpPr>
        <p:spPr>
          <a:xfrm>
            <a:off x="594360" y="3858768"/>
            <a:ext cx="21031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Senior developer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2834640" y="3858768"/>
            <a:ext cx="15544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4–7 yrs</a:t>
            </a:r>
            <a:endParaRPr lang="en-US" sz="850" dirty="0"/>
          </a:p>
        </p:txBody>
      </p:sp>
      <p:sp>
        <p:nvSpPr>
          <p:cNvPr id="19" name="Text 17"/>
          <p:cNvSpPr/>
          <p:nvPr/>
        </p:nvSpPr>
        <p:spPr>
          <a:xfrm>
            <a:off x="594360" y="4151376"/>
            <a:ext cx="3822192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850" dirty="0">
                <a:solidFill>
                  <a:srgbClr val="1A1A2E"/>
                </a:solidFill>
              </a:rPr>
              <a:t>System design: trade-offs</a:t>
            </a:r>
            <a:endParaRPr lang="en-US" sz="850" dirty="0"/>
          </a:p>
          <a:p>
            <a:pPr marL="342900" indent="-342900">
              <a:buSzPct val="100000"/>
              <a:buChar char="•"/>
            </a:pPr>
            <a:r>
              <a:rPr lang="en-US" sz="850" dirty="0">
                <a:solidFill>
                  <a:srgbClr val="1A1A2E"/>
                </a:solidFill>
              </a:rPr>
              <a:t>AKS + Kubernetes fluency</a:t>
            </a:r>
            <a:endParaRPr lang="en-US" sz="850" dirty="0"/>
          </a:p>
          <a:p>
            <a:pPr marL="342900" indent="-342900">
              <a:buSzPct val="100000"/>
              <a:buChar char="•"/>
            </a:pPr>
            <a:r>
              <a:rPr lang="en-US" sz="850" dirty="0">
                <a:solidFill>
                  <a:srgbClr val="1A1A2E"/>
                </a:solidFill>
              </a:rPr>
              <a:t>DDD: bounded contexts</a:t>
            </a:r>
            <a:endParaRPr lang="en-US" sz="850" dirty="0"/>
          </a:p>
          <a:p>
            <a:pPr marL="342900" indent="-342900">
              <a:buSzPct val="100000"/>
              <a:buChar char="•"/>
            </a:pPr>
            <a:r>
              <a:rPr lang="en-US" sz="850" dirty="0">
                <a:solidFill>
                  <a:srgbClr val="1A1A2E"/>
                </a:solidFill>
              </a:rPr>
              <a:t>Multi-tenancy patterns</a:t>
            </a:r>
            <a:endParaRPr lang="en-US" sz="850" dirty="0"/>
          </a:p>
        </p:txBody>
      </p:sp>
      <p:sp>
        <p:nvSpPr>
          <p:cNvPr id="20" name="Shape 18"/>
          <p:cNvSpPr/>
          <p:nvPr/>
        </p:nvSpPr>
        <p:spPr>
          <a:xfrm>
            <a:off x="4773168" y="1024128"/>
            <a:ext cx="4114800" cy="1280160"/>
          </a:xfrm>
          <a:prstGeom prst="roundRect">
            <a:avLst>
              <a:gd name="adj" fmla="val 8571"/>
            </a:avLst>
          </a:prstGeom>
          <a:solidFill>
            <a:srgbClr val="FFFFFF"/>
          </a:solidFill>
          <a:ln w="6350">
            <a:solidFill>
              <a:srgbClr val="D1D9FF"/>
            </a:solidFill>
            <a:prstDash val="solid"/>
          </a:ln>
          <a:effectLst>
            <a:outerShdw sx="100000" sy="100000" kx="0" ky="0" algn="bl" rotWithShape="0" blurRad="101600" dist="25400" dir="2700000">
              <a:srgbClr val="000000">
                <a:alpha val="9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4910328" y="1115568"/>
            <a:ext cx="2103120" cy="237744"/>
          </a:xfrm>
          <a:prstGeom prst="roundRect">
            <a:avLst>
              <a:gd name="adj" fmla="val 23077"/>
            </a:avLst>
          </a:prstGeom>
          <a:solidFill>
            <a:srgbClr val="F96167"/>
          </a:solidFill>
          <a:ln/>
        </p:spPr>
      </p:sp>
      <p:sp>
        <p:nvSpPr>
          <p:cNvPr id="22" name="Text 20"/>
          <p:cNvSpPr/>
          <p:nvPr/>
        </p:nvSpPr>
        <p:spPr>
          <a:xfrm>
            <a:off x="4910328" y="1115568"/>
            <a:ext cx="21031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Solutions architect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7150608" y="1115568"/>
            <a:ext cx="15544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6–10 yrs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4910328" y="1408176"/>
            <a:ext cx="3822192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850" dirty="0">
                <a:solidFill>
                  <a:srgbClr val="1A1A2E"/>
                </a:solidFill>
              </a:rPr>
              <a:t>C4 model + ADRs</a:t>
            </a:r>
            <a:endParaRPr lang="en-US" sz="850" dirty="0"/>
          </a:p>
          <a:p>
            <a:pPr marL="342900" indent="-342900">
              <a:buSzPct val="100000"/>
              <a:buChar char="•"/>
            </a:pPr>
            <a:r>
              <a:rPr lang="en-US" sz="850" dirty="0">
                <a:solidFill>
                  <a:srgbClr val="1A1A2E"/>
                </a:solidFill>
              </a:rPr>
              <a:t>AZ-305 certification</a:t>
            </a:r>
            <a:endParaRPr lang="en-US" sz="850" dirty="0"/>
          </a:p>
          <a:p>
            <a:pPr marL="342900" indent="-342900">
              <a:buSzPct val="100000"/>
              <a:buChar char="•"/>
            </a:pPr>
            <a:r>
              <a:rPr lang="en-US" sz="850" dirty="0">
                <a:solidFill>
                  <a:srgbClr val="1A1A2E"/>
                </a:solidFill>
              </a:rPr>
              <a:t>NFR definition + SLA design</a:t>
            </a:r>
            <a:endParaRPr lang="en-US" sz="850" dirty="0"/>
          </a:p>
          <a:p>
            <a:pPr marL="342900" indent="-342900">
              <a:buSzPct val="100000"/>
              <a:buChar char="•"/>
            </a:pPr>
            <a:r>
              <a:rPr lang="en-US" sz="850" dirty="0">
                <a:solidFill>
                  <a:srgbClr val="1A1A2E"/>
                </a:solidFill>
              </a:rPr>
              <a:t>Threat modelling (STRIDE)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4773168" y="2395728"/>
            <a:ext cx="4114800" cy="1280160"/>
          </a:xfrm>
          <a:prstGeom prst="roundRect">
            <a:avLst>
              <a:gd name="adj" fmla="val 8571"/>
            </a:avLst>
          </a:prstGeom>
          <a:solidFill>
            <a:srgbClr val="FFFFFF"/>
          </a:solidFill>
          <a:ln w="6350">
            <a:solidFill>
              <a:srgbClr val="D1D9FF"/>
            </a:solidFill>
            <a:prstDash val="solid"/>
          </a:ln>
          <a:effectLst>
            <a:outerShdw sx="100000" sy="100000" kx="0" ky="0" algn="bl" rotWithShape="0" blurRad="101600" dist="25400" dir="2700000">
              <a:srgbClr val="000000">
                <a:alpha val="9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4910328" y="2487168"/>
            <a:ext cx="2103120" cy="237744"/>
          </a:xfrm>
          <a:prstGeom prst="roundRect">
            <a:avLst>
              <a:gd name="adj" fmla="val 23077"/>
            </a:avLst>
          </a:prstGeom>
          <a:solidFill>
            <a:srgbClr val="F39C12"/>
          </a:solidFill>
          <a:ln/>
        </p:spPr>
      </p:sp>
      <p:sp>
        <p:nvSpPr>
          <p:cNvPr id="27" name="Text 25"/>
          <p:cNvSpPr/>
          <p:nvPr/>
        </p:nvSpPr>
        <p:spPr>
          <a:xfrm>
            <a:off x="4910328" y="2487168"/>
            <a:ext cx="21031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DevOps engineer</a:t>
            </a:r>
            <a:endParaRPr lang="en-US" sz="950" dirty="0"/>
          </a:p>
        </p:txBody>
      </p:sp>
      <p:sp>
        <p:nvSpPr>
          <p:cNvPr id="28" name="Text 26"/>
          <p:cNvSpPr/>
          <p:nvPr/>
        </p:nvSpPr>
        <p:spPr>
          <a:xfrm>
            <a:off x="7150608" y="2487168"/>
            <a:ext cx="15544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3–6 yrs (parallel path)</a:t>
            </a:r>
            <a:endParaRPr lang="en-US" sz="850" dirty="0"/>
          </a:p>
        </p:txBody>
      </p:sp>
      <p:sp>
        <p:nvSpPr>
          <p:cNvPr id="29" name="Text 27"/>
          <p:cNvSpPr/>
          <p:nvPr/>
        </p:nvSpPr>
        <p:spPr>
          <a:xfrm>
            <a:off x="4910328" y="2779776"/>
            <a:ext cx="3822192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850" dirty="0">
                <a:solidFill>
                  <a:srgbClr val="1A1A2E"/>
                </a:solidFill>
              </a:rPr>
              <a:t>Terraform / Bicep IaC</a:t>
            </a:r>
            <a:endParaRPr lang="en-US" sz="850" dirty="0"/>
          </a:p>
          <a:p>
            <a:pPr marL="342900" indent="-342900">
              <a:buSzPct val="100000"/>
              <a:buChar char="•"/>
            </a:pPr>
            <a:r>
              <a:rPr lang="en-US" sz="850" dirty="0">
                <a:solidFill>
                  <a:srgbClr val="1A1A2E"/>
                </a:solidFill>
              </a:rPr>
              <a:t>Kubernetes cluster ops</a:t>
            </a:r>
            <a:endParaRPr lang="en-US" sz="850" dirty="0"/>
          </a:p>
          <a:p>
            <a:pPr marL="342900" indent="-342900">
              <a:buSzPct val="100000"/>
              <a:buChar char="•"/>
            </a:pPr>
            <a:r>
              <a:rPr lang="en-US" sz="850" dirty="0">
                <a:solidFill>
                  <a:srgbClr val="1A1A2E"/>
                </a:solidFill>
              </a:rPr>
              <a:t>AZ-400 certification</a:t>
            </a:r>
            <a:endParaRPr lang="en-US" sz="850" dirty="0"/>
          </a:p>
          <a:p>
            <a:pPr marL="342900" indent="-342900">
              <a:buSzPct val="100000"/>
              <a:buChar char="•"/>
            </a:pPr>
            <a:r>
              <a:rPr lang="en-US" sz="850" dirty="0">
                <a:solidFill>
                  <a:srgbClr val="1A1A2E"/>
                </a:solidFill>
              </a:rPr>
              <a:t>GitOps (ArgoCD)</a:t>
            </a:r>
            <a:endParaRPr lang="en-US" sz="850" dirty="0"/>
          </a:p>
        </p:txBody>
      </p:sp>
      <p:sp>
        <p:nvSpPr>
          <p:cNvPr id="30" name="Shape 28"/>
          <p:cNvSpPr/>
          <p:nvPr/>
        </p:nvSpPr>
        <p:spPr>
          <a:xfrm>
            <a:off x="4773168" y="3767328"/>
            <a:ext cx="4114800" cy="1280160"/>
          </a:xfrm>
          <a:prstGeom prst="roundRect">
            <a:avLst>
              <a:gd name="adj" fmla="val 8571"/>
            </a:avLst>
          </a:prstGeom>
          <a:solidFill>
            <a:srgbClr val="FFFFFF"/>
          </a:solidFill>
          <a:ln w="6350">
            <a:solidFill>
              <a:srgbClr val="D1D9FF"/>
            </a:solidFill>
            <a:prstDash val="solid"/>
          </a:ln>
          <a:effectLst>
            <a:outerShdw sx="100000" sy="100000" kx="0" ky="0" algn="bl" rotWithShape="0" blurRad="101600" dist="25400" dir="2700000">
              <a:srgbClr val="000000">
                <a:alpha val="9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4910328" y="3858768"/>
            <a:ext cx="2103120" cy="237744"/>
          </a:xfrm>
          <a:prstGeom prst="roundRect">
            <a:avLst>
              <a:gd name="adj" fmla="val 23077"/>
            </a:avLst>
          </a:prstGeom>
          <a:solidFill>
            <a:srgbClr val="1E2761"/>
          </a:solidFill>
          <a:ln/>
        </p:spPr>
      </p:sp>
      <p:sp>
        <p:nvSpPr>
          <p:cNvPr id="32" name="Text 30"/>
          <p:cNvSpPr/>
          <p:nvPr/>
        </p:nvSpPr>
        <p:spPr>
          <a:xfrm>
            <a:off x="4910328" y="3858768"/>
            <a:ext cx="21031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Enterprise architect</a:t>
            </a:r>
            <a:endParaRPr lang="en-US" sz="950" dirty="0"/>
          </a:p>
        </p:txBody>
      </p:sp>
      <p:sp>
        <p:nvSpPr>
          <p:cNvPr id="33" name="Text 31"/>
          <p:cNvSpPr/>
          <p:nvPr/>
        </p:nvSpPr>
        <p:spPr>
          <a:xfrm>
            <a:off x="7150608" y="3858768"/>
            <a:ext cx="15544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10+ yrs</a:t>
            </a:r>
            <a:endParaRPr lang="en-US" sz="850" dirty="0"/>
          </a:p>
        </p:txBody>
      </p:sp>
      <p:sp>
        <p:nvSpPr>
          <p:cNvPr id="34" name="Text 32"/>
          <p:cNvSpPr/>
          <p:nvPr/>
        </p:nvSpPr>
        <p:spPr>
          <a:xfrm>
            <a:off x="4910328" y="4151376"/>
            <a:ext cx="3822192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850" dirty="0">
                <a:solidFill>
                  <a:srgbClr val="1A1A2E"/>
                </a:solidFill>
              </a:rPr>
              <a:t>TOGAF certification</a:t>
            </a:r>
            <a:endParaRPr lang="en-US" sz="850" dirty="0"/>
          </a:p>
          <a:p>
            <a:pPr marL="342900" indent="-342900">
              <a:buSzPct val="100000"/>
              <a:buChar char="•"/>
            </a:pPr>
            <a:r>
              <a:rPr lang="en-US" sz="850" dirty="0">
                <a:solidFill>
                  <a:srgbClr val="1A1A2E"/>
                </a:solidFill>
              </a:rPr>
              <a:t>Organisation-wide technology strategy</a:t>
            </a:r>
            <a:endParaRPr lang="en-US" sz="850" dirty="0"/>
          </a:p>
          <a:p>
            <a:pPr marL="342900" indent="-342900">
              <a:buSzPct val="100000"/>
              <a:buChar char="•"/>
            </a:pPr>
            <a:r>
              <a:rPr lang="en-US" sz="850" dirty="0">
                <a:solidFill>
                  <a:srgbClr val="1A1A2E"/>
                </a:solidFill>
              </a:rPr>
              <a:t>Vendor governance</a:t>
            </a:r>
            <a:endParaRPr lang="en-US" sz="850" dirty="0"/>
          </a:p>
          <a:p>
            <a:pPr marL="342900" indent="-342900">
              <a:buSzPct val="100000"/>
              <a:buChar char="•"/>
            </a:pPr>
            <a:r>
              <a:rPr lang="en-US" sz="850" dirty="0">
                <a:solidFill>
                  <a:srgbClr val="1A1A2E"/>
                </a:solidFill>
              </a:rPr>
              <a:t>Business capability mapping</a:t>
            </a:r>
            <a:endParaRPr lang="en-US" sz="850" dirty="0"/>
          </a:p>
        </p:txBody>
      </p:sp>
      <p:sp>
        <p:nvSpPr>
          <p:cNvPr id="35" name="Shape 33"/>
          <p:cNvSpPr/>
          <p:nvPr/>
        </p:nvSpPr>
        <p:spPr>
          <a:xfrm>
            <a:off x="4773168" y="5138928"/>
            <a:ext cx="4114800" cy="1280160"/>
          </a:xfrm>
          <a:prstGeom prst="roundRect">
            <a:avLst>
              <a:gd name="adj" fmla="val 8571"/>
            </a:avLst>
          </a:prstGeom>
          <a:solidFill>
            <a:srgbClr val="FFFFFF"/>
          </a:solidFill>
          <a:ln w="6350">
            <a:solidFill>
              <a:srgbClr val="D1D9FF"/>
            </a:solidFill>
            <a:prstDash val="solid"/>
          </a:ln>
          <a:effectLst>
            <a:outerShdw sx="100000" sy="100000" kx="0" ky="0" algn="bl" rotWithShape="0" blurRad="101600" dist="25400" dir="2700000">
              <a:srgbClr val="000000">
                <a:alpha val="9000"/>
              </a:srgbClr>
            </a:outerShdw>
          </a:effectLst>
        </p:spPr>
      </p:sp>
      <p:sp>
        <p:nvSpPr>
          <p:cNvPr id="36" name="Shape 34"/>
          <p:cNvSpPr/>
          <p:nvPr/>
        </p:nvSpPr>
        <p:spPr>
          <a:xfrm>
            <a:off x="4910328" y="5230368"/>
            <a:ext cx="2103120" cy="237744"/>
          </a:xfrm>
          <a:prstGeom prst="roundRect">
            <a:avLst>
              <a:gd name="adj" fmla="val 23077"/>
            </a:avLst>
          </a:prstGeom>
          <a:solidFill>
            <a:srgbClr val="8E44AD"/>
          </a:solidFill>
          <a:ln/>
        </p:spPr>
      </p:sp>
      <p:sp>
        <p:nvSpPr>
          <p:cNvPr id="37" name="Text 35"/>
          <p:cNvSpPr/>
          <p:nvPr/>
        </p:nvSpPr>
        <p:spPr>
          <a:xfrm>
            <a:off x="4910328" y="5230368"/>
            <a:ext cx="21031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Tool builder</a:t>
            </a:r>
            <a:endParaRPr lang="en-US" sz="950" dirty="0"/>
          </a:p>
        </p:txBody>
      </p:sp>
      <p:sp>
        <p:nvSpPr>
          <p:cNvPr id="38" name="Text 36"/>
          <p:cNvSpPr/>
          <p:nvPr/>
        </p:nvSpPr>
        <p:spPr>
          <a:xfrm>
            <a:off x="7150608" y="5230368"/>
            <a:ext cx="15544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7–12 yrs (specialist path)</a:t>
            </a:r>
            <a:endParaRPr lang="en-US" sz="850" dirty="0"/>
          </a:p>
        </p:txBody>
      </p:sp>
      <p:sp>
        <p:nvSpPr>
          <p:cNvPr id="39" name="Text 37"/>
          <p:cNvSpPr/>
          <p:nvPr/>
        </p:nvSpPr>
        <p:spPr>
          <a:xfrm>
            <a:off x="4910328" y="5522976"/>
            <a:ext cx="3822192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850" dirty="0">
                <a:solidFill>
                  <a:srgbClr val="1A1A2E"/>
                </a:solidFill>
              </a:rPr>
              <a:t>Roslyn + source generators</a:t>
            </a:r>
            <a:endParaRPr lang="en-US" sz="850" dirty="0"/>
          </a:p>
          <a:p>
            <a:pPr marL="342900" indent="-342900">
              <a:buSzPct val="100000"/>
              <a:buChar char="•"/>
            </a:pPr>
            <a:r>
              <a:rPr lang="en-US" sz="850" dirty="0">
                <a:solidFill>
                  <a:srgbClr val="1A1A2E"/>
                </a:solidFill>
              </a:rPr>
              <a:t>Intent Architect module dev</a:t>
            </a:r>
            <a:endParaRPr lang="en-US" sz="850" dirty="0"/>
          </a:p>
          <a:p>
            <a:pPr marL="342900" indent="-342900">
              <a:buSzPct val="100000"/>
              <a:buChar char="•"/>
            </a:pPr>
            <a:r>
              <a:rPr lang="en-US" sz="850" dirty="0">
                <a:solidFill>
                  <a:srgbClr val="1A1A2E"/>
                </a:solidFill>
              </a:rPr>
              <a:t>Language Server Protocol</a:t>
            </a:r>
            <a:endParaRPr lang="en-US" sz="850" dirty="0"/>
          </a:p>
          <a:p>
            <a:pPr marL="342900" indent="-342900">
              <a:buSzPct val="100000"/>
              <a:buChar char="•"/>
            </a:pPr>
            <a:r>
              <a:rPr lang="en-US" sz="850" dirty="0">
                <a:solidFill>
                  <a:srgbClr val="1A1A2E"/>
                </a:solidFill>
              </a:rPr>
              <a:t>Domain-specific languages (DSL)</a:t>
            </a:r>
            <a:endParaRPr lang="en-US" sz="85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0D1B4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182880"/>
            <a:ext cx="1828800" cy="237744"/>
          </a:xfrm>
          <a:prstGeom prst="roundRect">
            <a:avLst>
              <a:gd name="adj" fmla="val 50000"/>
            </a:avLst>
          </a:prstGeom>
          <a:solidFill>
            <a:srgbClr val="F96167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"/>
            <a:ext cx="1828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STUDY PLAN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457200" y="438912"/>
            <a:ext cx="8412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Structured study plan: from where you are to where you want to be</a:t>
            </a:r>
            <a:endParaRPr lang="en-US" sz="2100" dirty="0"/>
          </a:p>
        </p:txBody>
      </p:sp>
      <p:sp>
        <p:nvSpPr>
          <p:cNvPr id="5" name="Text 3"/>
          <p:cNvSpPr/>
          <p:nvPr/>
        </p:nvSpPr>
        <p:spPr>
          <a:xfrm>
            <a:off x="457200" y="877824"/>
            <a:ext cx="84124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ADCFC"/>
                </a:solidFill>
              </a:rPr>
              <a:t>You are currently: Senior .NET developer. Target: Solutions Architect + Tool Builder capability.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457200" y="1024128"/>
            <a:ext cx="4114800" cy="1874520"/>
          </a:xfrm>
          <a:prstGeom prst="roundRect">
            <a:avLst>
              <a:gd name="adj" fmla="val 5854"/>
            </a:avLst>
          </a:prstGeom>
          <a:solidFill>
            <a:srgbClr val="1A2550"/>
          </a:solidFill>
          <a:ln w="6350">
            <a:solidFill>
              <a:srgbClr val="D1D9FF"/>
            </a:solidFill>
            <a:prstDash val="solid"/>
          </a:ln>
          <a:effectLst>
            <a:outerShdw sx="100000" sy="100000" kx="0" ky="0" algn="bl" rotWithShape="0" blurRad="101600" dist="25400" dir="2700000">
              <a:srgbClr val="000000">
                <a:alpha val="9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621792" y="1115568"/>
            <a:ext cx="2560320" cy="237744"/>
          </a:xfrm>
          <a:prstGeom prst="roundRect">
            <a:avLst>
              <a:gd name="adj" fmla="val 23077"/>
            </a:avLst>
          </a:prstGeom>
          <a:solidFill>
            <a:srgbClr val="F96167"/>
          </a:solidFill>
          <a:ln/>
        </p:spPr>
      </p:sp>
      <p:sp>
        <p:nvSpPr>
          <p:cNvPr id="8" name="Text 6"/>
          <p:cNvSpPr/>
          <p:nvPr/>
        </p:nvSpPr>
        <p:spPr>
          <a:xfrm>
            <a:off x="621792" y="1115568"/>
            <a:ext cx="2560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Now — next 3 months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621792" y="1426464"/>
            <a:ext cx="3794760" cy="1389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AABCEE"/>
                </a:solidFill>
              </a:rPr>
              <a:t>C#: deep-dive async, Span&lt;T&gt;, LINQ internals, expression trees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AABCEE"/>
                </a:solidFill>
              </a:rPr>
              <a:t>Architecture: build one project with strict clean arch + ADRs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AABCEE"/>
                </a:solidFill>
              </a:rPr>
              <a:t>AZ-204 certification (Azure Developer Associate)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AABCEE"/>
                </a:solidFill>
              </a:rPr>
              <a:t>Set up Intent Architect — follow the Getting Started module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AABCEE"/>
                </a:solidFill>
              </a:rPr>
              <a:t>Git: own your team's pipeline config — write the YAML yourself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4800600" y="1024128"/>
            <a:ext cx="4114800" cy="1874520"/>
          </a:xfrm>
          <a:prstGeom prst="roundRect">
            <a:avLst>
              <a:gd name="adj" fmla="val 5854"/>
            </a:avLst>
          </a:prstGeom>
          <a:solidFill>
            <a:srgbClr val="1A2550"/>
          </a:solidFill>
          <a:ln w="6350">
            <a:solidFill>
              <a:srgbClr val="D1D9FF"/>
            </a:solidFill>
            <a:prstDash val="solid"/>
          </a:ln>
          <a:effectLst>
            <a:outerShdw sx="100000" sy="100000" kx="0" ky="0" algn="bl" rotWithShape="0" blurRad="101600" dist="25400" dir="2700000">
              <a:srgbClr val="000000">
                <a:alpha val="9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965192" y="1115568"/>
            <a:ext cx="2560320" cy="237744"/>
          </a:xfrm>
          <a:prstGeom prst="roundRect">
            <a:avLst>
              <a:gd name="adj" fmla="val 23077"/>
            </a:avLst>
          </a:prstGeom>
          <a:solidFill>
            <a:srgbClr val="0D9488"/>
          </a:solidFill>
          <a:ln/>
        </p:spPr>
      </p:sp>
      <p:sp>
        <p:nvSpPr>
          <p:cNvPr id="12" name="Text 10"/>
          <p:cNvSpPr/>
          <p:nvPr/>
        </p:nvSpPr>
        <p:spPr>
          <a:xfrm>
            <a:off x="4965192" y="1115568"/>
            <a:ext cx="2560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3–6 months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4965192" y="1426464"/>
            <a:ext cx="3794760" cy="1389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AABCEE"/>
                </a:solidFill>
              </a:rPr>
              <a:t>AZ-305 (Solutions Architect Expert) — system design at Azure scale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AABCEE"/>
                </a:solidFill>
              </a:rPr>
              <a:t>DDD: map one bounded context in your Transfer Agency codebase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AABCEE"/>
                </a:solidFill>
              </a:rPr>
              <a:t>Redis + Service Bus: implement cache-aside + pub/sub in a real project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AABCEE"/>
                </a:solidFill>
              </a:rPr>
              <a:t>Build your first Roslyn analyser: enforce a rule in your codebase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AABCEE"/>
                </a:solidFill>
              </a:rPr>
              <a:t>Architecture testing with NetArchTest — add to your CI pipeline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457200" y="2990088"/>
            <a:ext cx="4114800" cy="1874520"/>
          </a:xfrm>
          <a:prstGeom prst="roundRect">
            <a:avLst>
              <a:gd name="adj" fmla="val 5854"/>
            </a:avLst>
          </a:prstGeom>
          <a:solidFill>
            <a:srgbClr val="1A2550"/>
          </a:solidFill>
          <a:ln w="6350">
            <a:solidFill>
              <a:srgbClr val="D1D9FF"/>
            </a:solidFill>
            <a:prstDash val="solid"/>
          </a:ln>
          <a:effectLst>
            <a:outerShdw sx="100000" sy="100000" kx="0" ky="0" algn="bl" rotWithShape="0" blurRad="101600" dist="25400" dir="2700000">
              <a:srgbClr val="000000">
                <a:alpha val="9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621792" y="3081528"/>
            <a:ext cx="2560320" cy="237744"/>
          </a:xfrm>
          <a:prstGeom prst="roundRect">
            <a:avLst>
              <a:gd name="adj" fmla="val 23077"/>
            </a:avLst>
          </a:prstGeom>
          <a:solidFill>
            <a:srgbClr val="3A4F9B"/>
          </a:solidFill>
          <a:ln/>
        </p:spPr>
      </p:sp>
      <p:sp>
        <p:nvSpPr>
          <p:cNvPr id="16" name="Text 14"/>
          <p:cNvSpPr/>
          <p:nvPr/>
        </p:nvSpPr>
        <p:spPr>
          <a:xfrm>
            <a:off x="621792" y="3081528"/>
            <a:ext cx="2560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6–12 months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621792" y="3392424"/>
            <a:ext cx="3794760" cy="1389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AABCEE"/>
                </a:solidFill>
              </a:rPr>
              <a:t>Write your first C4 model for your current system (Structurizr DSL)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AABCEE"/>
                </a:solidFill>
              </a:rPr>
              <a:t>AZ-400 (DevOps Engineer Expert) — own pipeline end-to-end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AABCEE"/>
                </a:solidFill>
              </a:rPr>
              <a:t>Multi-tenancy: implement pool model with EF Core global filter + RLS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AABCEE"/>
                </a:solidFill>
              </a:rPr>
              <a:t>Build a custom dotnet new template for your team's standard project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AABCEE"/>
                </a:solidFill>
              </a:rPr>
              <a:t>Contribute to or extend an Intent Architect module on GitHub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4800600" y="2990088"/>
            <a:ext cx="4114800" cy="1874520"/>
          </a:xfrm>
          <a:prstGeom prst="roundRect">
            <a:avLst>
              <a:gd name="adj" fmla="val 5854"/>
            </a:avLst>
          </a:prstGeom>
          <a:solidFill>
            <a:srgbClr val="1A2550"/>
          </a:solidFill>
          <a:ln w="6350">
            <a:solidFill>
              <a:srgbClr val="D1D9FF"/>
            </a:solidFill>
            <a:prstDash val="solid"/>
          </a:ln>
          <a:effectLst>
            <a:outerShdw sx="100000" sy="100000" kx="0" ky="0" algn="bl" rotWithShape="0" blurRad="101600" dist="25400" dir="2700000">
              <a:srgbClr val="000000">
                <a:alpha val="9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4965192" y="3081528"/>
            <a:ext cx="2560320" cy="237744"/>
          </a:xfrm>
          <a:prstGeom prst="roundRect">
            <a:avLst>
              <a:gd name="adj" fmla="val 23077"/>
            </a:avLst>
          </a:prstGeom>
          <a:solidFill>
            <a:srgbClr val="8E44AD"/>
          </a:solidFill>
          <a:ln/>
        </p:spPr>
      </p:sp>
      <p:sp>
        <p:nvSpPr>
          <p:cNvPr id="20" name="Text 18"/>
          <p:cNvSpPr/>
          <p:nvPr/>
        </p:nvSpPr>
        <p:spPr>
          <a:xfrm>
            <a:off x="4965192" y="3081528"/>
            <a:ext cx="2560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12–24 months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4965192" y="3392424"/>
            <a:ext cx="3794760" cy="1389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AABCEE"/>
                </a:solidFill>
              </a:rPr>
              <a:t>Build a full source generator: IIncrementalGenerator generating repository code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AABCEE"/>
                </a:solidFill>
              </a:rPr>
              <a:t>Architect and build a SaaS product — deploy to Azure, real users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AABCEE"/>
                </a:solidFill>
              </a:rPr>
              <a:t>Study TOGAF basics — understand enterprise architecture language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AABCEE"/>
                </a:solidFill>
              </a:rPr>
              <a:t>Write an Intent Architect module for your team's architecture pattern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AABCEE"/>
                </a:solidFill>
              </a:rPr>
              <a:t>Target: be the person your team calls for architecture decisions</a:t>
            </a:r>
            <a:endParaRPr lang="en-US" sz="95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7F9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182880"/>
            <a:ext cx="1828800" cy="237744"/>
          </a:xfrm>
          <a:prstGeom prst="roundRect">
            <a:avLst>
              <a:gd name="adj" fmla="val 50000"/>
            </a:avLst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"/>
            <a:ext cx="1828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REFERENCE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457200" y="438912"/>
            <a:ext cx="8412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Master reference: terms, tools &amp; certifications</a:t>
            </a:r>
            <a:endParaRPr lang="en-US" sz="2100" dirty="0"/>
          </a:p>
        </p:txBody>
      </p:sp>
      <p:graphicFrame>
        <p:nvGraphicFramePr>
          <p:cNvPr id="2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005840"/>
          <a:ext cx="8458200" cy="3977640"/>
        </p:xfrm>
        <a:graphic>
          <a:graphicData uri="http://schemas.openxmlformats.org/drawingml/2006/table">
            <a:tbl>
              <a:tblPr/>
              <a:tblGrid>
                <a:gridCol w="2011680"/>
                <a:gridCol w="3931920"/>
                <a:gridCol w="2514600"/>
              </a:tblGrid>
              <a:tr h="26060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</a:rPr>
                        <a:t>Term / Tool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</a:rPr>
                        <a:t>What it is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</a:rPr>
                        <a:t>Role / Context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</a:tr>
              <a:tr h="26060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A1A2E"/>
                          </a:solidFill>
                        </a:rPr>
                        <a:t>Roslyn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A1A2E"/>
                          </a:solidFill>
                        </a:rPr>
                        <a:t>C# compiler API — parse, analyse, transform code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A1A2E"/>
                          </a:solidFill>
                        </a:rPr>
                        <a:t>Tool builder, advanced senior dev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6060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A1A2E"/>
                          </a:solidFill>
                        </a:rPr>
                        <a:t>Source generator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A1A2E"/>
                          </a:solidFill>
                        </a:rPr>
                        <a:t>IIncrementalGenerator — emit .cs files at compile time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A1A2E"/>
                          </a:solidFill>
                        </a:rPr>
                        <a:t>Tool builder, framework dev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F"/>
                    </a:solidFill>
                  </a:tcPr>
                </a:tc>
              </a:tr>
              <a:tr h="26060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A1A2E"/>
                          </a:solidFill>
                        </a:rPr>
                        <a:t>NetArchTest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A1A2E"/>
                          </a:solidFill>
                        </a:rPr>
                        <a:t>Assert architecture rules as unit tests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A1A2E"/>
                          </a:solidFill>
                        </a:rPr>
                        <a:t>Senior dev, SA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6060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A1A2E"/>
                          </a:solidFill>
                        </a:rPr>
                        <a:t>Structurizr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A1A2E"/>
                          </a:solidFill>
                        </a:rPr>
                        <a:t>C4 model DSL + rendering tool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A1A2E"/>
                          </a:solidFill>
                        </a:rPr>
                        <a:t>SA, EA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F"/>
                    </a:solidFill>
                  </a:tcPr>
                </a:tc>
              </a:tr>
              <a:tr h="26060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A1A2E"/>
                          </a:solidFill>
                        </a:rPr>
                        <a:t>TOGAF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A1A2E"/>
                          </a:solidFill>
                        </a:rPr>
                        <a:t>Enterprise Architecture framework (cert: TOGAF 10)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A1A2E"/>
                          </a:solidFill>
                        </a:rPr>
                        <a:t>EA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6060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A1A2E"/>
                          </a:solidFill>
                        </a:rPr>
                        <a:t>ArchiMate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A1A2E"/>
                          </a:solidFill>
                        </a:rPr>
                        <a:t>Modelling language for EA (like UML for enterprises)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A1A2E"/>
                          </a:solidFill>
                        </a:rPr>
                        <a:t>EA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F"/>
                    </a:solidFill>
                  </a:tcPr>
                </a:tc>
              </a:tr>
              <a:tr h="26060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A1A2E"/>
                          </a:solidFill>
                        </a:rPr>
                        <a:t>AZ-204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A1A2E"/>
                          </a:solidFill>
                        </a:rPr>
                        <a:t>Azure Developer Associate certification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A1A2E"/>
                          </a:solidFill>
                        </a:rPr>
                        <a:t>Mid–Senior dev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6060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A1A2E"/>
                          </a:solidFill>
                        </a:rPr>
                        <a:t>AZ-305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A1A2E"/>
                          </a:solidFill>
                        </a:rPr>
                        <a:t>Azure Solutions Architect Expert certification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A1A2E"/>
                          </a:solidFill>
                        </a:rPr>
                        <a:t>Solutions Architect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F"/>
                    </a:solidFill>
                  </a:tcPr>
                </a:tc>
              </a:tr>
              <a:tr h="26060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A1A2E"/>
                          </a:solidFill>
                        </a:rPr>
                        <a:t>AZ-400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A1A2E"/>
                          </a:solidFill>
                        </a:rPr>
                        <a:t>Azure DevOps Engineer Expert certification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A1A2E"/>
                          </a:solidFill>
                        </a:rPr>
                        <a:t>DevOps engineer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6060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A1A2E"/>
                          </a:solidFill>
                        </a:rPr>
                        <a:t>ADR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A1A2E"/>
                          </a:solidFill>
                        </a:rPr>
                        <a:t>Architecture Decision Record — documents why, not what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A1A2E"/>
                          </a:solidFill>
                        </a:rPr>
                        <a:t>SA, EA, any senior dev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F"/>
                    </a:solidFill>
                  </a:tcPr>
                </a:tc>
              </a:tr>
              <a:tr h="26060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A1A2E"/>
                          </a:solidFill>
                        </a:rPr>
                        <a:t>STRIDE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A1A2E"/>
                          </a:solidFill>
                        </a:rPr>
                        <a:t>Threat modelling: Spoofing, Tampering, Repudiation, Info Disclosure, DoS, Elevation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A1A2E"/>
                          </a:solidFill>
                        </a:rPr>
                        <a:t>SA, security engineer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6060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A1A2E"/>
                          </a:solidFill>
                        </a:rPr>
                        <a:t>Intent Architect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A1A2E"/>
                          </a:solidFill>
                        </a:rPr>
                        <a:t>Architecture-centric AI code automation platform for .NET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A1A2E"/>
                          </a:solidFill>
                        </a:rPr>
                        <a:t>All roles — learn to use it early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F"/>
                    </a:solidFill>
                  </a:tcPr>
                </a:tc>
              </a:tr>
              <a:tr h="26060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A1A2E"/>
                          </a:solidFill>
                        </a:rPr>
                        <a:t>Polly v8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A1A2E"/>
                          </a:solidFill>
                        </a:rPr>
                        <a:t>Resilience pipelines: retry, circuit breaker, timeout, hedge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A1A2E"/>
                          </a:solidFill>
                        </a:rPr>
                        <a:t>Senior dev, SA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6060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A1A2E"/>
                          </a:solidFill>
                        </a:rPr>
                        <a:t>OpenTelemetry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A1A2E"/>
                          </a:solidFill>
                        </a:rPr>
                        <a:t>Vendor-neutral observability: traces, metrics, logs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A1A2E"/>
                          </a:solidFill>
                        </a:rPr>
                        <a:t>Senior dev, DevOps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28</Slides>
  <Notes>28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28</vt:i4>
      </vt:variant>
    </vt:vector>
  </HeadingPairs>
  <TitlesOfParts>
    <vt:vector size="3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.NET Developer to Architect — Complete Reference</dc:title>
  <dc:subject>PptxGenJS Presentation</dc:subject>
  <dc:creator>PptxGenJS</dc:creator>
  <cp:lastModifiedBy>PptxGenJS</cp:lastModifiedBy>
  <cp:revision>1</cp:revision>
  <dcterms:created xsi:type="dcterms:W3CDTF">2026-06-11T06:01:59Z</dcterms:created>
  <dcterms:modified xsi:type="dcterms:W3CDTF">2026-06-11T06:01:59Z</dcterms:modified>
</cp:coreProperties>
</file>