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3A4F9B">
              <a:alpha val="30000"/>
            </a:srgbClr>
          </a:solidFill>
          <a:ln w="12700">
            <a:solidFill>
              <a:srgbClr val="3A4F9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3A4F9B">
              <a:alpha val="25000"/>
            </a:srgbClr>
          </a:solidFill>
          <a:ln w="12700">
            <a:solidFill>
              <a:srgbClr val="3A4F9B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Developer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Architect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Reference — C# · Azure · System Design · Multi-tenancy · Microservices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2004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Topics covered: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A94C8"/>
                </a:solidFill>
              </a:rPr>
              <a:t>Local dev  ·  Git  ·  CI/CD pipelines  ·  Security &amp; JWT  ·  Azure infra  ·  Redis / Service Bus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A94C8"/>
                </a:solidFill>
              </a:rPr>
              <a:t>AKS / Kubernetes  ·  System architecture  ·  Multi-tenancy  ·  Microservices  ·  DDD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Bongani Nyoni  ·  Senior .NET Developer  ·  CPUT BEng Tech Honours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stack: from code to production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C8"/>
                </a:solidFill>
              </a:rPr>
              <a:t>Every layer sits on top of an architectural decision made before any code was written.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FF1F2"/>
          </a:solidFill>
          <a:ln w="889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1430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0 — Architecture &amp; design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1430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Decisions before code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09344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 w="889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093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1 — Local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60934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.sln / CQRS / Docker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 w="889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7568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2 — Source control (Git)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20756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Branches / PRs / tags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E8ECFF"/>
          </a:solidFill>
          <a:ln w="8890">
            <a:solidFill>
              <a:srgbClr val="3A4F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3 — CI/CD 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5420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Build · test · deploy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E8ECFF"/>
          </a:solidFill>
          <a:ln w="8890">
            <a:solidFill>
              <a:srgbClr val="3A4F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00837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4 — Security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0083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JWT · AD · Key Vault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E6FAFA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4747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5 — Azure infrastructure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4747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App Svc · AKS · APIM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41064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E6FAFA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94106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6 — Runtime services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9410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Redis · Service Bus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407408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E8F8F0"/>
          </a:solidFill>
          <a:ln w="889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440740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7 — Data layer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44074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SQL · Cosmos · Blob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1 —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development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252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C# project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581912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.sln groups multiple .csproj files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Each .csproj = one assembly/NuGet package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Properties set target framework, nullable, etc.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appsettings.json holds config (never secrets)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1252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Clean architecture layers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65192" y="1581912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Domain — entities, value objects, no dependencies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Application — use cases, CQRS commands/queries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Infrastructure — EF Core, repos, HTTP clients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API — controllers, middleware, DI registration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1729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CQRS + MediatR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3502152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Commands mutate state; queries read state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IRequest&lt;T&gt; + IRequestHandler&lt;T&gt; per use case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Pipeline behaviours = cross-cutting (logging, validation)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Avoids fat service classes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30632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65192" y="31729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Docker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65192" y="3502152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Dockerfile = recipe to build an image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Multi-stage: build stage + runtime stage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docker-compose for local multi-service setup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EXPOSE, ENV, ENTRYPOINT are the key instructions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LAYERS 2 &amp;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CI/CD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261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Git workflow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627632"/>
            <a:ext cx="3611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main branch = production; never push directly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feature/* branches per ticket/task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Pull request → code review → merge gate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Branch protection: require 1 review + CI pass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.gitignore: exclude bin/, obj/, *.user, appsettings.*.json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NEVER commit secrets — use dotnet user-secrets locally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Tag releases with semver: v1.2.3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Commit message convention: feat/fix/chore/refactor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3434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36592" y="12618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Pipeline stages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36592" y="1673352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16733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21808" y="168249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Build &amp; test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76288" y="168249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dotnet restore → build → test → coverage gate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36592" y="2185416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736592" y="218541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SCAN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21808" y="21945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Quality gates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76288" y="219456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SAST (SonarQube), dependency scan, secret scan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36592" y="269748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736592" y="26974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IMG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21808" y="270662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Docker image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76288" y="2706624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Multi-stage build → tag → push to ACR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320954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32095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DEV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21808" y="321868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Deploy to dev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76288" y="321868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Auto on merge to dev branch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372160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736592" y="37216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21808" y="37307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Deploy to staging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76288" y="3730752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Manual approval gate before this step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36592" y="4233672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42336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21808" y="424281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Deploy to prod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76288" y="424281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Manual approval + change record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4 —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identity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JWT token anatomy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581912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Header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alg (RS256/HS256) + typ (JWT)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Payload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sub, iss, aud, exp, iat — plus custom claims (roles, tenantId)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Signature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A94C8"/>
                </a:solidFill>
              </a:rPr>
              <a:t>HMACSHA256(base64(header)+'.'+base64(payload), secret)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73168" y="1115568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OAuth 2.0 flows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581912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Auth Code + PKCE — user-facing apps (web/mobile)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Client Credentials — service-to-service (no user)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Azure AD issues tokens; your API validates them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SecurityTokenHandler reads JWKS endpoint from 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2186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Azure AD / Entra 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3529584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App Registration = identity for your app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Client ID + tenant ID are public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Client secret / cert are PRIVATE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Expose API scopes; grant permissions in manifest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37560" y="3127248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02152" y="32186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Key Vault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02152" y="3529584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Stores secrets, certs, encryption keys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Managed Identity = no stored credentials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Reference: @Microsoft.KeyVault(...)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Rotate secrets without redeploying app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3127248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82512" y="32186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RBAC + scopes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2512" y="3529584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Roles in Azure AD App Manifest (roles claim)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Scopes for fine-grained API permission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Check in controllers: User.IsInRole()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Row-level: filter every query by TenantId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5 — INFRA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infrastructure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527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API Gateway (APIM)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4871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Single entry point for all APIs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Policies: auth, throttling, transform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Versioning /v1/ /v2/ per product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Developer portal auto-generated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2527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App Service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600200"/>
            <a:ext cx="24871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PaaS — Microsoft manages the OS/runtime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Deployment slots: swap staging → prod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Scale out: add instances; scale up: bigger VM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Config: App Settings linked to Key Vault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14300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2527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AKS (Kubernetes)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600200"/>
            <a:ext cx="24871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Pods = running containers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Deployment = desired state (3 replicas)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Service = stable network endpoint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Ingress = HTTP routing + TLS termination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HPA = auto-scale on CPU/memory/custom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21868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Container Apps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24871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Serverless containers (no node management)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Scale to zero — pay per request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Built-in Dapr support for microservices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Good for background jobs and APIs with variable load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37560" y="310896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0" y="321868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VNet + private endpoints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566160"/>
            <a:ext cx="24871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VNet isolates your resources from internet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Subnets segment traffic by trust zone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Private Endpoint = service accessible only on VNet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NSG = firewall rules per subnet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310896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321868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IaC: Bicep / Terraform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3566160"/>
            <a:ext cx="24871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Infrastructure as code = versioned like app code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Bicep is Azure-native; Terraform is multi-cloud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Declare desired state; tool diffs and applies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Store state in Azure Storage / Terraform Cloud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LAYERS 6 &amp;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services &amp; data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2252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Redis Cache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572768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IDistributedCache in .NET — plug-and-play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Cache-aside: check cache → miss → fetch DB → store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Set expiry (TTL) — stale data is a real risk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Also used for: distributed sessions, pub/sub, rate limiting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11556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12252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Azure Service Bus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65192" y="1572768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Queues: one consumer per message (point-to-point)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Topics + subscriptions: one message → many consumers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Dead-letter queue (DLQ): poison messages land here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Ideal for: order processing, async notifications, decoupling services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1638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App Insights / Monitor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3511296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Distributed tracing: trace requests across services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Structured logging: ILogger + Serilog → Log Analytics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Alerts: anomaly detection, threshold alerts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Live Metrics: real-time request rate, failure rate, latency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305409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65192" y="31638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Azure Functions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65192" y="3511296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Serverless — no server to manage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Triggers: HTTP, Service Bus, Timer, Blob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Use for: scheduled jobs, event processing, lightweight APIs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Durable Functions for multi-step orchestration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0 —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C8"/>
                </a:solidFill>
              </a:rPr>
              <a:t>The decisions made before a line of code is written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81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Architectural trade-offs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Scalability vs simplicity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Consistency vs availability (CAP theorem)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Coupling vs cohesion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Build vs buy vs use a managed service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1481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Non-functional requirements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5192" y="182880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Latency SLA (p95 &lt; 200ms?)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Availability target (99.9% = 8.7 hrs downtime/yr)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RTO / RPO for disaster recovery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Compliance: GDPR, POPIA, PCI-DSS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33558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Architectural patterns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370332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Layered (N-tier) — separation of concerns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Event-driven — loose coupling via messages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CQRS + Event Sourcing — audit trail + scale reads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Hexagonal (ports &amp; adapters) — testable 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324612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65192" y="33558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Key documents an architect owns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5192" y="370332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Architecture Decision Records (ADRs)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C4 model diagrams (Context → Container → Component)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Sequence diagrams for critical flows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Data flow + trust boundary diagrams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 DECISION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 vs microservices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393192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887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Modular monolith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1581912"/>
            <a:ext cx="3611880" cy="256032"/>
          </a:xfrm>
          <a:prstGeom prst="roundRect">
            <a:avLst>
              <a:gd name="adj" fmla="val 21429"/>
            </a:avLst>
          </a:prstGeom>
          <a:solidFill>
            <a:srgbClr val="2ECC71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819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Start here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892808"/>
            <a:ext cx="3611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One deployable unit — one pipeline, one release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Modules are logical, not network, boundaries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Shared database: simpler transactions (ACID)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Easier to debug — one log stream, one trace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Refactor to services later when you have proof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Wrong time to split: when it feels complex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Right time to split: different teams, different scale needs, different release cadences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078992"/>
            <a:ext cx="434340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6592" y="11887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Microservices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36592" y="1581912"/>
            <a:ext cx="3977640" cy="256032"/>
          </a:xfrm>
          <a:prstGeom prst="roundRect">
            <a:avLst>
              <a:gd name="adj" fmla="val 21429"/>
            </a:avLst>
          </a:prstGeom>
          <a:solidFill>
            <a:srgbClr val="F39C12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15819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</a:rPr>
              <a:t>Justify before adopting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36592" y="1892808"/>
            <a:ext cx="3977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Each service: owns its data, has its own DB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Communicate via HTTP/gRPC or Service Bus events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Deploy and scale independently per service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Requires: service discovery, distributed tracing, eventual consistency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Each service needs its own CI/CD pipeline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Network failures are a new failure mode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Bounded contexts (DDD) define the split boundaries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 DECISION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C8"/>
                </a:solidFill>
              </a:rPr>
              <a:t>A tenant is an organisation or customer. How you isolate their data is a security and commercial decision.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99616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9961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Silo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84708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DB per tenant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2112264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Pros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2322576"/>
            <a:ext cx="2423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Maximum data isolation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Easy compliance (GDPR, POPIA)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Breach affects one tenant only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Independent backup &amp; restore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1792" y="328269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</a:rPr>
              <a:t>Cons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" y="349300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Highest infra cost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Harder to query across tenants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Schema migrations run N times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" y="4187952"/>
            <a:ext cx="2423160" cy="566928"/>
          </a:xfrm>
          <a:prstGeom prst="roundRect">
            <a:avLst>
              <a:gd name="adj" fmla="val 9677"/>
            </a:avLst>
          </a:prstGeom>
          <a:solidFill>
            <a:srgbClr val="0D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97096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C8"/>
                </a:solidFill>
              </a:rPr>
              <a:t>Use when: Transfer Agency, healthcare, legal, high-compliance SaaS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37560" y="1389888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02152" y="1499616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502152" y="149961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Pool 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02152" y="184708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Shared DB + TenantId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02152" y="2112264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Pros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02152" y="2322576"/>
            <a:ext cx="2423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Lowest cost (dense packing)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Single migration to run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Easy cross-tenant reporting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02152" y="328269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</a:rPr>
              <a:t>Cons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02152" y="349300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Noisy neighbour risk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Missing WHERE = data leak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RLS required for safety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02152" y="4187952"/>
            <a:ext cx="2423160" cy="566928"/>
          </a:xfrm>
          <a:prstGeom prst="roundRect">
            <a:avLst>
              <a:gd name="adj" fmla="val 9677"/>
            </a:avLst>
          </a:prstGeom>
          <a:solidFill>
            <a:srgbClr val="0D1B4B"/>
          </a:solidFill>
          <a:ln/>
        </p:spPr>
      </p:sp>
      <p:sp>
        <p:nvSpPr>
          <p:cNvPr id="25" name="Text 23"/>
          <p:cNvSpPr/>
          <p:nvPr/>
        </p:nvSpPr>
        <p:spPr>
          <a:xfrm>
            <a:off x="3538728" y="4197096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C8"/>
                </a:solidFill>
              </a:rPr>
              <a:t>Use when: SMB SaaS, internal tooling, low-sensitivity data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1389888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82512" y="1499616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3A4F9B"/>
          </a:solidFill>
          <a:ln/>
        </p:spPr>
      </p:sp>
      <p:sp>
        <p:nvSpPr>
          <p:cNvPr id="28" name="Text 26"/>
          <p:cNvSpPr/>
          <p:nvPr/>
        </p:nvSpPr>
        <p:spPr>
          <a:xfrm>
            <a:off x="6382512" y="149961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Bridge / hybrid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82512" y="184708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Shared compute, separate DBs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82512" y="2112264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Pros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82512" y="2322576"/>
            <a:ext cx="2423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Cost-efficient compute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DB-level isolation (no RLS risk)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Balance of cost vs compliance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82512" y="328269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</a:rPr>
              <a:t>Cons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82512" y="349300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Connection string management grows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Connection pool overhead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82512" y="4187952"/>
            <a:ext cx="2423160" cy="566928"/>
          </a:xfrm>
          <a:prstGeom prst="roundRect">
            <a:avLst>
              <a:gd name="adj" fmla="val 9677"/>
            </a:avLst>
          </a:prstGeom>
          <a:solidFill>
            <a:srgbClr val="0D1B4B"/>
          </a:solidFill>
          <a:ln/>
        </p:spPr>
      </p:sp>
      <p:sp>
        <p:nvSpPr>
          <p:cNvPr id="35" name="Text 33"/>
          <p:cNvSpPr/>
          <p:nvPr/>
        </p:nvSpPr>
        <p:spPr>
          <a:xfrm>
            <a:off x="6419088" y="4197096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C8"/>
                </a:solidFill>
              </a:rPr>
              <a:t>Use when: Most common modern SaaS pattern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DESIGN PATTERNS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DDD, bounded contexts &amp; CQRS at scale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88720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Domain-driven design (DDD)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572768"/>
            <a:ext cx="37947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Ubiquitous language: code uses the same words as the business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Bounded context: "Order" means different things in Billing vs Fulfilment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Entity: has identity (UserId) — same object over 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Value object: no identity (Money) — defined by its value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Aggregate: consistency boundary — one repo per aggregate root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Domain events: OrderPlaced, PaymentReceived — facts that happened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Anti-corruption layer: translates between bounded contexts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Bounded contexts map 1:1 to microservices when you split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73168" y="1078992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88720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CQRS at the system level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572768"/>
            <a:ext cx="37947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Write side: normalised SQL (EF Core + commands)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Read side: denormalised projections (Redis / read DB)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Event sourcing: store events not current state → full audit trail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Projection: rebuild read model by replaying events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Eventual consistency: read model lags slightly behind write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Good for: high read throughput, complex reporting, audit requirements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Your Transfer Agency codebase already uses this pattern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Scale reads independently from writes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Synchronous vs asynchronous communication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887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Synchronous (HTTP / gRPC)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554480"/>
            <a:ext cx="3611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Caller blocks waiting for response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Use for: queries, real-time user-facing requests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Risk: downstream failure = upstream failure (cascade)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Mitigate with: circuit breaker (Polly), retry with backoff, timeout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gRPC: binary, faster than JSON, good for internal services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078992"/>
            <a:ext cx="4343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36592" y="1188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Asynchronous (Service Bus / events)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36592" y="155448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Caller fires message and moves on immediately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Use for: notifications, background jobs, decoupling services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OrderPlaced event → Inventory + Email + Analytics subscribe independently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Services don't know about each other — only about the event schema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Failure: message sits in queue / DLQ for retry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4582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538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API design principles (REST)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3895344"/>
            <a:ext cx="8138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Nouns not verbs: /orders not /getOrders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HTTP verbs carry meaning: GET (idempotent read), POST (create), PUT (full update), PATCH (partial), DELETE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Versioning: /api/v1/ in path or Accept: application/vnd.api+v1+json header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Consistent error shape: { type, title, status, detail, traceId }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Pagination: cursor-based or skip/take with total count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Idempotency keys for POST — safe to retry without duplicate side effects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STUDY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path to architect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188720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188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 — Foundation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71800" y="1188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Weeks 1–4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50876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Security + identity: Azure AD, JWT, OAuth 2.0, Managed Identity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Docker fundamentals: build, tag, push, compose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Git discipline: branching, PRs, protection rules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Clean architecture: rework one module in your codebase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1188720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1188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 — Infrastructure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1188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Weeks 5–8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65192" y="150876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CI/CD pipeline: build one in Azure DevOps or GitHub Actions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AKS: deploy a .NET app with Deployment + Service + Ingress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Key Vault + Managed Identity wired to a real app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App Insights: distributed tracing across 2 services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044952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3154680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3A4F9B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154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 — System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71800" y="31546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Weeks 9–14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" y="347472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Multi-tenancy: implement pool model with RLS on one schema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CQRS at system level: separate read/write stores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Service Bus: OrderPlaced → 2 subscribers pattern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DDD: map one bounded context in your Transfer Agency codebase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3044952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3154680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2ECC71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3154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 — Architecture thinking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31546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Ongoing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65192" y="347472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Read: Designing Data-Intensive Applications (Kleppmann)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Read: Azure Architecture Center patterns (free, learn.microsoft.com)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Write an ADR for a real decision at work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A94C8"/>
                </a:solidFill>
              </a:rPr>
              <a:t>System design interview prep: Alex Xu Vol 1 + 2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cheat sheet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458200" cy="388620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  <a:gridCol w="306324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Where it appears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JWT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Signed JSON token proving identity/claims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Auth header: Bearer &lt;token&gt;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Managed Identity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Azure auto-manages credentials — no secrets stored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Key Vault, SQL, Storage access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APIM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API Gateway: route, auth, throttle, version APIs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Layer before all backend services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ACR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Azure Container Registry — private Docker image store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CI/CD pushes here; AKS pulls from here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HPA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Horizontal Pod Autoscaler — adds pods under load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AKS scaling config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DLQ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Dead Letter Queue — failed messages land here for inspection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Service Bus troubleshooting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ADR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Architecture Decision Record — documents WHY a decision was made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Architect's primary artefact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RLS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Row-Level Security — DB enforces tenant filter at engine level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Pool-model multi-tenancy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Bounded context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DDD term: subsystem with its own model and language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Maps to a microservice boundary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C4 model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4-level diagram: Context → Container → Component → Code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Architecture documentation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Polly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.NET resilience library: retry, circuit breaker, timeout, bulkhead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HTTP/gRPC client configuration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Developer to Architect — Study Reference</dc:title>
  <dc:subject>PptxGenJS Presentation</dc:subject>
  <dc:creator>Bongani Nyoni</dc:creator>
  <cp:lastModifiedBy>Bongani Nyoni</cp:lastModifiedBy>
  <cp:revision>1</cp:revision>
  <dcterms:created xsi:type="dcterms:W3CDTF">2026-06-11T05:45:44Z</dcterms:created>
  <dcterms:modified xsi:type="dcterms:W3CDTF">2026-06-11T05:45:44Z</dcterms:modified>
</cp:coreProperties>
</file>