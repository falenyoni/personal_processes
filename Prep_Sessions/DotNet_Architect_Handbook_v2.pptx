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3A4F9B">
              <a:alpha val="28000"/>
            </a:srgbClr>
          </a:solidFill>
          <a:ln w="12700">
            <a:solidFill>
              <a:srgbClr val="3A4F9B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3017520"/>
            <a:ext cx="3474720" cy="3474720"/>
          </a:xfrm>
          <a:prstGeom prst="ellipse">
            <a:avLst/>
          </a:prstGeom>
          <a:solidFill>
            <a:srgbClr val="3A4F9B">
              <a:alpha val="24000"/>
            </a:srgbClr>
          </a:solidFill>
          <a:ln w="12700">
            <a:solidFill>
              <a:srgbClr val="3A4F9B">
                <a:alpha val="2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.NET Developer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Enterprise Architect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4C8"/>
                </a:solidFill>
              </a:rPr>
              <a:t>The Complete Handbook — Career Roadmap · Study Guide · Interview Prep · Architecture Reference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365760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70048"/>
            <a:ext cx="822960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35 sections covering: </a:t>
            </a:r>
            <a:pPr indent="0" marL="0">
              <a:buNone/>
            </a:pPr>
            <a:r>
              <a:rPr lang="en-US" sz="1050" dirty="0">
                <a:solidFill>
                  <a:srgbClr val="8A94C8"/>
                </a:solidFill>
              </a:rPr>
              <a:t>CS Fundamentals · C# from scratch · OOP · SOLID · Patterns · Async · EF Core · Clean Architecture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8A94C8"/>
                </a:solidFill>
              </a:rPr>
              <a:t>CQRS · DDD · Testing · Git · CI/CD · Docker · Kubernetes · Azure · Security · JWT · Redis · Service Bus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8A94C8"/>
                </a:solidFill>
              </a:rPr>
              <a:t>System Design · Multi-tenancy · Microservices · Observability · DevOps · SA · EA · Intent Architect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C8"/>
                </a:solidFill>
              </a:rPr>
              <a:t>Bongani Nyoni  ·  Senior .NET Developer  ·  CPUT BEng Tech Honours  ·  Ikamva Tech Lab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011680" cy="246888"/>
          </a:xfrm>
          <a:prstGeom prst="roundRect">
            <a:avLst>
              <a:gd name="adj" fmla="val 48148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MASTER FLOW 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everything fits: code to production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Every stage below is covered in this deck. Tap any stage to understand it in detail.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3A4F9B">
              <a:alpha val="80000"/>
            </a:srgbClr>
          </a:solidFill>
          <a:ln w="10160">
            <a:solidFill>
              <a:srgbClr val="3A4F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4241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C# Code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Clean Arch + CQRS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11680" y="98755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0D9488">
              <a:alpha val="80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04241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Git + PR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14630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Branch → Review → Merge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0" y="98755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8E44AD">
              <a:alpha val="80000"/>
            </a:srgbClr>
          </a:solidFill>
          <a:ln w="10160">
            <a:solidFill>
              <a:srgbClr val="8E44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04241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CI Pipeline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14630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Build · Test · Scan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303520" y="98755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F39C12">
              <a:alpha val="80000"/>
            </a:srgbClr>
          </a:solidFill>
          <a:ln w="1016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104241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Docker Image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0" y="14630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Multi-stage build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49440" y="98755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F96167">
              <a:alpha val="80000"/>
            </a:srgbClr>
          </a:solidFill>
          <a:ln w="1016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104241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Container Registry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49440" y="14630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ACR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208483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8E44AD">
              <a:alpha val="80000"/>
            </a:srgbClr>
          </a:solidFill>
          <a:ln w="10160">
            <a:solidFill>
              <a:srgbClr val="8E44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13969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CD Pipeline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5603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Dev → Staging → Prod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011680" y="208483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1E2761">
              <a:alpha val="80000"/>
            </a:srgbClr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213969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AKS / App Service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11680" y="25603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Pods · Ingress · HPA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0" y="208483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0D9488">
              <a:alpha val="80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213969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API Management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0" y="25603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Gateway · Auth · Throttle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303520" y="208483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F96167">
              <a:alpha val="80000"/>
            </a:srgbClr>
          </a:solidFill>
          <a:ln w="10160">
            <a:solidFill>
              <a:srgbClr val="F961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213969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Security Layer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25603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JWT · AD · Key Vault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949440" y="208483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3A4F9B">
              <a:alpha val="80000"/>
            </a:srgbClr>
          </a:solidFill>
          <a:ln w="10160">
            <a:solidFill>
              <a:srgbClr val="3A4F9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213969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Azure Services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0" y="25603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Bus · Redis · Blob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318211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27AE60">
              <a:alpha val="80000"/>
            </a:srgbClr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23697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Azure SQL / Cosmos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365760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Data layer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11680" y="318211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F39C12">
              <a:alpha val="80000"/>
            </a:srgbClr>
          </a:solidFill>
          <a:ln w="10160">
            <a:solidFill>
              <a:srgbClr val="F39C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11680" y="323697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Redis Cache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011680" y="365760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Cache-aside · TTL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0" y="318211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8E44AD">
              <a:alpha val="80000"/>
            </a:srgbClr>
          </a:solidFill>
          <a:ln w="10160">
            <a:solidFill>
              <a:srgbClr val="8E44A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0" y="323697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Service Bus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0" y="365760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Queues · Topics · DLQ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303520" y="318211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0D9488">
              <a:alpha val="80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323697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 Insights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303520" y="365760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Traces · Logs · Alerts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949440" y="318211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F96167">
              <a:alpha val="80000"/>
            </a:srgbClr>
          </a:solidFill>
          <a:ln w="10160">
            <a:solidFill>
              <a:srgbClr val="F9616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49440" y="323697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949440" y="365760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Monitor · Support · SRE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57200" y="435254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4C8"/>
                </a:solidFill>
              </a:rPr>
              <a:t>↓ Architecture decision sits above everything — it determines what this diagram looks like ↓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029200" cy="5029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 Fundamentals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6334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4C8"/>
                </a:solidFill>
              </a:rPr>
              <a:t>Algorithms · Data Structures · Big O · Where they matter in enterprise .NET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19456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CS FUNDAMENTALS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&amp; Big O notation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Big O describes how an algorithm's time or memory grows as input grows. Knowing this prevents production performance disasters.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Big O — the 6 you must know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1444752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44475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O(1)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43584" y="14630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Constant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43584" y="16459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Dictionary lookup, array index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79776" y="1517904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Lightning fast — no matter how big the data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1792" y="1956816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195681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O(log n)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243584" y="19751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Logarithmic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43584" y="215798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Binary search, balanced BST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79776" y="2029968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Doubles input = one extra step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" y="2468880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246888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O(n)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243584" y="24871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Linear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43584" y="26700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LINQ .Where(), List.Contains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79776" y="2542032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One step per element — scales with data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21792" y="2980944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2980944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O(n log n)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243584" y="299923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Linearithmic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43584" y="318211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Sorting (LINQ .OrderBy())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79776" y="3054096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Very acceptable for sorting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1792" y="3493008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F96167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" y="349300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O(n²)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243584" y="35112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Quadratic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243584" y="369417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Nested foreach loops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779776" y="356616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Avoid — 1000 items = 1M operations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21792" y="4005072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F96167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" y="400507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O(2ⁿ)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243584" y="40233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Exponential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243584" y="42062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Naive recursive Fibonacci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79776" y="4078224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Never in production code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Data structures — choose wisely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937760" y="141732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Wrong collection = hidden O(n²) in production. Choose based on your dominant operation.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37760" y="17099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Array / List&lt;T&gt;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37760" y="19110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Get O(1) · Add O(1)* · Insert O(n)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821424" y="170992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Ordered sequence, index access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37760" y="21671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Dictionary&lt;K,V&gt;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37760" y="23682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Get/Set/Contains O(1)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821424" y="216712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Lookup by key — use for caches, lookups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37760" y="2624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HashSet&lt;T&gt;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937760" y="28254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Contains O(1) · Add O(1)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21424" y="262432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Unique values, fast membership test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37760" y="30815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SortedDictionary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937760" y="32826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Get O(log n) · Iterate sorted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821424" y="308152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Need sorted keys — e.g. priority queues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37760" y="35387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LinkedList&lt;T&gt;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937760" y="37398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Insert/Delete O(1) with ref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821424" y="353872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Frequent middle insertions/deletions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37760" y="39959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Queue&lt;T&gt;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937760" y="41970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Enqueue/Dequeue O(1)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821424" y="399592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FIFO processing — background job queues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37760" y="44531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Stack&lt;T&gt;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937760" y="46542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Push/Pop O(1)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821424" y="445312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LIFO — undo systems, expression parsing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37760" y="4773168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Where Big O matters in enterprise 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A4F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029200" cy="5029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 Fundamentals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6334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4C8"/>
                </a:solidFill>
              </a:rPr>
              <a:t>Types · Memory · OOP · SOLID · Async · LINQ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19456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C# TYPES &amp; MEMORY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types, reference types &amp; memory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Understanding stack vs heap prevents memory leaks, boxing overhead, and subtle bugs in high-throughput .NET services.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Stack vs Heap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The stack is fast, auto-cleaned. The heap requires GC. Misusing them causes either GC pressure or stack overflow.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1709928"/>
            <a:ext cx="3767328" cy="1874520"/>
          </a:xfrm>
          <a:prstGeom prst="roundRect">
            <a:avLst>
              <a:gd name="adj" fmla="val 3902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64792"/>
            <a:ext cx="351129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Stack — value types, auto-managed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30;          // 4 bytes on stack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price = 9.99;   // 8 bytes on stack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active = true;    // 1 byte on stack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When method exits, stack frame is popped — instant cleanup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Heap — reference types, GC-managed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customer = new Customer(); // reference on stack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// Customer object on heap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name = "Bongani";       // string is on heap (immutable)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Boxing — value type copied onto heap (AVOID in hot paths)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 boxed = age;  // copies int to heap — GC pressure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unboxed = (int)boxed; // unbox — another copy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Span&lt;T&gt; — stack-allocated slice, ZERO allocation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ReadOnlySpan&lt;char&gt; span = "Hello World".AsSpan();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first = span[..5]; // "Hello" — no heap allocation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" y="3621024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struct = value type on stack; class = reference type on heap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record = immutable reference type with value equality (C#9+)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record struct = immutable value type (C#10+)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IDisposable: deterministic cleanup of unmanaged resources (DB connections, streams)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using statement = guaranteed Dispose() even if exception thrown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GC generations: Gen0 (short-lived), Gen1, Gen2 (long-lived) — avoid Gen2 pressure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Modern C# type features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1417320"/>
            <a:ext cx="3767328" cy="2359152"/>
          </a:xfrm>
          <a:prstGeom prst="roundRect">
            <a:avLst>
              <a:gd name="adj" fmla="val 3101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65776" y="1472184"/>
            <a:ext cx="3511296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Nullable reference types (C#8+) — opt-in null safety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 name  = "Bongani"; // non-nullable — compiler warns if null assigned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 email = null;      // nullable — explicit intent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Records — immutable, value equality, with-expressions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Customer(int Id, string Name, string Email);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c1 = new Customer(1, "Bongani", "b@test.com");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c2 = c1 with { Email = "new@test.com" }; // copy with mutation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Pattern matching (C#9+)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label = order.Status switch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OrderStatus.Pending  =&gt; "Awaiting payment",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OrderStatus.Shipped  =&gt; "On the way",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OrderStatus.Delivered when order.Total &gt; 1000 =&gt; "VIP delivered",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 =&gt; "Unknown"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Init-only properties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Order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int Id    { get; init; } // settable only in constructor/object init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decimal Total { get; init;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37760" y="381304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var = compile-time type inference — not dynamic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const = compile-time constant; readonly = set once at construction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Nullable types: int? — adds null to any value type — use sparingly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Span&lt;T&gt; and Memory&lt;T&gt;: slice without allocation — essential for performance code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Primary constructors (C#12): class OrderService(IOrderRepository repo)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194560" cy="246888"/>
          </a:xfrm>
          <a:prstGeom prst="roundRect">
            <a:avLst>
              <a:gd name="adj" fmla="val 48148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OOP — FOUR PILLARS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OOP: the four pillars with explanations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Encapsulation hides state. Abstraction hides complexity. Inheritance shares behaviour. Polymorphism lets one interface serve many types.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Encapsulation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Protect internal state. Only expose what callers need. Prevents your object from being put in an invalid state by outside code.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private fields + public properties — not public fields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private set: read anywhere, write only inside the class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Expose behaviour not data: account.Deposit(100) not account.Balance += 100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Access modifiers: private &lt; protected &lt; internal &lt; public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Benefits: invariants are always maintained; refactor internals without breaking API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Violation: god objects, public fields, anemic domain models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Abstraction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Show only the interface; hide the implementation. You use List&lt;T&gt; without knowing how it resizes internally.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560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interface = pure contract: what, not how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abstract class = partial implementation + forced contract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Program to the abstraction: IOrderRepository not SqlOrderRepository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Benefit: swap implementations without changing callers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Interfaces enable unit testing — inject a fake instead of a real DB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Every dependency should be expressed as an interface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Inheritance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Share code between related types. A child automatically has all members of its parent. Use sparingly — prefer composition.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class Dog : Animal — Dog IS-A Animal; gets all Animal members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virtual + override: child provides its own version of parent method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abstract method: parent declares shape, child must implement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sealed: prevents further subclassing (string, Int32 are sealed)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base.Method(): call parent version from child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Prefer composition: class Car { Engine _e; } over class Car : Engine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Polymorphism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Many forms. One variable of type Animal can point to a Dog or Cat. The correct method is chosen at runtime.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Runtime (dynamic): List&lt;Shape&gt; — Shape.Area() calls the right override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Interface: IOrderRepository repo = new SqlRepo() or new FakeRepo()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is/as for safe downcasting: if (a is Dog d) { d.Fetch(); }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switch expression with patterns: o switch { Dog d =&gt; ..., Cat c =&gt; ... }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Polymorphism + interfaces = the foundation of testable, extensible code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This is WHY you inject IService, not the concrete class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19456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SOLID — SRP &amp; OCP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SOLID: S — Single Responsibility · O — Open/Closed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SOLID is 5 principles that make code easier to change and test. Violating them creates code that breaks in unexpected places when you change something unrelated.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 — Single Responsibility Principle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517904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One class = one reason to change. If adding a new email provider forces you to change OrderService, it has two responsibilities.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1828800"/>
            <a:ext cx="3767328" cy="1417320"/>
          </a:xfrm>
          <a:prstGeom prst="roundRect">
            <a:avLst>
              <a:gd name="adj" fmla="val 5161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883664"/>
            <a:ext cx="351129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VIOLATES SRP — 3 reasons to change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OrderService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PlaceOrder(Order o) { /* business logic */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SendEmail(Order o)  { /* email logic — reason 2 */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SaveToDb(Order o)   { /* DB logic — reason 3 */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CORRECT — one reason each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OrderService    { void PlaceOrder(Order o) { }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OrderEmailer    { void SendEmail(Order o) { }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OrderRepository { void Save(Order o) { } }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" y="3291840"/>
            <a:ext cx="37947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If you can't name the class in one noun, it probably does too much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 class with &gt;200 lines is a smell — consider splitting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SRP at layer level: Domain / Application / Infrastructure are separate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 Clean Architecture SRP is enforced structurally by the folder layout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Tests: SRP classes are easy to test — few dependencies, clear purpose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'Give me an example of SRP violation you fixed'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115568"/>
            <a:ext cx="3767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O — Open/Closed Principle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517904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Open for extension, closed for modification. Add new behaviour by adding new code, not by editing tested existing code.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37760" y="1828800"/>
            <a:ext cx="3767328" cy="1417320"/>
          </a:xfrm>
          <a:prstGeom prst="roundRect">
            <a:avLst>
              <a:gd name="adj" fmla="val 5161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65776" y="1883664"/>
            <a:ext cx="351129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VIOLATES OCP — adding VIP discount = edit this file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 CalcDiscount(Order o, string type)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if(type=="loyalty") return o.Total * 0.1m;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if(type=="bulk")    return o.Total * 0.15m;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editing tested code = risk of regression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CORRECT — add new discount = add new class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IDiscountStrategy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decimal Calculate(Order o);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LoyaltyDiscount : IDiscountStrategy { ...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BulkDiscount    : IDiscountStrategy { ...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 VIP discount: add VipDiscount class, touch nothing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37760" y="3291840"/>
            <a:ext cx="37947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Achieved through: interfaces, abstract classes, strategy pattern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MediatR: new command = new handler file — never edit existing handlers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New type = new class, not a new if/else branch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Existing code is tested — don't break it to add features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OCP makes large codebases safe to extend — essential at enterprise scale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'How does the Strategy pattern enforce OCP?'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377440" cy="246888"/>
          </a:xfrm>
          <a:prstGeom prst="roundRect">
            <a:avLst>
              <a:gd name="adj" fmla="val 48148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SOLID — LSP · ISP · DIP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SOLID: L — Liskov · I — Interface Segregation · D — Dependency Inversion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These three principles ensure subclasses behave correctly, interfaces stay focused, and business logic never depends on infrastructure.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" y="1097280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</a:rPr>
              <a:t>L — Liskov Substitution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5216" y="1399032"/>
            <a:ext cx="244144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9FD4"/>
                </a:solidFill>
              </a:rPr>
              <a:t>If Dog inherits Animal, you must be able to use Dog wherever Animal is expected without anything breaking.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85216" y="1719072"/>
            <a:ext cx="2441448" cy="179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Subclass must not STRENGTHEN preconditions — accept at least as much as parent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Subclass must not WEAKEN postconditions — return at least as much as parent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Classic violation: Square extends Rectangle but breaks SetWidth behaviour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Test: if you have 'if(x is SubType)' workarounds, LSP is violated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Practical: design for 'is-a' relationships carefully — Square IS-NOT-A Rectangle behaviourally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'Describe an LSP violation you have seen'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64408" y="100584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92424" y="1097280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</a:rPr>
              <a:t>I — Interface Segregation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92424" y="1399032"/>
            <a:ext cx="244144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9FD4"/>
                </a:solidFill>
              </a:rPr>
              <a:t>Don't force a class to implement methods it doesn't need. Split large interfaces into focused ones.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392424" y="1719072"/>
            <a:ext cx="2441448" cy="179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Large interface with 10 methods = most classes implement 3 and throw on the rest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Split by client need: IOrderReader / IOrderWriter instead of IOrderRepository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Common in .NET: IEnumerable &lt; ICollection &lt; IList — each layer adds more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Smaller interfaces = easier to mock in unit tests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Real example: you inject IOrderReader in a read-only handler — it can't accidentally write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'Why is ISP important for testability?'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71616" y="100584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99632" y="1097280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</a:rPr>
              <a:t>D — Dependency Inversion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99632" y="1399032"/>
            <a:ext cx="244144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9FD4"/>
                </a:solidFill>
              </a:rPr>
              <a:t>High-level (business logic) must not depend on low-level (SQL, SMTP). Both depend on abstractions (interfaces).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199632" y="1719072"/>
            <a:ext cx="2441448" cy="179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OrderService depends on IOrderRepository, not SqlOrderRepository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The interface is defined in the Domain/Application layer — not Infrastructure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Infrastructure layer depends inward — never the other way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This is WHY Clean Architecture and DI containers exist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Testing benefit: inject FakeRepository — no DB needed in unit tests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'What is the difference between DI and DIP?'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858768"/>
            <a:ext cx="8458200" cy="1005840"/>
          </a:xfrm>
          <a:prstGeom prst="roundRect">
            <a:avLst>
              <a:gd name="adj" fmla="val 1090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" y="39502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SOLID applied: the before and after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" y="424281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297680"/>
            <a:ext cx="79735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BEFORE (all 5 violated): one class creates SQL directly, sends email, has Fax() that throws, if/else for types, breaks parent contract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AFTER (all 5 applied): OrderService(IOrderRepository, IEmailService, IDiscountStrategy) — testable, extendable, each class one reason to change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37744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ENGINEERING PRINCIPLES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 · KISS · YAGNI · Fail Fast · Idempotency &amp; more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These principles are the 'common sense' of software engineering. Violating them creates fragile, over-engineered, hard-to-maintain systems.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DRY · KISS · YAGNI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The three principles that prevent over-engineering and duplication — the most common mistakes junior developers make.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DRY: Don't Repeat Yourself — duplicated logic = two places to fix bugs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KISS: Keep It Simple — the simplest solution that solves the problem wins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YAGNI: You Aren't Gonna Need It — don't build features before they're needed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DRY violation: copy-pasting business logic across handlers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KISS violation: microservices for a 3-table CRUD app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YAGNI violation: building a plugin system before you have 2 plugins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Balance: DRY can be taken too far — wrong abstraction is worse than duplication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Fail Fast · Defensive Programming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Fail fast means detect errors as early as possible. Defensive programming means never trust input.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560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Fail fast: validate at the entry point — don't let bad data travel deep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Guard clauses: if (id &lt;= 0) throw new ArgumentException() at top of method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FluentValidation: validate command before handler runs (pipeline behaviour)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Defensive: never assume strings are non-null, never assume enums are valid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Null object pattern: return empty list not null — callers don't need null checks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ArgumentNullException.ThrowIfNull(repo) in constructor — fail at registration time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'Why is fail-fast important in a microservices architecture?'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Idempotency · Immutability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Idempotent operations can be safely retried. Immutable data cannot be corrupted by concurrent access.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Idempotency: same request sent N times = same result as sending it once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Required for: Service Bus consumers, payment APIs, retry policies (Polly)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Achieve with: idempotency key header, check-before-insert, upsert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Immutability: record types, readonly fields, init-only properties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Immutable value objects: Money, Address — equality by value, no mutation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Thread safety: immutable objects need no locking — safe for concurrency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'How do you make a Service Bus consumer idempotent?'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Twelve-Factor App · Separation of Concerns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Twelve-Factor is the definitive guide to cloud-native app design. Separation of Concerns is why we have layers at all.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Factor 3: Config in environment — never hardcode; use Key Vault / App Settings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Factor 6: Stateless processes — no session state in memory; use Redis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Factor 7: Port binding — app exposes a port; doesn't depend on runtime container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Factor 9: Disposability — fast startup, graceful shutdown (SIGTERM handling)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SoC: each layer has one concern — API handles HTTP, Domain handles business rules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Law of Demeter: only talk to direct dependencies — 'don't talk to strangers'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'Which Twelve-Factor principles apply to your current system?'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011680" cy="246888"/>
          </a:xfrm>
          <a:prstGeom prst="roundRect">
            <a:avLst>
              <a:gd name="adj" fmla="val 48148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ASYNC / AWAIT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Async/await: the mental model and the rules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async/await is about freeing threads during I/O waits, not about running things in parallel. Understanding this prevents deadlocks and thread pool starvation.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How it really works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376732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Like a waiter: takes your order, doesn't stand at the kitchen waiting — serves other tables. await = walking away; callback = food's ready.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1746504"/>
            <a:ext cx="3767328" cy="1938528"/>
          </a:xfrm>
          <a:prstGeom prst="roundRect">
            <a:avLst>
              <a:gd name="adj" fmla="val 3774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801368"/>
            <a:ext cx="3511296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WRONG — blocks the thread, causes deadlock in ASP.NET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Order GetOrder(int id)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_repo.GetByIdAsync(id).Result; // DEADLOCK RISK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CORRECT — thread freed while DB is queried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async Task&lt;Order?&gt; GetOrderAsync(int id)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await _repo.GetByIdAsync(id);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thread returned to pool at 'await'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method resumes here when DB responds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Parallel — run multiple I/O operations simultaneously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async Task&lt;DashboardDto&gt; GetDashboardAsync(int id)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ordersTask   = _repo.GetOrdersAsync(id);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customerTask = _repo.GetCustomerAsync(id);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Task.WhenAll(ordersTask, customerTask); // parallel!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DashboardDto(ordersTask.Result, customerTask.Result);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" y="3721608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The 7 rules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4005072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NEVER .Result or .Wait() — causes deadlocks in ASP.NET Core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async void only for event handlers — exceptions vanish otherwise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Always propagate CancellationToken — enables graceful cancellation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ConfigureAwait(false) in library code — avoids unnecessary context capture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async Task not async void — makes exceptions observable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IAsyncEnumerable&lt;T&gt; for streaming large datasets from DB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ValueTask&lt;T&gt; for hot-path operations that are usually synchronous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Advanced patterns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1417320"/>
            <a:ext cx="3767328" cy="2240280"/>
          </a:xfrm>
          <a:prstGeom prst="roundRect">
            <a:avLst>
              <a:gd name="adj" fmla="val 3265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65776" y="1472184"/>
            <a:ext cx="351129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Limit concurrency — don't hammer the database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semaphore = new SemaphoreSlim(5); // max 5 concurrent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tasks = items.Select(async item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semaphore.WaitAsync(ct);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  { return await ProcessAsync(item, ct);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finally { semaphore.Release();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Task.WhenAll(tasks);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Stream large results — don't load all into memory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foreach (var order in _repo.StreamOrdersAsync(filter, ct))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ProcessOneAsync(order, ct);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Channel — high-performance producer/consumer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channel = Channel.CreateBounded&lt;Order&gt;(capacity:100);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Producer: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channel.Writer.WriteAsync(order, ct);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Consumer: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foreach (var o in channel.Reader.ReadAllAsync(ct))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ProcessAsync(o, ct);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37760" y="3694176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Interview questions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986784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Q: What is the difference between Task and ValueTask?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A: Task allocates on heap; ValueTask avoids allocation when result is synchronous — use in hot paths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Q: What causes a deadlock with async/await?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A: Calling .Result on a Task in a context with a SynchronizationContext (old ASP.NET, WinForms)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Q: How do you cancel an async operation?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A: Pass CancellationToken through every async method; call token.ThrowIfCancellationRequested()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128016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LINQ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LINQ: query anything with the same syntax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LINQ (Language Integrated Query) works on any IEnumerable&lt;T&gt; — in-memory lists, EF Core (SQL), XML, or custom data sources. Deferred execution is the key concept.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12064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Core operators with use cases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1426464"/>
            <a:ext cx="4754880" cy="2487168"/>
          </a:xfrm>
          <a:prstGeom prst="roundRect">
            <a:avLst>
              <a:gd name="adj" fmla="val 2941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481328"/>
            <a:ext cx="4498848" cy="2395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result = orders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.Where(o =&gt; o.Status == "Active")           // filter — O(n)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.OrderByDescending(o =&gt; o.Total)            // sort — O(n log 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.GroupBy(o =&gt; o.CustomerId)                 // group — O(n)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.Select(g =&gt; new OrderSummaryDto {          // transform (projection)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CustomerId = g.Key,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OrderCount = g.Count(),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TotalSpent = g.Sum(o =&gt; o.Total),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LastOrder  = g.Max(o =&gt; o.CreatedAt)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.Take(10)                                   // limit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.ToList();                                  // ← MATERIALISE HERE (execute)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SelectMany — flatten nested collections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allItems = orders.SelectMany(o =&gt; o.Items);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Join — like SQL INNER JOIN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enriched = orders.Join(customers,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 =&gt; o.CustomerId, c =&gt; c.Id,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(o, c) =&gt; new { Order = o, CustomerName = c.Name 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Aggregate — reduce to a single value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totalRevenue = orders.Aggregate(0m, (acc, o) =&gt; acc + o.Total);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Any / All — short-circuit evaluation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hasOverdue = orders.Any(o =&gt; o.DueDate &lt; DateTime.Today);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allPaid    = orders.All(o =&gt; o.IsPaid);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3950208"/>
            <a:ext cx="475488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DEFERRED EXECUTION: query is not run until ToList(), First(), foreach, or Count()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EF Core translates Where/Select/OrderBy/GroupBy to SQL — runs on DB server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Client eval: calling a C# method inside Where() = LOAD ALL ROWS first — dangerous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AsNoTracking(): 30-40% faster for read-only EF queries — no change tracking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FirstOrDefault() is safe; First() throws if empty; Single() throws if more than 1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Any() stops at first match; Count() &gt; 0 scans all — use Any() for membership test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Prefer Select() projections — load only columns you need, not full entities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33872" y="1005840"/>
            <a:ext cx="3063240" cy="388620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89320" y="1115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LINQ interview Q&amp;A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89320" y="144475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What is deferred execution?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89320" y="16733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Query builds a description; runs only when enumerated. ToList() forces execution.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89320" y="21031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Difference between Select and SelectMany?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89320" y="23317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Select transforms each element 1:1. SelectMany flattens one-to-many (Order → Items).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89320" y="27614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Why is Any() better than Count() &gt; 0?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89320" y="29900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Any() stops at first match — O(1) best case. Count() always scans all — O(n).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89320" y="341985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What is N+1 problem with EF LINQ?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89320" y="36484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Loading orders then foreach loading customer = N+1 DB queries. Fix: .Include(o =&gt; o.Customer).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89320" y="407822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When does EF LINQ break?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89320" y="430682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When you call C# methods inside Where() that EF can't translate to SQL — moves to client eval.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743200" cy="246888"/>
          </a:xfrm>
          <a:prstGeom prst="roundRect">
            <a:avLst>
              <a:gd name="adj" fmla="val 48148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DESIGN PATTERNS — CREATIONAL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patterns: Factory · Abstract Factory · Builder · Singleton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Creational patterns separate object creation from usage. They make systems flexible and testable.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Factory Method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Create objects through an interface without exposing the concrete type. Callers never use 'new ConcreteType()' directly.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IShapeFactory.Create('circle') returns IShape — caller doesn't know which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ServiceFactory.CreateForTenant(tenantType) — silo vs pool strategy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Benefit: change the created type without changing callers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 .NET: IHttpClientFactory — creates configured HttpClient instances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Design: single Create method returning an interface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'Why is new() a dependency and how do you remove it?'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Builder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Construct complex objects step by step. The same construction process can produce different representations.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560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new OrderBuilder().ForCustomer(1).WithItem(p1,2).WithDiscount('PROMO').Build()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Fluent API: each method returns this — enables method chaining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Used in: WebApplicationBuilder, EF Core ModelBuilder, HttpClient configuration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Benefit: readable construction of complex objects with many optional fields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Vs constructor: builder is clearer when you have &gt;4 parameters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'When would you choose Builder over a constructor?'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Singleton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Ensure only one instance exists. In .NET, the DI container manages this — you rarely implement it manually.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AddSingleton&lt;T&gt;(): one instance for the lifetime of the application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Use for: configuration, caches, HTTP clients, connection pools, feature flags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DANGER: Singleton that holds mutable state must be thread-safe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NEVER inject Scoped service into Singleton — captive dependency bug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Do NOT implement manually in .NET — let the DI container manage it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'What is the captive dependency problem?'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Abstract Factory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Create families of related objects without specifying their concrete classes. UI factory for different platforms.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IPaymentGatewayFactory: CreateForRegion('ZA') vs CreateForRegion('EU')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ITenantServicesFactory: SiloServices vs PoolServices per tenant model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Benefit: consistent object families — all SA objects use SA rules together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Different from Factory Method: creates families, not single objects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Real example: EF Core uses this for different database providers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'Difference between Factory Method and Abstract Factory?'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329184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DESIGN PATTERNS — STRUCTURAL &amp; BEHAVIORAL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Patterns: Decorator · Strategy · Observer · Mediator · Command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These patterns show up constantly in enterprise .NET — Decorator in MediatR pipelines, Observer in domain events, Strategy in discount calculations.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Decorator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Add behaviour to an object without changing it. Wrap it in another object with the same interface.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LoggingRepository wraps SqlRepository — adds logging, SqlRepository unchanged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MediatR pipeline behaviours ARE Decorator — each wraps the next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Decorator = Open/Closed in practice: add logging by adding a class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Chain decorators: SqlRepository → CachingRepository → LoggingRepository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 .NET: Stream is a decorator (GZipStream wraps FileStream)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'How do MediatR pipeline behaviours use the Decorator pattern?'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Strategy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Define a family of algorithms, encapsulate each one, and make them interchangeable at runtime.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560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IDiscountStrategy with LoyaltyDiscount, BulkDiscount, VipDiscount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Inject via DI — swap strategy without changing OrderService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Strategy = OCP in practice: new discount type = new class only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IPaymentGateway: StripeGateway, PayFastGateway — swap per region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Feature flags: inject different strategy based on flag value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'How does Strategy implement the Open/Closed Principle?'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Observer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When one object changes, all its dependents are notified automatically. C# events/delegates are the built-in Observer.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C# events: order.OrderPlaced += (s,e) =&gt; SendEmail(e)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Domain events: Order raises OrderPlacedEvent — multiple handlers subscribe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MediatR INotification + INotificationHandler — ordered, async observer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Service Bus = Observer at infrastructure level — topic + multiple subscribers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Benefit: decouples the publisher from the subscribers — neither knows about each other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'Difference between domain events and integration events?'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Mediator &amp; Command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Mediator decouples components — they communicate through it, not directly. Command encapsulates a request as an object.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MediatR IS the Mediator — sender.Send(command) — sender doesn't know the handler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Command: PlaceOrderCommand encapsulates all data to place an order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Commands can be queued, retried, logged, undone — because they're objects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Enables: audit log, undo/redo, event sourcing, CQRS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Mediator benefit: add a new handler without changing the sender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'How does MediatR implement both Mediator and Command patterns?'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194560" cy="246888"/>
          </a:xfrm>
          <a:prstGeom prst="roundRect">
            <a:avLst>
              <a:gd name="adj" fmla="val 48148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CLEAN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Architecture: layers, rules &amp; folder structure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The dependency rule: source code dependencies only point INWARD. Domain knows nothing about SQL, HTTP, or Azure. Nothing should force a change to the Domain layer.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2633472" cy="1956816"/>
          </a:xfrm>
          <a:prstGeom prst="roundRect">
            <a:avLst>
              <a:gd name="adj" fmla="val 5607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1078992"/>
            <a:ext cx="1005840" cy="228600"/>
          </a:xfrm>
          <a:prstGeom prst="roundRect">
            <a:avLst>
              <a:gd name="adj" fmla="val 24000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0789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Domain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5216" y="1335024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Pure C#. Zero NuGet dependencies. Business rules live here and NOWHERE else.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85216" y="1655064"/>
            <a:ext cx="23957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Entities: Order, Customer — have identity (Id), mutable state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Value objects: Money, Address — immutable, equality by value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Domain events: OrderPlaced, PaymentFailed — facts that happened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Interfaces: IOrderRepository — defined here, implemented in Infrastructure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Aggregates: consistency boundary — always load/save the Aggregate Root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Business invariants: Order.CanShip() returns domain-validated bool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55264" y="987552"/>
            <a:ext cx="2633472" cy="1956816"/>
          </a:xfrm>
          <a:prstGeom prst="roundRect">
            <a:avLst>
              <a:gd name="adj" fmla="val 5607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078992"/>
            <a:ext cx="1005840" cy="228600"/>
          </a:xfrm>
          <a:prstGeom prst="roundRect">
            <a:avLst>
              <a:gd name="adj" fmla="val 24000"/>
            </a:avLst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0789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Application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0" y="1335024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Orchestrates the Domain. Use cases (what the app can DO). Depends only on Domain.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83280" y="1655064"/>
            <a:ext cx="23957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CQRS: Commands (write) + Queries (read)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Command/query handlers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Pipeline behaviours: validation, logging, caching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Application services: coordinate multiple domain operations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DTOs and mapping (AutoMapper or manual)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Interfaces for infrastructure: IEmailService (defined here)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090672"/>
            <a:ext cx="2633472" cy="1956816"/>
          </a:xfrm>
          <a:prstGeom prst="roundRect">
            <a:avLst>
              <a:gd name="adj" fmla="val 5607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" y="3182112"/>
            <a:ext cx="1005840" cy="228600"/>
          </a:xfrm>
          <a:prstGeom prst="roundRect">
            <a:avLst>
              <a:gd name="adj" fmla="val 24000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" y="3182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Infrastructure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" y="3438144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Implements interfaces. Can be swapped (SQL → Cosmos) without touching Domain or Application.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5216" y="3758184"/>
            <a:ext cx="23957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SqlOrderRepository implements IOrderRepository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AppDbContext: EF Core config + migrations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Azure SDK clients: Service Bus, Blob, Key Vault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External API clients: payment gateways, email providers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Depends on: Domain + Application (for interfaces it implements)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55264" y="3090672"/>
            <a:ext cx="2633472" cy="1956816"/>
          </a:xfrm>
          <a:prstGeom prst="roundRect">
            <a:avLst>
              <a:gd name="adj" fmla="val 5607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3182112"/>
            <a:ext cx="1005840" cy="228600"/>
          </a:xfrm>
          <a:prstGeom prst="roundRect">
            <a:avLst>
              <a:gd name="adj" fmla="val 24000"/>
            </a:avLst>
          </a:prstGeom>
          <a:solidFill>
            <a:srgbClr val="3A4F9B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3182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API / Presentation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3438144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Entry point. HTTP → Command/Query. No business logic here.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83280" y="3758184"/>
            <a:ext cx="23957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Minimal API endpoints or ASP.NET Core controllers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Middleware: auth, error handling, request logging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DI registration in Program.cs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OpenAPI / Swagger documentation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Maps: HTTP req → command → MediatR → HTTP response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53328" y="987552"/>
            <a:ext cx="2834640" cy="4059936"/>
          </a:xfrm>
          <a:prstGeom prst="roundRect">
            <a:avLst>
              <a:gd name="adj" fmla="val 3871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99632" y="10972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Folder structure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99632" y="1408176"/>
            <a:ext cx="2542032" cy="2103120"/>
          </a:xfrm>
          <a:prstGeom prst="roundRect">
            <a:avLst>
              <a:gd name="adj" fmla="val 3478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146304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MyApp.sln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src/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MyApp.Domain/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├─ Entities/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├─ Events/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└─ ValueObjects/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MyApp.Application/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├─ Orders/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 ├─ Commands/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 └─ Queries/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└─ Behaviours/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MyApp.Infrastructure/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├─ Persistence/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└─ Services/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MyApp.API/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├─ Endpoints/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└─ Middleware/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tests/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Unit/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Integration/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Architecture/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99632" y="3547872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Interview Q: 'How do you enforce Clean Architecture rules in CI?'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99632" y="3813048"/>
            <a:ext cx="2542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ABCEE"/>
                </a:solidFill>
              </a:rPr>
              <a:t>A: NetArchTest — assert that Domain has no dependency on Infrastructure. Runs as a unit test in CI pipeline, fails the build if violated.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99632" y="448056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C8"/>
                </a:solidFill>
              </a:rPr>
              <a:t>Best resource: 'Clean Architecture' — Robert C. Martin (Uncle Bob)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01168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CQRS + MEDIATR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CQRS and MediatR: commands, queries &amp; pipeline behaviours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CQRS separates reads from writes. A Command changes state and returns nothing (or just an ID). A Query reads state and NEVER changes it. MediatR wires them together.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Command (write side)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Commands represent intent: PlaceOrder, CancelOrder. They validate, execute business logic, and raise domain events.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1709928"/>
            <a:ext cx="3767328" cy="2011680"/>
          </a:xfrm>
          <a:prstGeom prst="roundRect">
            <a:avLst>
              <a:gd name="adj" fmla="val 3636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64792"/>
            <a:ext cx="351129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Command — intent to change state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PlaceOrderCommand(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CustomerId, List&lt;OrderItemDto&gt; Items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: IRequest&lt;Result&lt;int&gt;&gt;;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Handler — all logic for this use case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PlaceOrderHandler(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IOrderRepository repo, IUnitOfWork uow,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IPublisher publisher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: IRequestHandler&lt;PlaceOrderCommand, Result&lt;int&gt;&gt;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async Task&lt;Result&lt;int&gt;&gt; Handle(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PlaceOrderCommand cmd, CancellationToken ct) 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order = Order.Create(cmd.CustomerId, cmd.Items);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Order.Create() enforces all business rules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repo.AddAsync(order, ct);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uow.SaveChangesAsync(ct);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publisher.Publish(new OrderPlacedEvent(order.Id),ct);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Result.Success(order.Id);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" y="3758184"/>
            <a:ext cx="37947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Name commands after INTENT: PlaceOrder not CreateOrderRecord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Each handler is independent — one file, one responsibility (SRP)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Commands should validate via pipeline behaviour BEFORE the handler runs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Result&lt;T&gt; pattern: return success/failure without throwing for flow control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Domain events raised INSIDE the handler — infrastructure handles them outside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'Why should commands not return the full entity?'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Query + Pipeline Behaviour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1417320"/>
            <a:ext cx="3767328" cy="1298448"/>
          </a:xfrm>
          <a:prstGeom prst="roundRect">
            <a:avLst>
              <a:gd name="adj" fmla="val 5634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65776" y="1472184"/>
            <a:ext cx="351129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Query — reads state, NEVER modifies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GetOrdersQuery(int CustomerId, int Page)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IRequest&lt;PagedResult&lt;OrderDto&gt;&gt;;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GetOrdersHandler(AppDbContext ctx)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IRequestHandler&lt;GetOrdersQuery, PagedResult&lt;OrderDto&gt;&gt;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async Task&lt;PagedResult&lt;OrderDto&gt;&gt; Handle(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GetOrdersQuery q, CancellationToken ct) =&gt;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ctx.Orders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.Where(o =&gt; o.CustomerId == q.CustomerId)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.AsNoTracking().ProjectTo&lt;OrderDto&gt;()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.ToPagedResultAsync(q.Page, ct);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37760" y="274320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Validation Pipeline Behaviour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3035808"/>
            <a:ext cx="3767328" cy="100584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65776" y="3090672"/>
            <a:ext cx="35112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Runs BEFORE every handler automatically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ValidationBehaviour&lt;TReq,TRes&gt;(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IEnumerable&lt;IValidator&lt;TReq&gt;&gt; validators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: IPipelineBehavior&lt;TReq,TRes&gt;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async Task&lt;TRes&gt; Handle(TReq req,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RequestHandlerDelegate&lt;TRes&gt; next, CancellationToken ct)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failures = validators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.SelectMany(v =&gt; v.Validate(req).Errors).ToList();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if(failures.Any()) throw new ValidationException(failures);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await next(); // call the actual handler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37760" y="4078224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Other behaviours: logging, performance timing, caching, retry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Behaviours are Decorators — each wraps the next in the chain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Register: services.AddTransient(typeof(IPipelineBehavior&lt;,&gt;), typeof(ValidationBehaviour&lt;,&gt;))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Order matters: Logging → Validation → Handler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'How do pipeline behaviours implement cross-cutting concerns?'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377440" cy="246888"/>
          </a:xfrm>
          <a:prstGeom prst="roundRect">
            <a:avLst>
              <a:gd name="adj" fmla="val 48148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DOMAIN-DRIVEN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Domain-driven design: ubiquitous language to bounded contexts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DDD is both a language (to communicate with the business) and a set of patterns (to model complex business logic in code). When the code speaks the same language as the business, bugs disappear.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2103120"/>
          </a:xfrm>
          <a:prstGeom prst="roundRect">
            <a:avLst>
              <a:gd name="adj" fmla="val 5217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Building blocks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Use DDD vocabulary when talking to business stakeholders and writing code — bridge the communication gap.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379476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Entity: has identity (OrderId) — same object across time, mutable state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Value Object: no identity (Money, Address) — equality by value, IMMUTABLE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Aggregate: consistency boundary — always access through the Aggregate Root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Aggregate Root: the only entry point (Order, not OrderItem directly)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Domain Event: a fact that happened (OrderPlaced, PaymentReceived)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Repository: one per Aggregate Root — IOrderRepository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2103120"/>
          </a:xfrm>
          <a:prstGeom prst="roundRect">
            <a:avLst>
              <a:gd name="adj" fmla="val 5217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Bounded contexts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'Order' in Billing means Invoice. 'Order' in Fulfilment means Shipment. Different models for the same word. Each context has its own code.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56048" y="1664208"/>
            <a:ext cx="379476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Bounded Context = a subsystem with its own domain model and language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Context map: how contexts relate — Shared Kernel, Customer/Supplier, Conformist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Anti-Corruption Layer (ACL): translate between contexts — don't pollute your model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One bounded context = one microservice (when you eventually split)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Ubiquitous language: code uses exactly the same words as the business uses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If you find yourself adding 'type' flags, you may need two bounded contexts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419856"/>
            <a:ext cx="8458200" cy="1481328"/>
          </a:xfrm>
          <a:prstGeom prst="roundRect">
            <a:avLst>
              <a:gd name="adj" fmla="val 7407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35112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Aggregate design example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" y="380390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858768"/>
            <a:ext cx="79735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Order is the Aggregate Root — it owns its Items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Order : AggregateRoot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readonly List&lt;OrderItem&gt; _items = [];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IReadOnlyList&lt;OrderItem&gt; Items =&gt; _items.AsReadOnly(); // protected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Order Create(int customerId, List&lt;OrderItemDto&gt; items)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order = new Order(customerId);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items.ForEach(i =&gt; order.AddItem(i)); // domain method enforces invariants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order.RaiseDomainEvent(new OrderCreatedEvent(order.Id)); // domain event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order;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AddItem(OrderItemDto item)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(item.Quantity &lt;= 0) throw new DomainException("Quantity must be positive");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_items.Add(new OrderItem(item.ProductId, item.Quantity, item.Price));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01168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EF CORE + DAPPER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 Core &amp; Dapper: when to use each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EF Core for writes and complex domain queries. Dapper for complex read queries and reporting where raw SQL is cleaner. Use both in the same project.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12064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EF Core essentials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1426464"/>
            <a:ext cx="4754880" cy="2148840"/>
          </a:xfrm>
          <a:prstGeom prst="roundRect">
            <a:avLst>
              <a:gd name="adj" fmla="val 3404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481328"/>
            <a:ext cx="449884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DbContext — Unit of Work + gateway to DB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AppDbContext(DbContextOptions&lt;AppDbContext&gt; opts,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ITenantContext tenant) : DbContext(opts)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DbSet&lt;Order&gt; Orders =&gt; Set&lt;Order&gt;();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protected override void OnModelCreating(ModelBuilder mb)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mb.ApplyConfigurationsFromAssembly(GetType().Assembly);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Global filter — EVERY query adds WHERE TenantId = @id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mb.Entity&lt;Order&gt;().HasQueryFilter(o =&gt; o.TenantId == tenant.Id);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override async Task&lt;int&gt; SaveChangesAsync(CancellationToken ct=default){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foreach (var e in ChangeTracker.Entries&lt;BaseEntity&gt;())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(e.State == EntityState.Added) e.Entity.CreatedAt = DateTime.UtcNow;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await base.SaveChangesAsync(ct);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Fluent config — separate file per entity (IEntityTypeConfiguration&lt;T&gt;)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Migrations: dotnet ef migrations add Init → dotnet ef database update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36118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EF Core vs Dapper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904488"/>
          <a:ext cx="47548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783080"/>
                <a:gridCol w="178308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EF Core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Dapper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Best for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Writes + complex domain queries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Read queries + reporting SQL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Mapping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Automatic + configurable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Manual or Dapper conventions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SQL control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Generated SQL (inspectable)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You write the SQL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Performance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Good with AsNoTracking()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Slightly faster for simple reads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Migrations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Built-in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Manual / Flyway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833872" y="1005840"/>
            <a:ext cx="3063240" cy="388620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89320" y="1115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Common EF Core pitfalls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89320" y="1426464"/>
            <a:ext cx="27432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N+1: foreach order → load customer = N+1 queries. Fix: .Include(o =&gt; o.Customer)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Client eval: Where(o =&gt; MyMethod(o)) loads ALL rows first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SaveChanges inside loop: batch all changes, save once at the end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Long-lived DbContext: always Scoped (per request), never Singleton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Missing index: EF doesn't add indexes automatically — add via fluent config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Over-fetching: Select(o =&gt; new Dto { ... }) only loads needed columns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Soft delete: HasQueryFilter(o =&gt; !o.IsDeleted) — never leaks deleted records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Concurrency: use RowVersion + DbUpdateConcurrencyException handler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011680" cy="246888"/>
          </a:xfrm>
          <a:prstGeom prst="roundRect">
            <a:avLst>
              <a:gd name="adj" fmla="val 48148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TESTING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Testing: pyramid, tools &amp; architecture tests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The testing pyramid: many fast unit tests, fewer integration tests, minimal E2E tests. Architecture tests enforce structural rules at build time.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Unit tests (70%)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Fast, isolated, mock everything external. One failing test = one problem. Run in milliseconds.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xUnit (preferred) / NUnit / MSTest — all fine, xUnit is most modern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NSubstitute (preferred) or Moq for mocking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FluentAssertions: result.Should().BeTrue() — readable failures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Naming: MethodName_Scenario_ExpectedBehaviour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Test the HANDLER not the controller — business logic is in the handler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Each test: Arrange → Act → Assert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No DB, no HTTP, no files — inject fakes for everything external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Integration tests (20%)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Test real interactions — real DB, real HTTP. Use Testcontainers to spin up a real SQL Server in Docker.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560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WebApplicationFactory&lt;Program&gt;: spin up real ASP.NET Core in memory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Testcontainers: spin up real SQL Server / Redis / Service Bus in Docker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Override DI registrations: use test DB, not prod DB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Test the full pipeline: HTTP request → handler → DB → HTTP response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Slower (seconds) — run in CI, not on every save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Respawn (Jimmy Bogard): clean DB between tests without recreating it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Contract tests: Pact.NET — verify API consumer and provider agree on schema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Architecture tests (∞ value, 0 maintenance)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Assert structural rules as unit tests. NetArchTest runs in milliseconds and fails the build if architecture is violated.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Domain must not depend on Infrastructure — verified every build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All handlers must be in Application layer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Entities must not have public setters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NetArchTest.Rules NuGet — 5 lines to enforce a rule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Run in CI — prevents architecture drift silently accumulating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Pair with Roslyn Analyser for compile-time enforcement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'How do you enforce Clean Architecture in a team?'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Test best practices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Good tests are an asset. Bad tests are a maintenance burden.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Coverage target: 80% line coverage as a CI gate — not a goal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Mutation testing: Stryker.NET verifies tests actually catch bugs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Don't test implementation detail — test observable behaviour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Test the unhappy path too: null inputs, boundary values, domain exceptions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Fake vs Mock vs Stub: Fake has logic; Mock verifies calls; Stub returns canned data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Builder pattern for test data: new OrderBuilder().WithOverduePayment().Build()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'What is the difference between a Mock and a Stub?'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19456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 &amp; OPTIONS PATTERN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 injection lifetimes &amp; the Options pattern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 is built into ASP.NET Core. Choosing the wrong lifetime causes stale data, memory leaks, or threading bugs — the captive dependency problem is the most common.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Lifetimes explained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1426464"/>
            <a:ext cx="3767328" cy="2286000"/>
          </a:xfrm>
          <a:prstGeom prst="roundRect">
            <a:avLst>
              <a:gd name="adj" fmla="val 3200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481328"/>
            <a:ext cx="351129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SINGLETON — one instance for app lifetime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builder.Services.AddSingleton&lt;ICache, RedisCache&gt;();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Use for: config, caches, HTTP clients, connection pools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DANGER: must be thread-safe if it holds state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SCOPED — one per HTTP request (or per scope)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builder.Services.AddScoped&lt;IOrderRepository, SqlOrderRepository&gt;();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builder.Services.AddScoped&lt;AppDbContext&gt;();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Use for: DbContext, repositories, anything per-request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NEVER inject into Singleton — captive dependency!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TRANSIENT — new instance every injection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builder.Services.AddTransient&lt;IEmailSender, SmtpEmailSender&gt;();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Use for: lightweight, stateless services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Avoid for DbContext — too many instances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CLASSIC BUG: Singleton holds reference to Scoped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ConfigService {            // Singleton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ConfigService(AppDbContext ctx) {}    // AppDbContext is Scoped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First request's DbContext is held forever → stale data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3749040"/>
            <a:ext cx="379476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DbContext MUST be Scoped — one per request, tracks changes for that request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HttpClient: use IHttpClientFactory (Singleton) — avoids socket exhaustion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IServiceProvider.CreateScope() for background services needing Scoped services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Test: IServiceScopeFactory.CreateScope().ServiceProvider.GetRequiredService&lt;T&gt;()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'Explain the captive dependency problem with a concrete example'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Options pattern — strongly-typed config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1426464"/>
            <a:ext cx="3767328" cy="2084832"/>
          </a:xfrm>
          <a:prstGeom prst="roundRect">
            <a:avLst>
              <a:gd name="adj" fmla="val 3509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481328"/>
            <a:ext cx="3511296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appsettings.json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"Email": { "SmtpHost": "smtp.sg.com", "Port": 587, "From": "noreply@co.za" }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Strongly-typed options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EmailOptions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const string Section = "Email";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[Required] public string SmtpHost { get; set; } = "";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[Range(1,65535)] public int Port { get; set;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[Required][EmailAddress] public string From { get; set; } = "";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Register with validation on startup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builder.Services.AddOptions&lt;EmailOptions&gt;()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.BindConfiguration(EmailOptions.Section)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.ValidateDataAnnotations()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.ValidateOnStart(); // fail fast at app start, not first use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Inject and use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EmailService(IOptions&lt;EmailOptions&gt; opts)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Send()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cfg = opts.Value; // strongly typed, validated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cfg.SmtpHost, cfg.Port, cfg.From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37760" y="3547872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3 Options interfaces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840480"/>
            <a:ext cx="37947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IOptions&lt;T&gt;: snapshot at app start — simplest, no live reload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IOptionsSnapshot&lt;T&gt;: refreshed per request — good for per-tenant config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IOptionsMonitor&lt;T&gt;: live reload without restart — good for feature flags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Prefer ValidateOnStart() — catch config errors immediately at deployment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Never use config["key"] strings — always a typed options class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'Why use IOptions over IConfiguration directly?'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560320" cy="246888"/>
          </a:xfrm>
          <a:prstGeom prst="roundRect">
            <a:avLst>
              <a:gd name="adj" fmla="val 48148"/>
            </a:avLst>
          </a:prstGeom>
          <a:solidFill>
            <a:srgbClr val="8E44A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OBSERVABILITY &amp; RESILIENCE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Observability: logging, tracing, metrics &amp; Polly resilience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You cannot fix what you cannot see. Observability = structured logging + distributed tracing + metrics. Polly = resilience against failures in downstream services.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Structured logging with Serilog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Structured logging embeds searchable properties in log messages. Unstructured logs are unsearchable strings — useless at scale.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_logger.LogInformation("Order {OrderId} placed by {CustomerId}", id, custId)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The {} syntax embeds searchable properties — query in Log Analytics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Serilog.AspNetCore: request logging middleware in one line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Log levels: Trace &lt; Debug &lt; Information &lt; Warning &lt; Error &lt; Critical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NEVER log: passwords, JWT tokens, PII, connection strings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LogContext.PushProperty('TenantId', id) — ambient enrichment for all logs in scope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'What is the difference between structured and unstructured logging?'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Distributed tracing (OpenTelemetry)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One user request may cross 5 services. Distributed tracing links all the spans into one trace so you can see the full picture.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560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Activity API: automatic for HttpClient, EF Core, Service Bus, ASP.NET Core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W3C traceparent header: propagated across service boundaries automatically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App Insights: end-to-end transaction map — see all hops in one view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Custom span: using var activity = ActivitySource.StartActivity('ProcessOrder')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Correlation ID: inject into all log messages via enricher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Export to: App Insights / Jaeger / Zipkin / OTLP endpoint — vendor-neutral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'How do you trace a request across 3 microservices?'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Polly v8 resilience pipelines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Polly adds resilience to any call that can fail: HTTP, DB, Service Bus. Configure once, apply everywhere via DI.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Retry: 3 attempts with exponential backoff + jitter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Circuit breaker: after 5 failures, open for 30s — fast fail, spare the downstream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Timeout: fail after 2s — don't hang waiting for a dead service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Hedge: send duplicate request if first is slow — race to first response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Bulkhead: limit concurrent calls to downstream — prevent cascade failure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services.AddResiliencePipeline('downstream', b =&gt; b.AddRetry().AddCircuitBreaker())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'What is the difference between Retry and Circuit Breaker?'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Health checks &amp; metrics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Health checks tell Kubernetes and App Service whether your app is ready to serve traffic. Metrics drive alerts.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app.MapHealthChecks('/health/ready'): is DB available? Cache up? Deps healthy?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app.MapHealthChecks('/health/live'): is the process alive? (simple 200 response)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AKS readiness probe: won't route traffic until /health/ready returns 200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Custom metric: Meter.CreateCounter&lt;long&gt;('orders.placed') — push to App Insights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Alert on: p99 latency &gt; 2s, error rate &gt; 1%, GC Gen2 collections high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Prometheus + Grafana: industry-standard metrics stack — Azure Monitor Workspace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'What is the difference between a liveness probe and readiness probe?'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164592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API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design: principles, versioning &amp; error contracts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Good API design is a contract with your consumers. Breaking it costs trust and forces them to change their code. Design contracts first, implement second.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12064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REST principles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1426464"/>
            <a:ext cx="4754880" cy="1783080"/>
          </a:xfrm>
          <a:prstGeom prst="roundRect">
            <a:avLst>
              <a:gd name="adj" fmla="val 4103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481328"/>
            <a:ext cx="449884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Resource-oriented nouns — not verbs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/api/v1/orders/{id}          // read one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/api/v1/orders?status=active // filter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 /api/v1/orders               // create (returns 201 + Location header)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   /api/v1/orders/{id}          // full replace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 /api/v1/orders/{id}          // partial update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/api/v1/orders/{id}          // delete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Consistent error shape (RFC 7807 Problem Details)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"type": "https://api.myco.com/errors/validation",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"title": "Validation failed",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422,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"detail": "CustomerId is required",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"traceId": "00-abc123-def456-00"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Idempotency key for POST (safe retry)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/api/v1/orders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Idempotency-Key: client-generated-uuid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32461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HTTP status codes to know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3538728"/>
            <a:ext cx="4754880" cy="1225296"/>
          </a:xfrm>
          <a:prstGeom prst="roundRect">
            <a:avLst>
              <a:gd name="adj" fmla="val 5970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593592"/>
            <a:ext cx="4498848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200: OK — success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201: Created — POST succeeded, return Location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204: No Content — DELETE/PUT succeeded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400: Bad Request — client sent invalid data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401: Unauthorized — not authenticated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403: Forbidden — authenticated but not allowed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404: Not Found — resource doesn't exist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409: Conflict — duplicate, optimistic concurrency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422: Unprocessable — validation failed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429: Too Many Requests — rate limited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500: Internal Server Error — server bug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833872" y="1005840"/>
            <a:ext cx="3063240" cy="388620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89320" y="1115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Versioning &amp; design rules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9320" y="1426464"/>
            <a:ext cx="27432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URL versioning: /api/v1/ — simplest, most discoverable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Header: api-version: 2.0 — cleaner URLs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Asp.Versioning.Http NuGet — version support in .NET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Deprecated version: Sunset: Sat, 01 Jan 2026 00:00:00 GMT header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OpenAPI/Swagger: Swashbuckle or Scalar — auto-generated docs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Pagination: cursor-based (after=lastId) or skip+take with totalCount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HATEOAS: include related action links in response (advanced)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gRPC: binary protocol, strongly typed (protobuf), faster than REST — use for internal service-to-service calls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GraphQL: client specifies shape — good for flexible frontends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'When would you use gRPC over REST?'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REST interview: 'What makes an API truly RESTful?'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A4F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029200" cy="5029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&amp; Azure Cloud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6334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4C8"/>
                </a:solidFill>
              </a:rPr>
              <a:t>Git · CI/CD · Docker · Kubernetes · Security · Redis · Service Bus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37744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GIT &amp; SOURCE CONTROL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Git: branching, commits &amp; enterprise practices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Git is more than version control — it is the gating mechanism that ensures quality before code reaches production. Branch protection and conventional commits are non-negotiable in enterprise teams.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Branching strategy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Trunk-based development (short-lived branches, merge daily) is preferred over long-lived GitFlow for CI/CD teams.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main = production state at all times — never push directly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feature/&lt;ticket-id&gt; — short-lived (days, not weeks)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 → code review → CI green → squash merge → main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Branch protection: require 1 approval + all CI checks pass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Conventional commits: feat: / fix: / chore: / refactor: / docs: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Tags for releases: v1.2.3 — auto-generate release notes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GitFlow: use for OSS libraries; avoid for microservices teams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Secrets &amp; security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A secret committed to Git can never be truly removed — it lives in history forever. Rotate immediately if discovered.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560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NEVER commit: connection strings, API keys, passwords, certificates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Local dev: dotnet user-secrets — stored outside the repo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CI/CD: Key Vault or pipeline secret variables — never hardcoded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Pre-commit hook: git-secrets blocks known secret patterns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If committed: rotate the secret immediately (not just delete the commit)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GitHub/Azure DevOps secret scanning: alerts on detected secrets in pushes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'What do you do if a developer commits an API key?'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Pull requests &amp; code reviews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PRs are where knowledge spreads and quality is gated. Good PR descriptions and small PRs are professional discipline.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 description: what changed, why, how to test, risk level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 size: &lt;400 lines changed — large PRs get rubber-stamped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Squash merge: keeps main history clean — one commit per feature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Link to ticket: traceability from code to requirement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Review checklist: tests present? SOLID respected? Security considered?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Reviewers: at least one senior developer for critical paths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'What makes a good pull request description?'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Release management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Semantic versioning communicates the impact of a change. Tags enable rollback to any version.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semver: MAJOR.MINOR.PATCH — breaking.feature.bugfix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MAJOR: breaking change; MINOR: new feature (backwards compatible); PATCH: bugfix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Release notes: auto-generated from conventional commit messages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Changelog: CHANGELOG.md — maintained by tooling (semantic-release)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Hotfix: branch from main, fix, merge back with PATCH bump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Feature flags: deploy code without activating it — decouple deploy from release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'When would you use a feature flag instead of a branch?'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011680" cy="246888"/>
          </a:xfrm>
          <a:prstGeom prst="roundRect">
            <a:avLst>
              <a:gd name="adj" fmla="val 48148"/>
            </a:avLst>
          </a:prstGeom>
          <a:solidFill>
            <a:srgbClr val="8E44A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CI/CD PIPELINES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CI/CD: from commit to production, safely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CI proves the code works. CD proves it can be deployed. Both together mean every merge to main is releasable. This is the gold standard for enterprise .NET teams.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CI pipeline stages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Fail fast: cheapest checks first. A typo fails in 30 seconds, not after a 10-minute Docker build.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1709928"/>
            <a:ext cx="27432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70992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50976" y="172821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Restore &amp; build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176479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C8"/>
                </a:solidFill>
              </a:rPr>
              <a:t>dotnet restore → dotnet build — catch compile errors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" y="2157984"/>
            <a:ext cx="27432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1579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50976" y="21762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Unit tests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221284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C8"/>
                </a:solidFill>
              </a:rPr>
              <a:t>dotnet test — fast, no DB, must be &gt;80% coverage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1792" y="2606040"/>
            <a:ext cx="27432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260604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50976" y="26243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Code quality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77440" y="266090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C8"/>
                </a:solidFill>
              </a:rPr>
              <a:t>SonarQube SAST, code smell detection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1792" y="3054096"/>
            <a:ext cx="27432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30540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50976" y="30723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Dependency scan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77440" y="310896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C8"/>
                </a:solidFill>
              </a:rPr>
              <a:t>OWASP NuGet dependency-check for CVEs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" y="3502152"/>
            <a:ext cx="27432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350215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50976" y="35204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Docker build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77440" y="355701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C8"/>
                </a:solidFill>
              </a:rPr>
              <a:t>Multi-stage Dockerfile → push to ACR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1792" y="4023360"/>
            <a:ext cx="3767328" cy="749808"/>
          </a:xfrm>
          <a:prstGeom prst="roundRect">
            <a:avLst>
              <a:gd name="adj" fmla="val 9756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078224"/>
            <a:ext cx="351129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GitHub Actions example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[push]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dotnet restore &amp;&amp; dotnet build --no-restore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dotnet test --no-build --collect:"XPlat Code Coverage"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sonarsource/sonarcloud-github-action@master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CD deployment strategies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1417320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Goal: deploy without users noticing. The three strategies differ in risk, complexity and rollback speed.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37760" y="1709928"/>
            <a:ext cx="3767328" cy="603504"/>
          </a:xfrm>
          <a:prstGeom prst="roundRect">
            <a:avLst>
              <a:gd name="adj" fmla="val 12121"/>
            </a:avLst>
          </a:prstGeom>
          <a:solidFill>
            <a:srgbClr val="0D1B4B"/>
          </a:solidFill>
          <a:ln/>
        </p:spPr>
      </p:sp>
      <p:sp>
        <p:nvSpPr>
          <p:cNvPr id="35" name="Text 33"/>
          <p:cNvSpPr/>
          <p:nvPr/>
        </p:nvSpPr>
        <p:spPr>
          <a:xfrm>
            <a:off x="5074920" y="17465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Rolling update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74920" y="19659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C8"/>
                </a:solidFill>
              </a:rPr>
              <a:t>Replace instances one at a time. Brief mixed-version period. Simplest to implement.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74920" y="2148840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</a:rPr>
              <a:t>Rollback: Re-deploy previous image tag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937760" y="2368296"/>
            <a:ext cx="3767328" cy="603504"/>
          </a:xfrm>
          <a:prstGeom prst="roundRect">
            <a:avLst>
              <a:gd name="adj" fmla="val 12121"/>
            </a:avLst>
          </a:prstGeom>
          <a:solidFill>
            <a:srgbClr val="0D1B4B"/>
          </a:solidFill>
          <a:ln/>
        </p:spPr>
      </p:sp>
      <p:sp>
        <p:nvSpPr>
          <p:cNvPr id="39" name="Text 37"/>
          <p:cNvSpPr/>
          <p:nvPr/>
        </p:nvSpPr>
        <p:spPr>
          <a:xfrm>
            <a:off x="5074920" y="24048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Blue-green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74920" y="26243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C8"/>
                </a:solidFill>
              </a:rPr>
              <a:t>New version runs alongside old. Switch traffic all at once. Easy rollback: flip switch.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74920" y="2807208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</a:rPr>
              <a:t>Rollback: Flip traffic back to blue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937760" y="3026664"/>
            <a:ext cx="3767328" cy="603504"/>
          </a:xfrm>
          <a:prstGeom prst="roundRect">
            <a:avLst>
              <a:gd name="adj" fmla="val 12121"/>
            </a:avLst>
          </a:prstGeom>
          <a:solidFill>
            <a:srgbClr val="0D1B4B"/>
          </a:solidFill>
          <a:ln/>
        </p:spPr>
      </p:sp>
      <p:sp>
        <p:nvSpPr>
          <p:cNvPr id="43" name="Text 41"/>
          <p:cNvSpPr/>
          <p:nvPr/>
        </p:nvSpPr>
        <p:spPr>
          <a:xfrm>
            <a:off x="5074920" y="3063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Canary release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74920" y="32826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C8"/>
                </a:solidFill>
              </a:rPr>
              <a:t>5% of traffic to new version. Monitor errors. Increase if healthy over 30 minutes.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074920" y="3465576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</a:rPr>
              <a:t>Rollback: Route 0% to canary, investigate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937760" y="370332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Environments &amp; approval gates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937760" y="3986784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dev: auto-deploy on every merge to main — no approval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staging: auto-deploy + mandatory manual approval gate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production: manual approval + change record + scheduled window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Rollback: re-deploy previous Docker image tag — seconds not minutes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Health check: /health/ready must return 200 within 60s of deploy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'What is the difference between CI and CD?'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'Describe blue-green deployment and its benefits'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37744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DOCKER &amp; KUBERNETES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containers &amp; AKS Kubernetes essentials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Docker packages your app and its dependencies into a portable image. Kubernetes runs many containers reliably across many servers, healing failures automatically.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Multi-stage Dockerfile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Multi-stage: build in SDK image (large), copy artifacts to runtime image (small). Production image is minimal — faster pull, smaller attack surface.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1709928"/>
            <a:ext cx="3767328" cy="1901952"/>
          </a:xfrm>
          <a:prstGeom prst="roundRect">
            <a:avLst>
              <a:gd name="adj" fmla="val 3846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64792"/>
            <a:ext cx="3511296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1: build (large SDK image — not shipped)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mcr.microsoft.com/dotnet/sdk:9.0 AS build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/src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["MyApp.API/MyApp.API.csproj", "MyApp.API/"]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dotnet restore "MyApp.API/MyApp.API.csproj"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dotnet publish "MyApp.API/MyApp.API.csproj" -c Release -o /app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2: runtime (small runtime image — this is what ships)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mcr.microsoft.com/dotnet/aspnet:9.0 AS final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 /app 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as non-root user — security best practice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$APP_UID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ENTRYPOINT ["dotnet", "MyApp.API.dll"]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" y="3648456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Runtime image is ~200MB vs SDK image ~900MB — use multi-stage always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docker-compose.yml: local dev with real dependencies (SQL Server, Redis)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HEALTHCHECK in Dockerfile: Docker knows if container is unhealthy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.dockerignore: exclude bin/, obj/, .git — smaller build context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Trivy or Grype: scan image for CVEs in CI pipeline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Never run as root in production — USER instruction in Dockerfile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'What is a multi-stage Docker build and why use it?'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AKS Kubernetes concepts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41732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You describe WHAT you want. Kubernetes makes it happen and keeps it that way — healing failures, scaling pods, routing traffic.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37760" y="17099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Pod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89904" y="170992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Smallest unit — one or more containers, shared network + storage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37760" y="2148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Deployment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89904" y="214884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Desired state — '3 replicas of image:v2.1'. Self-healing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37760" y="25877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Service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89904" y="258775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Stable DNS + IP for a pod set — pods come and go, Service is stable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37760" y="30266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Ingress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89904" y="302666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HTTP routing — routes /api/orders → orders-service + TLS termination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37760" y="346557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ConfigMap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89904" y="346557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Non-secret config injected as env vars or files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37760" y="39044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Secret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89904" y="390448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Base64-encoded sensitive data — reference from Key Vault in prod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37760" y="43434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HPA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89904" y="434340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Horizontal Pod Autoscaler — add pods when CPU/custom metric rises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937760" y="3904488"/>
            <a:ext cx="3767328" cy="877824"/>
          </a:xfrm>
          <a:prstGeom prst="roundRect">
            <a:avLst>
              <a:gd name="adj" fmla="val 8333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65776" y="3959352"/>
            <a:ext cx="351129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Deployment manifest (key fields)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replicas: 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strategy: { type: RollingUpdate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containers: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name: api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image: myacr.azurecr.io/myapp:v2.1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resources: { requests: {cpu: 100m, memory: 128Mi}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readinessProbe: { httpGet: {path: /health/ready, port: 8080} }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194560" cy="246888"/>
          </a:xfrm>
          <a:prstGeom prst="roundRect">
            <a:avLst>
              <a:gd name="adj" fmla="val 48148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SECURITY &amp; IDENTITY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Security: JWT anatomy, OAuth 2.0, Azure AD &amp; Key Vault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Every request must prove identity (authentication) and what it's allowed to do (authorisation). JWT is the token format; OAuth 2.0 is the flow; Azure AD is the issuer.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JWT token anatomy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Header.Payload.Signature — three base64 JSON objects. Signature proves it wasn't tampered with. Payload contains claims — facts about the subject.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1709928"/>
            <a:ext cx="3767328" cy="1719072"/>
          </a:xfrm>
          <a:prstGeom prst="roundRect">
            <a:avLst>
              <a:gd name="adj" fmla="val 4255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64792"/>
            <a:ext cx="351129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Decoded JWT payload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"sub":  "user-guid",            // who this token is about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"iss":  "https://login.microsoftonline.com/{tenant}", // issuer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"aud":  "api://my-app-client-id",  // intended recipient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"exp":  1749600000,             // expiry (Unix timestamp)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"iat":  1749596400,             // issued at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"roles": ["Admin","ReadOnly"],  // RBAC roles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"tid":  "tenant-id-guid",       // Azure AD tenant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"tenantId": "acme-corp"         // custom claim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Signature: RS256(base64(header) + '.' + base64(payload), privateKey)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Validated using Azure AD's PUBLIC KEY (JWKS endpoint)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" y="3456432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Validate in .NET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" y="3730752"/>
            <a:ext cx="3767328" cy="1042416"/>
          </a:xfrm>
          <a:prstGeom prst="roundRect">
            <a:avLst>
              <a:gd name="adj" fmla="val 7018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785616"/>
            <a:ext cx="3511296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.AddAuthentication(JwtBearerDefaults.AuthenticationScheme)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.AddJwtBearer(o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o.Authority = "https://login.microsoftonline.com/{tid}";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o.Audience  = "api://my-app-client-id";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Azure AD's public key fetched automatically from Authority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Controller: [Authorize(Roles = "Admin")]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Policy: [Authorize(Policy = "CanPlaceOrder")]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OAuth 2.0 flows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OAuth 2.0 is the protocol for getting access tokens. Choose the flow based on whether a human is present.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37760" y="1709928"/>
            <a:ext cx="3767328" cy="640080"/>
          </a:xfrm>
          <a:prstGeom prst="roundRect">
            <a:avLst>
              <a:gd name="adj" fmla="val 11429"/>
            </a:avLst>
          </a:prstGeom>
          <a:solidFill>
            <a:srgbClr val="0D1B4B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17465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Auth Code + PKCE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19659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C8"/>
                </a:solidFill>
              </a:rPr>
              <a:t>Web, SPA, mobile — user logs in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74920" y="21488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FAB"/>
                </a:solidFill>
              </a:rPr>
              <a:t>Redirect → user authenticates → auth code → exchange for token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937760" y="2404872"/>
            <a:ext cx="3767328" cy="640080"/>
          </a:xfrm>
          <a:prstGeom prst="roundRect">
            <a:avLst>
              <a:gd name="adj" fmla="val 11429"/>
            </a:avLst>
          </a:prstGeom>
          <a:solidFill>
            <a:srgbClr val="0D1B4B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24414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Client Credentials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4920" y="266090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C8"/>
                </a:solidFill>
              </a:rPr>
              <a:t>Service-to-service — no human user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74920" y="284378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FAB"/>
                </a:solidFill>
              </a:rPr>
              <a:t>Service sends clientId + secret → gets token → calls API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937760" y="3099816"/>
            <a:ext cx="3767328" cy="640080"/>
          </a:xfrm>
          <a:prstGeom prst="roundRect">
            <a:avLst>
              <a:gd name="adj" fmla="val 11429"/>
            </a:avLst>
          </a:prstGeom>
          <a:solidFill>
            <a:srgbClr val="0D1B4B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31363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On-Behalf-Of (OBO)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74920" y="33558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C8"/>
                </a:solidFill>
              </a:rPr>
              <a:t>API calling another API on user's behalf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74920" y="35387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FAB"/>
                </a:solidFill>
              </a:rPr>
              <a:t>API receives user token → exchanges for token for downstream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37760" y="3813048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Key Vault + Managed Identity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4096512"/>
            <a:ext cx="3767328" cy="804672"/>
          </a:xfrm>
          <a:prstGeom prst="roundRect">
            <a:avLst>
              <a:gd name="adj" fmla="val 9091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65776" y="4151376"/>
            <a:ext cx="351129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Managed Identity — no credentials stored anywhere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client = new SecretClient(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Uri("https://myvault.vault.azure.net"),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DefaultAzureCredential()); // uses MI automatically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Never store clientId/secret in config for Azure services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Reference in appsettings: "@Microsoft.KeyVault(VaultName=x;SecretName=y)"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37744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AZURE INFRASTRUCTURE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infrastructure: full service map with guidance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Azure has hundreds of services. Knowing WHEN to use each — and when NOT to — is what separates a developer from a cloud architect.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Compute — choose your host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The choice determines your operational overhead. More control = more responsibility.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App Service: managed PaaS — Microsoft handles OS patches, scaling. Use for: simple APIs, easy to operate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Container Apps: serverless containers, scale to zero. Use for: event-driven, variable load workloads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AKS: full Kubernetes control. Use for: complex multi-service, 24/7 high-scale workloads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Azure Functions: serverless, event-triggered. Use for: background jobs, scheduled tasks, lightweight APIs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Decision: App Service first → Container Apps → AKS (add complexity only when justified)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Networking — secure the perimeter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Every production Azure system should have a VNet. Expose as little as possible to the internet.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560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VNet: isolate resources from internet — always use in production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NSG: Network Security Group — firewall rules per subnet (stateful)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Private Endpoint: PaaS service (SQL, Storage, Key Vault) accessible only from VNet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Application Gateway (L7 load balancer + WAF): WAF blocks OWASP top-10 attacks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API Management: single entry point, policies, rate limiting, dev portal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Front Door: global CDN + WAF + anycast routing — for globally distributed APIs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Messaging — async communication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Async messaging decouples services. Producer doesn't care if consumer is slow or temporarily down.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Service Bus Queues: one message → one consumer (point-to-point)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Service Bus Topics: one message → many consumers (fan-out / pub-sub)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Event Grid: reactive events for Azure resource events (blob uploaded, etc.)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Event Hubs: high-throughput streaming (millions of events/sec) — analytics pipeline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Dead-letter queue: failed messages for inspection and replay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Use Service Bus for: business events between services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Use Event Hubs for: telemetry, logs, click streams at scale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Data — choose the right store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There is no single best database. Use the right store for the access pattern.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Azure SQL: relational, ACID, perfect for structured business data — your default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Cosmos DB: globally distributed NoSQL, multi-model. Use when: global scale, schema flexibility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Redis Cache: in-memory key-value — sub-millisecond reads. Use for: caching, sessions, rate limiting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Blob Storage: files, images, documents, backups — cheap object storage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Table Storage: simple NoSQL, very cheap. Use for: logs, diagnostics, simple key-value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'When would you choose Cosmos DB over Azure SQL?'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194560" cy="246888"/>
          </a:xfrm>
          <a:prstGeom prst="roundRect">
            <a:avLst>
              <a:gd name="adj" fmla="val 48148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REDIS &amp; SERVICE BUS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&amp; Service Bus: patterns, code &amp; pitfalls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Redis = fast memory cache. Service Bus = reliable async messaging. Together they are the backbone of every scalable .NET Azure system.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Redis: cache-aside pattern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Check cache first. Miss → go to DB → store in cache. Always set TTL. Always invalidate on write.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1691640"/>
            <a:ext cx="3767328" cy="2011680"/>
          </a:xfrm>
          <a:prstGeom prst="roundRect">
            <a:avLst>
              <a:gd name="adj" fmla="val 3636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46504"/>
            <a:ext cx="351129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async Task&lt;CustomerDto?&gt; GetAsync(int id)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key = $"customer:{id}";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1. Check cache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cached = await _cache.GetStringAsync(key, ct);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(cached != null)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JsonSerializer.Deserialize&lt;CustomerDto&gt;(cached)!;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2. Miss — go to DB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customer = await _repo.GetByIdAsync(id, ct);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(customer is null) return null;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3. Store with TTL — ALWAYS set expiry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_cache.SetStringAsync(key,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JsonSerializer.Serialize(customer),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DistributedCacheEntryOptions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AbsoluteExpirationRelativeToNow = TimeSpan.FromMinutes(5)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ct);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customer;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 update — invalidate cache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_cache.RemoveAsync($"customer:{id}", ct);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" y="3739896"/>
            <a:ext cx="379476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Unbounded cache (no TTL) = memory leak — always set TTL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Stale-while-revalidate: return stale + trigger background refresh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Cache stampede: all threads miss simultaneously → Redlock distributed lock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Redis also does: rate limiting, pub/sub, distributed sessions, leaderboards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Never cache sensitive PII without encryption at rest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'What is the cache stampede problem and how do you fix it?'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Service Bus: patterns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41732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Without Service Bus: Email service down = email lost. With Service Bus: message waits in queue until Email service recovers.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37760" y="1709928"/>
            <a:ext cx="3767328" cy="1920240"/>
          </a:xfrm>
          <a:prstGeom prst="roundRect">
            <a:avLst>
              <a:gd name="adj" fmla="val 3810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65776" y="1764792"/>
            <a:ext cx="351129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Publisher — OrderService sends event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_sender.SendMessageAsync(new ServiceBusMessage(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JsonSerializer.SerializeToUtf8Bytes(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OrderPlacedEvent(order.Id, order.Total)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MessageId = Guid.NewGuid().ToString(), // idempotency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Subject   = "OrderPlaced",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SessionId = order.CustomerId.ToString() // ordered delivery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Consumer — EmailService handles event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Task Handle(ProcessMessageEventArgs args)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evt = JsonSerializer.Deserialize&lt;OrderPlacedEvent&gt;(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args.Message.Body);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_email.SendConfirmationAsync(evt!);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args.CompleteMessageAsync(args.Message); // ACK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If this throws: message stays in queue for retry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After maxDeliveryCount: moved to Dead-Letter Queue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37760" y="365760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Queue: competing consumers — one message to one consumer (load balancing)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Topic + subscriptions: fan-out — Email, Inventory, Analytics all get OrderPlaced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Dead-letter queue (DLQ): inspect and replay failed messages — production essential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Message lock: consumer holds lease; must Complete before lock expires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Idempotent consumer: store MessageId in DB to detect duplicates on retry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Session: guaranteed order per SessionId (per customer, per tenant)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'How do you make a Service Bus consumer idempotent?'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029200" cy="5029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6334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4C8"/>
                </a:solidFill>
              </a:rPr>
              <a:t>Design · DDD · Multi-tenancy · Microservices · Distributed Systems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01168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SYSTEM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design: trade-offs, NFRs &amp; architect thinking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Architects don't choose the best technology. They choose the best technology for these specific constraints: budget, team, compliance, scale, and timeline.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CAP theorem &amp; consistency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In distributed systems, you can only guarantee 2 of 3: Consistency, Availability, Partition Tolerance. Partition tolerance is always required — so the real choice is C vs A.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Consistency: every read gets the latest write (SQL, your Transfer Agency)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Availability: every request gets a response, possibly stale (Cosmos AP mode)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Strong consistency: ACID, 2PC distributed transactions — simple but slow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Eventual consistency: Service Bus events, CQRS read models — fast but stale temporarily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BASE: Basically Available, Soft state, Eventually consistent — NoSQL default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'How does CAP theorem affect your service bus consumer design?'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Non-functional requirements (NFRs)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NFRs define HOW the system behaves, not WHAT it does. Missing NFRs lead to systems that work in demos but fail in production.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560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Latency: p95 &lt; 200ms, p99 &lt; 500ms at the API Gateway — measure at the edge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Availability: 99.9% = 8.7 hrs downtime/yr; 99.99% = 52 min/yr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RTO: how fast to restore after disaster? (hours? minutes? seconds?)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RPO: how much data can be lost? (0 for financial — synchronous replication)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Throughput: 1,000 req/s? 100,000 req/s? Determines DB + cache + pod count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Compliance: GDPR (EU data), POPIA (ZA data protection), PCI-DSS (payments)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Monolith vs microservices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Start with modular monolith. Split ONLY when you have concrete evidence: different scale needs, different teams, different release frequency.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Modular monolith: one deployable unit, logical module boundaries, shared DB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Microservices: independent deployable, independent DB, communicate via events/HTTP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Distributed monolith: worst of both worlds — split but tightly coupled. AVOID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Split signal: different teams need independent releases OR one service needs 10× scale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Each service owns its own database — no shared DB between services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'When would you advise AGAINST microservices?'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Distributed system patterns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Every pattern solves a specific failure mode. Know the problem first, then apply the pattern.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Saga: distributed transaction across services — choreography (events) or orchestration (coordinator)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Outbox pattern: write to DB + outbox table in one transaction — publish events reliably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Circuit breaker: stop calling failing service — fast fail, allow recovery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Retry + exponential backoff: handle transient failures without hammering the downstream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Bulkhead: limit concurrent calls — prevent one slow service taking down everything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Event sourcing: store events not current state — full audit trail, rebuild any point in time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1828800" cy="246888"/>
          </a:xfrm>
          <a:prstGeom prst="roundRect">
            <a:avLst>
              <a:gd name="adj" fmla="val 48148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MULTI-TENANCY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Multi-tenancy: silo, pool &amp; bridge patterns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 tenant is an organisation using your SaaS. Your Transfer Agency almost certainly uses the silo model. SaaS products use pool or bridge. Know the trade-offs before you decide.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97480" cy="3913632"/>
          </a:xfrm>
          <a:prstGeom prst="roundRect">
            <a:avLst>
              <a:gd name="adj" fmla="val 4068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1097280"/>
            <a:ext cx="2450592" cy="274320"/>
          </a:xfrm>
          <a:prstGeom prst="roundRect">
            <a:avLst>
              <a:gd name="adj" fmla="val 20000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09728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Silo — DB per tenant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5216" y="1426464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Pros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5216" y="1645920"/>
            <a:ext cx="245059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Maximum data isolation — breach affects one tenant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Easy compliance: GDPR, POPIA, PCI-DSS per tenant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Independent backup, restore, migration per tenant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Simple: no TenantId columns, no query filters needed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85216" y="2651760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</a:rPr>
              <a:t>Cons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5216" y="2871216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Highest infra cost — N databases = N connection pools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Cross-tenant reporting is hard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Schema migrations run N times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Connection management grows with tenants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85216" y="3840480"/>
            <a:ext cx="2450592" cy="566928"/>
          </a:xfrm>
          <a:prstGeom prst="roundRect">
            <a:avLst>
              <a:gd name="adj" fmla="val 9677"/>
            </a:avLst>
          </a:prstGeom>
          <a:solidFill>
            <a:srgbClr val="0D1B4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85876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EE"/>
                </a:solidFill>
              </a:rPr>
              <a:t>Use when: Transfer Agency, healthcare, legal, high-compliance SaaS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10128" y="1005840"/>
            <a:ext cx="2697480" cy="3913632"/>
          </a:xfrm>
          <a:prstGeom prst="roundRect">
            <a:avLst>
              <a:gd name="adj" fmla="val 4068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38144" y="1097280"/>
            <a:ext cx="2450592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438144" y="109728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Pool — Shared DB + TenantId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38144" y="1426464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Pros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38144" y="1645920"/>
            <a:ext cx="245059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Lowest cost — dense packing, one database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Single migration to maintain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Simple cross-tenant analytics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38144" y="2651760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</a:rPr>
              <a:t>Cons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38144" y="2871216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Missing WHERE TenantId = data leak (CRITICAL risk)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Noisy neighbour: one tenant's query slows all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RLS required for safety — adds DB complexity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38144" y="3840480"/>
            <a:ext cx="2450592" cy="566928"/>
          </a:xfrm>
          <a:prstGeom prst="roundRect">
            <a:avLst>
              <a:gd name="adj" fmla="val 9677"/>
            </a:avLst>
          </a:prstGeom>
          <a:solidFill>
            <a:srgbClr val="0D1B4B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385876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EE"/>
                </a:solidFill>
              </a:rPr>
              <a:t>Use when: SMB SaaS, internal tooling, low-sensitivity data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63056" y="1005840"/>
            <a:ext cx="2697480" cy="3913632"/>
          </a:xfrm>
          <a:prstGeom prst="roundRect">
            <a:avLst>
              <a:gd name="adj" fmla="val 4068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91072" y="1097280"/>
            <a:ext cx="2450592" cy="274320"/>
          </a:xfrm>
          <a:prstGeom prst="roundRect">
            <a:avLst>
              <a:gd name="adj" fmla="val 20000"/>
            </a:avLst>
          </a:prstGeom>
          <a:solidFill>
            <a:srgbClr val="3A4F9B"/>
          </a:solidFill>
          <a:ln/>
        </p:spPr>
      </p:sp>
      <p:sp>
        <p:nvSpPr>
          <p:cNvPr id="26" name="Text 24"/>
          <p:cNvSpPr/>
          <p:nvPr/>
        </p:nvSpPr>
        <p:spPr>
          <a:xfrm>
            <a:off x="6291072" y="109728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Bridge — Shared compute, separate DBs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91072" y="1426464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Pros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91072" y="1645920"/>
            <a:ext cx="245059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DB-level isolation without RLS risk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Cost-efficient shared compute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Balance of cost vs compliance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91072" y="2651760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</a:rPr>
              <a:t>Cons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91072" y="2871216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Connection string management grows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Connection pool overhead per tenant DB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291072" y="3840480"/>
            <a:ext cx="2450592" cy="566928"/>
          </a:xfrm>
          <a:prstGeom prst="roundRect">
            <a:avLst>
              <a:gd name="adj" fmla="val 9677"/>
            </a:avLst>
          </a:prstGeom>
          <a:solidFill>
            <a:srgbClr val="0D1B4B"/>
          </a:solidFill>
          <a:ln/>
        </p:spPr>
      </p:sp>
      <p:sp>
        <p:nvSpPr>
          <p:cNvPr id="32" name="Text 30"/>
          <p:cNvSpPr/>
          <p:nvPr/>
        </p:nvSpPr>
        <p:spPr>
          <a:xfrm>
            <a:off x="6327648" y="385876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EE"/>
                </a:solidFill>
              </a:rPr>
              <a:t>Use when: Most common modern SaaS — best balance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4956048"/>
            <a:ext cx="8458200" cy="365760"/>
          </a:xfrm>
          <a:prstGeom prst="roundRect">
            <a:avLst>
              <a:gd name="adj" fmla="val 30000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" y="4956048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5010912"/>
            <a:ext cx="79735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Pool model: EF Core global query filter — automatically adds WHERE TenantId = @id to EVERY query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mb.Entity&lt;Order&gt;().HasQueryFilter(o =&gt; o.TenantId == _tenantContext.TenantId);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029200" cy="5029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Paths &amp; Intent Architect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6334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4C8"/>
                </a:solidFill>
              </a:rPr>
              <a:t>DevOps · Solutions Architect · Enterprise Architect · Tool Builder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182880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CAREER ROLES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6 career paths: roles, responsibilities &amp; certifications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Each role builds on the previous. The skills compound. DevOps and Solutions Architect can be pursued in parallel from senior developer level.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9748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1097280"/>
            <a:ext cx="1737360" cy="237744"/>
          </a:xfrm>
          <a:prstGeom prst="roundRect">
            <a:avLst>
              <a:gd name="adj" fmla="val 23077"/>
            </a:avLst>
          </a:prstGeom>
          <a:solidFill>
            <a:srgbClr val="3A4F9B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097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Senior .NET Developer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377440" y="109728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4F9B"/>
                </a:solidFill>
              </a:rPr>
              <a:t>Cert: AZ-204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85216" y="1389888"/>
            <a:ext cx="245059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Own a feature area end-to-end — design, build, test, deploy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Mentor junior developers — code reviews, pair programming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Contribute to architecture decisions with evidence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Deep CQRS, Clean Architecture, DDD expertise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Performance profiling and optimisation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10128" y="1005840"/>
            <a:ext cx="269748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38144" y="1097280"/>
            <a:ext cx="1737360" cy="237744"/>
          </a:xfrm>
          <a:prstGeom prst="roundRect">
            <a:avLst>
              <a:gd name="adj" fmla="val 23077"/>
            </a:avLst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3438144" y="1097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DevOps Engineer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230368" y="109728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39C12"/>
                </a:solidFill>
              </a:rPr>
              <a:t>Cert: AZ-400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38144" y="1389888"/>
            <a:ext cx="245059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Own CI/CD pipelines from YAML to deployment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Infrastructure as Code: Bicep or Terraform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Kubernetes cluster operations and upgrades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Observability: dashboards, alerts, on-call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Security scanning in pipelines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63056" y="1005840"/>
            <a:ext cx="269748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91072" y="1097280"/>
            <a:ext cx="1737360" cy="237744"/>
          </a:xfrm>
          <a:prstGeom prst="roundRect">
            <a:avLst>
              <a:gd name="adj" fmla="val 23077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1097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Solutions Architect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083296" y="109728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96167"/>
                </a:solidFill>
              </a:rPr>
              <a:t>Cert: AZ-305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291072" y="1389888"/>
            <a:ext cx="245059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Design the technical blueprint for a system or project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Produce C4 models, ADRs, API contracts, event schemas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Define NFRs: latency, availability, RTO, RPO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Present trade-offs to technical and non-technical stakeholders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Threat modelling (STRIDE), security architecture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035808"/>
            <a:ext cx="269748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5216" y="3127248"/>
            <a:ext cx="1737360" cy="237744"/>
          </a:xfrm>
          <a:prstGeom prst="roundRect">
            <a:avLst>
              <a:gd name="adj" fmla="val 23077"/>
            </a:avLst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" y="31272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Cloud Architect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377440" y="312724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Cert: AZ-305 + specialisation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85216" y="3419856"/>
            <a:ext cx="245059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Multi-region, highly available Azure architecture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Landing zones, hub-spoke networking, private connectivity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Azure Well-Architected Framework: 5 pillars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Cost optimisation: right-sizing, reserved instances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FinOps: tag resources, showback/chargeback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10128" y="3035808"/>
            <a:ext cx="269748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38144" y="3127248"/>
            <a:ext cx="1737360" cy="237744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3438144" y="31272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Enterprise Architect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230368" y="312724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761"/>
                </a:solidFill>
              </a:rPr>
              <a:t>Cert: TOGAF 10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38144" y="3419856"/>
            <a:ext cx="245059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Organisation-wide technology strategy and roadmap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Governance: standards, patterns, vendor selection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Business capability mapping (ArchiMate)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Portfolio management: what to build vs buy vs retire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Board-level technology investment advice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63056" y="3035808"/>
            <a:ext cx="269748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91072" y="3127248"/>
            <a:ext cx="1737360" cy="237744"/>
          </a:xfrm>
          <a:prstGeom prst="roundRect">
            <a:avLst>
              <a:gd name="adj" fmla="val 23077"/>
            </a:avLst>
          </a:prstGeom>
          <a:solidFill>
            <a:srgbClr val="8E44AD"/>
          </a:solidFill>
          <a:ln/>
        </p:spPr>
      </p:sp>
      <p:sp>
        <p:nvSpPr>
          <p:cNvPr id="33" name="Text 31"/>
          <p:cNvSpPr/>
          <p:nvPr/>
        </p:nvSpPr>
        <p:spPr>
          <a:xfrm>
            <a:off x="6291072" y="31272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Tool Builder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083296" y="312724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44AD"/>
                </a:solidFill>
              </a:rPr>
              <a:t>Cert: Roslyn + architecture depth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91072" y="3419856"/>
            <a:ext cx="245059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Build Roslyn analysers and source generators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Develop Intent Architect modules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Create internal developer platforms (IDPs)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Design DSLs and code generation pipelines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Sell tools to other developers and teams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011680" cy="246888"/>
          </a:xfrm>
          <a:prstGeom prst="roundRect">
            <a:avLst>
              <a:gd name="adj" fmla="val 48148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INTENT ARCHITECT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 Architect: architecture-centric AI code automation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South African-built .NET platform. Visual design → deterministic code generation → AI agents constrained by your architecture. 4×–10× faster development.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You describe your system visually. IA generates code that 100% conforms to your chosen architecture. When design changes, IA regenerates — automatically.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Visual designer: define entities, services, events — living blueprints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Architecture modules: Clean Arch, CQRS, EF Core, FastEndpoints, gRPC, React, Angular, 100+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Code generation: every file conforms to pattern — zero drift between developers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AI agents: Claude/Copilot code within IA's architecture guardrails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Regeneration: change entity field → IA updates all affected files instantly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South African company: offices in Cape Town and Amsterdam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Problems it solves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The 6 most expensive problems in large .NET teams — eliminated systematically.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560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Boilerplate: every feature needs same scaffolding — IA generates in seconds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Architecture drift: Dev A vs Dev B implement the same pattern differently — IA prevents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Onboarding: new developer learns from IA output, not tribal knowledge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Large-scale refactors: change architecture pattern → IA regenerates everything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Code review overhead: no need to check pattern compliance — IA guarantees it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Context for AI: structured design gives AI agents accurate, bounded context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Real customer results (SA &amp; global)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Verified case studies from IA's website — including several South African enterprises you know.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Teljoy (SA): 2 years done in 6 months — 4× speedup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DVT (SA, Capgemini): 90% of time on business logic (was 40%)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PSG (SA): 100% consistency across 30+ microservices with 1 junior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Aryzac: 12-month rewrite done in 57 hours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TFG (SA): automated standards enforcement across 40+ applications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Senwes (SA): 200 hours reduced to 24 hours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How to build tools like 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The path to tool-builder level. Start with Roslyn analysers — not a full platform.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Year 1: Roslyn analyser — enforce one architecture rule at compile time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Year 2: Source generator — IIncrementalGenerator, emit a repository from [Entity]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Year 3: dotnet new template — team's standard project structure in one command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Year 4: CLI scaffolder — generate full bounded context from a spec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Year 5+: Visual tool — domain model → generated code (IA's space)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Prerequisite: 5+ years senior .NET + deep architecture + compiler API knowledge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194560" cy="246888"/>
          </a:xfrm>
          <a:prstGeom prst="roundRect">
            <a:avLst>
              <a:gd name="adj" fmla="val 48148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12-MONTH STUDY PLAN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12-month study plan: senior dev to solutions architect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Starting from: Senior .NET developer. You already know CQRS, Clean Architecture, Azure basics. Target: AZ-305 certified Solutions Architect with IA module capability.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" y="1097280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0972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Q1: C# &amp; SOLID depth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1408176"/>
            <a:ext cx="3794760" cy="1435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Apply all 5 SOLID principles to one real class at work — document it as an ADR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Async deep dive: 'Concurrency in C#' by Stephen Cleary (free online)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Roslyn: write first analyser — warn when Domain entity has public setter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AZ-204: 1 hr/day on Microsoft Learn — complete in 8 weeks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Intent Architect: install, complete Getting Started, generate CRUD module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56048" y="1097280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4956048" y="10972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Q2: Architecture foundations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56048" y="1408176"/>
            <a:ext cx="3794760" cy="1435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AZ-305 study: start now — architecture cert is the career milestone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Write C4 Context + Container diagram for your Transfer Agency system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Write 3 ADRs for real decisions made in the last 6 months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DDD: map one bounded context in your codebase — document in Structurizr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Multi-tenancy: implement pool model on a side project with EF Core global filter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" y="3108960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3A4F9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31089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Q3: Cloud &amp; DevOps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2648" y="3419856"/>
            <a:ext cx="3794760" cy="1435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AZ-305 exam: take and pass — you are now a certified Solutions Architect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AZ-400: start studying — prove DevOps ownership to employers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Terraform: provision Azure resources for portfolio project from scratch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Write source generator: IIncrementalGenerator generating repository from [Entity]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Full CI/CD pipeline: build from scratch in GitHub Actions — own the YAML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301752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56048" y="3108960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8E44AD"/>
          </a:solidFill>
          <a:ln/>
        </p:spPr>
      </p:sp>
      <p:sp>
        <p:nvSpPr>
          <p:cNvPr id="20" name="Text 18"/>
          <p:cNvSpPr/>
          <p:nvPr/>
        </p:nvSpPr>
        <p:spPr>
          <a:xfrm>
            <a:off x="4956048" y="31089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Q4: Architect-level projects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56048" y="3419856"/>
            <a:ext cx="3794760" cy="1435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Build a SaaS product: .NET + Azure + CI/CD + multi-tenancy — real users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Write Intent Architect custom module for your team's standard pattern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System design practice: Design Twitter, WhatsApp, Uber — whiteboard sessions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Structurizr DSL: automate C4 diagrams from code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Read: 'Designing Data-Intensive Applications' (Kleppmann) — cover to cover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37744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INTERVIEW PREPARATION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interview questions: senior dev, SA &amp; EA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Model answers included. The pattern: explain what it is + why it matters + when to use it + a real example from your experience.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4582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078992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3A4F9B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7899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Senior Dev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88720" y="1097280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Q: Explain SOLID with an example from your codebase.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88720" y="133502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2E"/>
                </a:solidFill>
              </a:rPr>
              <a:t>A: I applied SRP by splitting our OrderService which handled both business logic and email sending into OrderService + EmailService. The email provider changed later without touching OrderService.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" y="1673352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3A4F9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167335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Senior Dev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188720" y="1691640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Q: What is the difference between async/await and parallel programming?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88720" y="192938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2E"/>
                </a:solidFill>
              </a:rPr>
              <a:t>A: Async/await frees threads during I/O waits — one thread serves many requests. Parallel uses multiple threads for CPU work. Use async for DB/HTTP; use Parallel.ForEachAsync for batch CPU work.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" y="2267712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3A4F9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26771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Senior Dev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88720" y="2286000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Q: How do you prevent N+1 queries in EF Core?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88720" y="252374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2E"/>
                </a:solidFill>
              </a:rPr>
              <a:t>A: Use .Include() for related data. Use .Select() projection to load only needed columns. Instrument with MiniProfiler or App Insights SQL tracking to detect N+1 in tests.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" y="2862072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286207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SA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88720" y="2880360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Q: How do you decide between monolith and microservices?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88720" y="311810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2E"/>
                </a:solidFill>
              </a:rPr>
              <a:t>A: Start with modular monolith. Split when: different teams need independent releases, or one component needs 10× the scale of the rest. Never split prematurely — complexity cost is high.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" y="3456432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345643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SA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188720" y="3474720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Q: Explain the CAP theorem and how it applies to your system.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88720" y="371246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2E"/>
                </a:solidFill>
              </a:rPr>
              <a:t>A: CAP: you can only guarantee 2 of Consistency, Availability, Partition Tolerance. For our Transfer Agency (financial data) we chose CP — SQL with ACID transactions. An email notification service could be AP — eventual consistency is fine.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" y="4050792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" y="405079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EA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188720" y="4069080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Q: How do you approach a technology strategy for an organisation?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88720" y="430682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2E"/>
                </a:solidFill>
              </a:rPr>
              <a:t>A: Start with business capabilities — what does the organisation need to be able to DO? Then map current systems to capabilities. Identify gaps, duplications, and technical debt. Produce a 3-year roadmap aligned to business objectives.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19456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MASTER CHEAT SHEET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reference: terms, certifications &amp; resources</a:t>
            </a:r>
            <a:endParaRPr lang="en-US" sz="21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458200" cy="4096512"/>
        </p:xfrm>
        <a:graphic>
          <a:graphicData uri="http://schemas.openxmlformats.org/drawingml/2006/table">
            <a:tbl>
              <a:tblPr/>
              <a:tblGrid>
                <a:gridCol w="1554480"/>
                <a:gridCol w="2926080"/>
                <a:gridCol w="1371600"/>
                <a:gridCol w="2606040"/>
              </a:tblGrid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Term / Tool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What it is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Key resource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SOLID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SRP,OCP,LSP,ISP,DIP — 5 OOP design principles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All devs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Clean Code — Uncle Bob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CAP theorem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Consistency vs Availability in distributed systems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SA, senior dev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DDIA — Kleppmann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CQRS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Separate read and write models for different optimisation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Senior dev, SA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Jimmy Bogard blog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DDD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Model complex business domains in code using business language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Senior dev, SA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Blue book — Evans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Clean Arch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Dependencies point inward — Domain knows nothing about infra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Senior dev, SA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Clean Arch — Uncle Bob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Roslyn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C# compiler as a library — parse, analyse, generate code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Tool builder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learn.microsoft.com/dotnet/csharp/roslyn-sdk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Source generator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IIncrementalGenerator — emit .cs files at compile time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Tool builder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Roslyn SDK docs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NetArchTest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Assert Clean Arch rules in unit tests — CI enforcement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Senior dev, SA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NuGet: NetArchTest.Rules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Structurizr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C4 model DSL — living architecture diagrams from code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SA, EA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structurizr.com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TOGAF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Enterprise Architecture framework — TOGAF 10 certification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EA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opengroup.org/togaf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ADR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Architecture Decision Record — documents WHY, not WHAT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SA, EA, senior dev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adr.github.io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AZ-204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Azure Developer Associate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Mid–senior dev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Microsoft Learn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AZ-305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Azure Solutions Architect Expert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SA, Cloud Arch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Microsoft Learn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AZ-400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Azure DevOps Engineer Expert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DevOps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Microsoft Learn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Intent Architect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Architecture-centric AI code gen platform for .NET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All roles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intentarchitect.com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Polly v8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Resilience: retry, circuit breaker, timeout, hedge, bulkhead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Senior dev, SA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pollydocs.org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OpenTelemetry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Vendor-neutral observability: traces, metrics, logs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Senior dev, DevOps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opentelemetry.io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029200" cy="5029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Additions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48716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4C8"/>
                </a:solidFill>
              </a:rPr>
              <a:t>.NET Runtime · VSA · AI Engineering · DevOps AI · Books · Security Frameworks · Architecture Thinking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</a:rPr>
              <a:t>Based on the 9 reference infographics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01168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HOW .NET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.NET actually works: Roslyn → IL → JIT → CPU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Most developers never see past 'write C#, run app'. Understanding this pipeline makes you a better debugger, performance engineer, and architect.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The compilation pipeline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C# is never directly executed. It goes through 3 transformations before the CPU sees it.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1709928"/>
            <a:ext cx="274320" cy="512064"/>
          </a:xfrm>
          <a:prstGeom prst="roundRect">
            <a:avLst>
              <a:gd name="adj" fmla="val 20000"/>
            </a:avLst>
          </a:prstGeom>
          <a:solidFill>
            <a:srgbClr val="3A4F9B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70992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1746504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Roslyn compiles C#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1984248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→ IL (Intermediate Language) in a .dll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" y="2368296"/>
            <a:ext cx="274320" cy="512064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36829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2404872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CoreCLR loads the .dll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2642616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Assembly Loader resolves deps + Type System loads metadata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1792" y="3026664"/>
            <a:ext cx="274320" cy="512064"/>
          </a:xfrm>
          <a:prstGeom prst="roundRect">
            <a:avLst>
              <a:gd name="adj" fmla="val 20000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0266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3063240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JIT compiles IL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3300984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Each method compiled to native code on first call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1792" y="3685032"/>
            <a:ext cx="274320" cy="512064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368503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3721608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CPU executes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3959352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Native machine code runs — GC + Thread Pool run alongside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1792" y="4425696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GC Generations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" y="4690872"/>
            <a:ext cx="3767328" cy="146304"/>
          </a:xfrm>
          <a:prstGeom prst="roundRect">
            <a:avLst>
              <a:gd name="adj" fmla="val 50000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745736"/>
            <a:ext cx="3511296" cy="54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Gen0 (short-lived: temp vars) → Gen1 (survived 1 GC) → Gen2 (long-lived: statics, caches) — AVOID Gen2 pressure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JIT vs AOT — when each matters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1417320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JIT = flexible, warms up at runtime. AOT = fast startup, smaller image — ideal for containers.</a:t>
            </a:r>
            <a:endParaRPr lang="en-US" sz="9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691640"/>
          <a:ext cx="3767328" cy="1389888"/>
        </p:xfrm>
        <a:graphic>
          <a:graphicData uri="http://schemas.openxmlformats.org/drawingml/2006/table">
            <a:tbl>
              <a:tblPr/>
              <a:tblGrid>
                <a:gridCol w="1005840"/>
                <a:gridCol w="1380744"/>
                <a:gridCol w="1380744"/>
              </a:tblGrid>
              <a:tr h="2304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JIT (Just-In-Time)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AOT (NativeAOT)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When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Runtime, on first call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Build time — full native binary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Startup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Slower (JIT overhead)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Fast — no JIT needed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Image size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Larger (IL + runtime)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Smaller — ideal for containers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Flexibility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Dynamic code, reflection OK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Limited reflection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Best for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Long-running services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Serverless, CLI tools, AKS pods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 29"/>
          <p:cNvSpPr/>
          <p:nvPr/>
        </p:nvSpPr>
        <p:spPr>
          <a:xfrm>
            <a:off x="4937760" y="3145536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JIT tiers explained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937760" y="3438144"/>
            <a:ext cx="376732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Tier 0 (quick JIT): fast compile on first call — not fully optimised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Tier 1 (re-JIT): hot methods re-compiled with full optimisations after Tier 0 stats collected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Dynamic PGO: uses runtime behaviour data to optimise further — 10-40% perf gains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Hot Reload: re-compile changed methods without restart (dotnet watch)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ReadyToRun: pre-JIT at publish time — faster startup, keeps JIT flexibility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937760" y="481888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F96167"/>
                </a:solidFill>
              </a:rPr>
              <a:t>Interview Q: 'What is the difference between JIT and NativeAOT and when would you choose AOT?'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743200" cy="246888"/>
          </a:xfrm>
          <a:prstGeom prst="roundRect">
            <a:avLst>
              <a:gd name="adj" fmla="val 48148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VERTICAL SLICE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VSA vs Clean Architecture: what changes and when to use each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Clean Architecture organises by layer. VSA organises by feature. Both are valid — the right choice depends on complexity and team size.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Clean 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One feature is spread across Domain / Application / Infrastructure / API — 4 projects, many files.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1792" y="1682496"/>
            <a:ext cx="3794760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Organises by LAYER: Domain → Application → Infra → API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One feature = files in 4 different projects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Strong separation of concerns — domain protected from infra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Best when: rich domain logic, complex business rules, DDD needed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Best when: large teams with clear layer ownership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Challenge: small change touches files across multiple projects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Challenge: new developers have to learn the full layer map first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'When would you choose Clean Architecture over VSA?'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1792" y="4014216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Folder structure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" y="4279392"/>
            <a:ext cx="3767328" cy="530352"/>
          </a:xfrm>
          <a:prstGeom prst="roundRect">
            <a:avLst>
              <a:gd name="adj" fmla="val 13793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334256"/>
            <a:ext cx="351129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/Domain/Entities/Order.cs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/Application/Orders/Commands/PlaceOrder/PlaceOrderCommand.cs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/Application/Orders/Commands/PlaceOrder/PlaceOrderHandler.cs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/Infrastructure/Persistence/OrderRepository.cs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/API/Controllers/OrdersController.cs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Vertical Slice Architecture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417320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One feature = one folder. Everything for that feature lives together — endpoint, handler, mapping, validators.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0" y="1682496"/>
            <a:ext cx="3794760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Organises by FEATURE: each slice is end-to-end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One feature = one folder with ALL related files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Easier to navigate — everything in one place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Best when: CRUD-heavy apps, medium complexity, smaller teams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Best when: AI agents need to understand a feature quickly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No enforced layer boundaries — discipline required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Scales well with MediatR — each slice is a command/query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'When would you choose VSA over Clean Architecture?'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0" y="4014216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Folder structure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4279392"/>
            <a:ext cx="3767328" cy="530352"/>
          </a:xfrm>
          <a:prstGeom prst="roundRect">
            <a:avLst>
              <a:gd name="adj" fmla="val 13793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4334256"/>
            <a:ext cx="351129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/Features/Orders/PlaceOrder/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PlaceOrderEndpoint.cs   ← all in ONE folder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PlaceOrderHandler.cs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PlaceOrderValidator.cs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PlaceOrderDto.cs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4956048"/>
            <a:ext cx="8458200" cy="384048"/>
          </a:xfrm>
          <a:prstGeom prst="roundRect">
            <a:avLst>
              <a:gd name="adj" fmla="val 28571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" y="49926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BCEE"/>
                </a:solidFill>
              </a:rPr>
              <a:t>Hybrid (VSA + Clean Architecture): keep slices in the App layer. Add Domain + Infrastructure projects only when complexity justifies it. Best default for growing .NET systems.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19456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ARCHITECTURE vs TOOLS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vs Tools: the most important mental model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Architecture defines WHAT and WHY. Tools define HOW. Architects who confuse the two make technology choices before they understand the problem.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0" y="987552"/>
            <a:ext cx="3017520" cy="1005840"/>
          </a:xfrm>
          <a:prstGeom prst="triangle">
            <a:avLst/>
          </a:prstGeom>
          <a:solidFill>
            <a:srgbClr val="D4EDD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115568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E2A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1965960"/>
            <a:ext cx="4480560" cy="1005840"/>
          </a:xfrm>
          <a:prstGeom prst="trapezoid">
            <a:avLst/>
          </a:prstGeom>
          <a:solidFill>
            <a:srgbClr val="D6E8F7"/>
          </a:solidFill>
          <a:ln w="12700">
            <a:solidFill>
              <a:srgbClr val="3A4F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993392"/>
            <a:ext cx="4480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A6E"/>
                </a:solidFill>
              </a:rPr>
              <a:t>Design Patterns &amp; Principles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94560" y="248716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Event-Driven, Microservices, CQRS, SOLID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88720" y="2944368"/>
            <a:ext cx="6492240" cy="1005840"/>
          </a:xfrm>
          <a:prstGeom prst="trapezoid">
            <a:avLst/>
          </a:prstGeom>
          <a:solidFill>
            <a:srgbClr val="FDE8E8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971800"/>
            <a:ext cx="6492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1A1A"/>
                </a:solidFill>
              </a:rPr>
              <a:t>Tools &amp; Technologies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88720" y="3465576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Azure, Kafka, Redis, React, PostgreSQL, Docker, Kubernetes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 rot="5400000">
            <a:off x="128016" y="1371600"/>
            <a:ext cx="822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Strategic ↑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 rot="5400000">
            <a:off x="128016" y="292608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Tactical 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53328" y="12801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7AE60"/>
                </a:solidFill>
              </a:rPr>
              <a:t>Defines: What / Why / When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53328" y="23042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4F9B"/>
                </a:solidFill>
              </a:rPr>
              <a:t>Defines: how it behaves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53328" y="32735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6167"/>
                </a:solidFill>
              </a:rPr>
              <a:t>Defines: how it is implemented</a:t>
            </a:r>
            <a:endParaRPr lang="en-US" sz="9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69080"/>
          <a:ext cx="8458200" cy="1261872"/>
        </p:xfrm>
        <a:graphic>
          <a:graphicData uri="http://schemas.openxmlformats.org/drawingml/2006/table">
            <a:tbl>
              <a:tblPr/>
              <a:tblGrid>
                <a:gridCol w="4224528"/>
                <a:gridCol w="4233672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ARCHITECTURE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TOOLS &amp; TECHNOLOGIES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What / Why / When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How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Long-term decisions (years)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Short-term implementations (months)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Patterns &amp; Principles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Languages, Frameworks, DBs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Strategic thinking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Tactical execution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Outlasts tools — survives technology changes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Replaceable — swap Kafka for Service Bus if needed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Architect owns this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Developer owns this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57200" y="5358384"/>
            <a:ext cx="8458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F96167"/>
                </a:solidFill>
              </a:rPr>
              <a:t>Interview insight: When asked 'Should we use Kafka or Service Bus?' — the architect's FIRST question is 'What are the ordering, delivery, and scale requirements?' The tool choice follows the architecture decision.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194560" cy="246888"/>
          </a:xfrm>
          <a:prstGeom prst="roundRect">
            <a:avLst>
              <a:gd name="adj" fmla="val 48148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AI-POWERED DEVOPS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DevOps: traditional stack vs AI-augmented stack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AI won't replace DevOps engineers. DevOps engineers using AI will replace those who don't. Know the tools and know the underlying tech they augment.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1078992"/>
            <a:ext cx="1371600" cy="201168"/>
          </a:xfrm>
          <a:prstGeom prst="roundRect">
            <a:avLst>
              <a:gd name="adj" fmla="val 27273"/>
            </a:avLst>
          </a:prstGeom>
          <a:solidFill>
            <a:srgbClr val="3A4F9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0789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Kubernetes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011680" y="107899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C8"/>
                </a:solidFill>
              </a:rPr>
              <a:t>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40864" y="1078992"/>
            <a:ext cx="1188720" cy="201168"/>
          </a:xfrm>
          <a:prstGeom prst="roundRect">
            <a:avLst>
              <a:gd name="adj" fmla="val 27273"/>
            </a:avLst>
          </a:prstGeom>
          <a:solidFill>
            <a:srgbClr val="3A4F9B"/>
          </a:solidFill>
          <a:ln/>
        </p:spPr>
      </p:sp>
      <p:sp>
        <p:nvSpPr>
          <p:cNvPr id="11" name="Text 9"/>
          <p:cNvSpPr/>
          <p:nvPr/>
        </p:nvSpPr>
        <p:spPr>
          <a:xfrm>
            <a:off x="2340864" y="10789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Kagent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5216" y="131673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ABCEE"/>
                </a:solidFill>
              </a:rPr>
              <a:t>AI Agent for K8s ops — natural language kubectl, anomaly detection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800600" y="1005840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28616" y="1078992"/>
            <a:ext cx="1371600" cy="201168"/>
          </a:xfrm>
          <a:prstGeom prst="roundRect">
            <a:avLst>
              <a:gd name="adj" fmla="val 27273"/>
            </a:avLst>
          </a:prstGeom>
          <a:solidFill>
            <a:srgbClr val="0D9488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928616" y="10789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Docker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355080" y="107899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C8"/>
                </a:solidFill>
              </a:rPr>
              <a:t>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84264" y="1078992"/>
            <a:ext cx="1188720" cy="201168"/>
          </a:xfrm>
          <a:prstGeom prst="roundRect">
            <a:avLst>
              <a:gd name="adj" fmla="val 27273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684264" y="10789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Gordon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28616" y="131673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ABCEE"/>
                </a:solidFill>
              </a:rPr>
              <a:t>AI Assistant for containers — Dockerfile generation, image analysis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1993392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5216" y="2066544"/>
            <a:ext cx="1371600" cy="201168"/>
          </a:xfrm>
          <a:prstGeom prst="roundRect">
            <a:avLst>
              <a:gd name="adj" fmla="val 27273"/>
            </a:avLst>
          </a:prstGeom>
          <a:solidFill>
            <a:srgbClr val="8E44AD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" y="2066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GitHub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011680" y="2066544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C8"/>
                </a:solidFill>
              </a:rPr>
              <a:t>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40864" y="2066544"/>
            <a:ext cx="1188720" cy="201168"/>
          </a:xfrm>
          <a:prstGeom prst="roundRect">
            <a:avLst>
              <a:gd name="adj" fmla="val 27273"/>
            </a:avLst>
          </a:prstGeom>
          <a:solidFill>
            <a:srgbClr val="8E44AD"/>
          </a:solidFill>
          <a:ln/>
        </p:spPr>
      </p:sp>
      <p:sp>
        <p:nvSpPr>
          <p:cNvPr id="25" name="Text 23"/>
          <p:cNvSpPr/>
          <p:nvPr/>
        </p:nvSpPr>
        <p:spPr>
          <a:xfrm>
            <a:off x="2340864" y="20665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Copilot Agent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85216" y="230428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ABCEE"/>
                </a:solidFill>
              </a:rPr>
              <a:t>AI pair programmer — PR reviews, code generation, test writing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00600" y="1993392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28616" y="2066544"/>
            <a:ext cx="1371600" cy="201168"/>
          </a:xfrm>
          <a:prstGeom prst="roundRect">
            <a:avLst>
              <a:gd name="adj" fmla="val 27273"/>
            </a:avLst>
          </a:prstGeom>
          <a:solidFill>
            <a:srgbClr val="F96167">
              <a:alpha val="7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928616" y="2066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Jenkins / Azure DevOps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55080" y="2066544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C8"/>
                </a:solidFill>
              </a:rPr>
              <a:t>→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84264" y="2066544"/>
            <a:ext cx="1188720" cy="201168"/>
          </a:xfrm>
          <a:prstGeom prst="roundRect">
            <a:avLst>
              <a:gd name="adj" fmla="val 27273"/>
            </a:avLst>
          </a:prstGeom>
          <a:solidFill>
            <a:srgbClr val="F96167"/>
          </a:solidFill>
          <a:ln/>
        </p:spPr>
      </p:sp>
      <p:sp>
        <p:nvSpPr>
          <p:cNvPr id="32" name="Text 30"/>
          <p:cNvSpPr/>
          <p:nvPr/>
        </p:nvSpPr>
        <p:spPr>
          <a:xfrm>
            <a:off x="6684264" y="20665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Harness AI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28616" y="230428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ABCEE"/>
                </a:solidFill>
              </a:rPr>
              <a:t>AI-powered pipeline intelligence — failure prediction, auto-fix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2980944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85216" y="3054096"/>
            <a:ext cx="1371600" cy="201168"/>
          </a:xfrm>
          <a:prstGeom prst="roundRect">
            <a:avLst>
              <a:gd name="adj" fmla="val 27273"/>
            </a:avLst>
          </a:prstGeom>
          <a:solidFill>
            <a:srgbClr val="F39C12">
              <a:alpha val="7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85216" y="3054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Grafana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011680" y="305409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C8"/>
                </a:solidFill>
              </a:rPr>
              <a:t>→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340864" y="3054096"/>
            <a:ext cx="1188720" cy="201168"/>
          </a:xfrm>
          <a:prstGeom prst="roundRect">
            <a:avLst>
              <a:gd name="adj" fmla="val 27273"/>
            </a:avLst>
          </a:prstGeom>
          <a:solidFill>
            <a:srgbClr val="F39C12"/>
          </a:solidFill>
          <a:ln/>
        </p:spPr>
      </p:sp>
      <p:sp>
        <p:nvSpPr>
          <p:cNvPr id="39" name="Text 37"/>
          <p:cNvSpPr/>
          <p:nvPr/>
        </p:nvSpPr>
        <p:spPr>
          <a:xfrm>
            <a:off x="2340864" y="30540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Grafana AI Assistant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5216" y="329184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ABCEE"/>
                </a:solidFill>
              </a:rPr>
              <a:t>Natural language to dashboards — 'show me p99 latency last 24h'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00600" y="2980944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928616" y="3054096"/>
            <a:ext cx="1371600" cy="201168"/>
          </a:xfrm>
          <a:prstGeom prst="roundRect">
            <a:avLst>
              <a:gd name="adj" fmla="val 27273"/>
            </a:avLst>
          </a:prstGeom>
          <a:solidFill>
            <a:srgbClr val="27AE60">
              <a:alpha val="7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928616" y="3054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Prometheus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55080" y="305409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C8"/>
                </a:solidFill>
              </a:rPr>
              <a:t>→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684264" y="3054096"/>
            <a:ext cx="1188720" cy="201168"/>
          </a:xfrm>
          <a:prstGeom prst="roundRect">
            <a:avLst>
              <a:gd name="adj" fmla="val 27273"/>
            </a:avLst>
          </a:prstGeom>
          <a:solidFill>
            <a:srgbClr val="27AE60"/>
          </a:solidFill>
          <a:ln/>
        </p:spPr>
      </p:sp>
      <p:sp>
        <p:nvSpPr>
          <p:cNvPr id="46" name="Text 44"/>
          <p:cNvSpPr/>
          <p:nvPr/>
        </p:nvSpPr>
        <p:spPr>
          <a:xfrm>
            <a:off x="6684264" y="30540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HolmesGPT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28616" y="329184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ABCEE"/>
                </a:solidFill>
              </a:rPr>
              <a:t>AI root cause analysis — correlates metrics, explains incidents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57200" y="3968496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85216" y="4041648"/>
            <a:ext cx="1371600" cy="201168"/>
          </a:xfrm>
          <a:prstGeom prst="roundRect">
            <a:avLst>
              <a:gd name="adj" fmla="val 27273"/>
            </a:avLst>
          </a:prstGeom>
          <a:solidFill>
            <a:srgbClr val="3A4F9B">
              <a:alpha val="7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585216" y="4041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Terraform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011680" y="404164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C8"/>
                </a:solidFill>
              </a:rPr>
              <a:t>→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340864" y="4041648"/>
            <a:ext cx="1188720" cy="201168"/>
          </a:xfrm>
          <a:prstGeom prst="roundRect">
            <a:avLst>
              <a:gd name="adj" fmla="val 27273"/>
            </a:avLst>
          </a:prstGeom>
          <a:solidFill>
            <a:srgbClr val="3A4F9B"/>
          </a:solidFill>
          <a:ln/>
        </p:spPr>
      </p:sp>
      <p:sp>
        <p:nvSpPr>
          <p:cNvPr id="53" name="Text 51"/>
          <p:cNvSpPr/>
          <p:nvPr/>
        </p:nvSpPr>
        <p:spPr>
          <a:xfrm>
            <a:off x="2340864" y="40416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IaC Agent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5216" y="42793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ABCEE"/>
                </a:solidFill>
              </a:rPr>
              <a:t>AI IaC generation, review &amp; refactoring — from prompt to Bicep/TF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800600" y="3968496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928616" y="4041648"/>
            <a:ext cx="1371600" cy="201168"/>
          </a:xfrm>
          <a:prstGeom prst="roundRect">
            <a:avLst>
              <a:gd name="adj" fmla="val 27273"/>
            </a:avLst>
          </a:prstGeom>
          <a:solidFill>
            <a:srgbClr val="0D9488">
              <a:alpha val="7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928616" y="4041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Ansible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355080" y="404164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C8"/>
                </a:solidFill>
              </a:rPr>
              <a:t>→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684264" y="4041648"/>
            <a:ext cx="1188720" cy="201168"/>
          </a:xfrm>
          <a:prstGeom prst="roundRect">
            <a:avLst>
              <a:gd name="adj" fmla="val 27273"/>
            </a:avLst>
          </a:prstGeom>
          <a:solidFill>
            <a:srgbClr val="0D9488"/>
          </a:solidFill>
          <a:ln/>
        </p:spPr>
      </p:sp>
      <p:sp>
        <p:nvSpPr>
          <p:cNvPr id="60" name="Text 58"/>
          <p:cNvSpPr/>
          <p:nvPr/>
        </p:nvSpPr>
        <p:spPr>
          <a:xfrm>
            <a:off x="6684264" y="40416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Lightspeed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928616" y="42793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ABCEE"/>
                </a:solidFill>
              </a:rPr>
              <a:t>AI-powered Ansible automation — playbook generation &amp; optimisation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57200" y="4956048"/>
            <a:ext cx="8458200" cy="384048"/>
          </a:xfrm>
          <a:prstGeom prst="roundRect">
            <a:avLst>
              <a:gd name="adj" fmla="val 28571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21792" y="49926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Key principle: </a:t>
            </a:r>
            <a:pPr indent="0" marL="0">
              <a:buNone/>
            </a:pPr>
            <a:r>
              <a:rPr lang="en-US" sz="950" i="1" dirty="0">
                <a:solidFill>
                  <a:srgbClr val="AABCEE"/>
                </a:solidFill>
              </a:rPr>
              <a:t>Understand the underlying tool FIRST (kubectl, terraform, Prometheus) — then use the AI layer on top. The AI tool is only as good as your ability to validate its output.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56032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FROM .NET TO AI ENGINEER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.NET to AI Engineer: the skills, the path &amp; the mindset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'.NET is my foundation. AI is my force multiplier.' You don't replace your .NET skills — you extend them with AI engineering capabilities.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What you already have (.NET foundation)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Your existing Transfer Agency codebase skills are the foundation. AI engineering builds on top, not instead of.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C# and .NET — building robust, typed applications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APIs &amp; Backend Services — REST, middleware, minimal APIs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Databases — SQL Server, EF Core, indexing, transactions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Cloud &amp; DevOps — Azure, CI/CD, App Service, Functions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Messaging — Service Bus, event-driven, background jobs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Security — auth, authorisation, secrets management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Strong foundation for enterprise-grade AI systems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AI skills to add next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These are the concrete skills that bridge .NET developer to AI-enabled engineer. Learn them one project at a time.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560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Prompting &amp; context engineering — structured prompts, few-shot examples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RAG (Retrieval-Augmented Generation) — retrieve relevant docs, augment LLM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Embeddings &amp; semantic search — vectors, cosine similarity, meaning-based search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Vector databases — Pinecone, Chroma, Azure AI Search — store embeddings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Chunking strategies — split documents optimally for retrieval quality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AI in engineering workflows — connect AI outputs to real .NET SDLC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Guardrails &amp; Human-in-the-Loop — validation, approval gates, fallbacks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The progression (where you are → goal)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Each stage is real work, not just theory. You move forward by building things, not just reading about them.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.NET Engineer: strong software engineering foundation in .NET ecosystem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AI-assisted Engineer: using Copilot, ChatGPT to boost productivity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AI-enabled Engineer: building workflows using RAG, embeddings, tools ← YOU ARE HERE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AI Engineer (goal): design reliable, secure, scalable AI-powered systems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Key: not just using AI to write code — building systems where AI adds real value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One concept at a time. One project at a time. One step closer to the future.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What to apply and deepen next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These are the 7 focus areas that move you from AI-enabled to full AI Engineer capability.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1. Advanced RAG: multi-step, hybrid search, query rewriting, re-ranking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2. AI output evaluation: quality, correctness, relevance metrics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3. AI Agents &amp; tool calling: plan → use tools → execute multi-step workflows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4. MCP &amp; enterprise integrations: AI + Atlassian, Azure DevOps, enterprise APIs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5. Guardrails &amp; Human-in-the-Loop: safety policies, risk-based approvals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6. Observability &amp; cost control: token usage, latency, failure rates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7. AI Architecture Patterns: scalable, secure, maintainable AI in production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011680" cy="246888"/>
          </a:xfrm>
          <a:prstGeom prst="roundRect">
            <a:avLst>
              <a:gd name="adj" fmla="val 48148"/>
            </a:avLst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ESSENTIAL READING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books that will make you an expert engineer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Recommended by the HN / Reddit / ACM engineering community. Read in order — each builds on the previous. DDIA is the single most important book for your architect ambitions.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97480" cy="950976"/>
          </a:xfrm>
          <a:prstGeom prst="roundRect">
            <a:avLst>
              <a:gd name="adj" fmla="val 11538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1078992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07899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Priority #1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261872" y="1078992"/>
            <a:ext cx="1764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Designing Data-Intensive Applications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61872" y="1298448"/>
            <a:ext cx="1764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4C8"/>
                </a:solidFill>
              </a:rPr>
              <a:t>Kleppmann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85216" y="1481328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ABCEE"/>
                </a:solidFill>
              </a:rPr>
              <a:t>Modern databases, distributed systems, CAP theorem, consistency — the architect's bible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10128" y="1005840"/>
            <a:ext cx="2697480" cy="950976"/>
          </a:xfrm>
          <a:prstGeom prst="roundRect">
            <a:avLst>
              <a:gd name="adj" fmla="val 11538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38144" y="1078992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3A4F9B"/>
          </a:solidFill>
          <a:ln/>
        </p:spPr>
      </p:sp>
      <p:sp>
        <p:nvSpPr>
          <p:cNvPr id="14" name="Text 12"/>
          <p:cNvSpPr/>
          <p:nvPr/>
        </p:nvSpPr>
        <p:spPr>
          <a:xfrm>
            <a:off x="3438144" y="107899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Month 1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14800" y="1078992"/>
            <a:ext cx="1764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Clean Code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0" y="1298448"/>
            <a:ext cx="1764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4C8"/>
                </a:solidFill>
              </a:rPr>
              <a:t>Robert C. Martin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38144" y="1481328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ABCEE"/>
                </a:solidFill>
              </a:rPr>
              <a:t>Readable, maintainable code — meaningful names, focused functions, refactor continuously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63056" y="1005840"/>
            <a:ext cx="2697480" cy="950976"/>
          </a:xfrm>
          <a:prstGeom prst="roundRect">
            <a:avLst>
              <a:gd name="adj" fmla="val 11538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91072" y="1078992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291072" y="107899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Month 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967728" y="1078992"/>
            <a:ext cx="1764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The Pragmatic Programmer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967728" y="1298448"/>
            <a:ext cx="1764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4C8"/>
                </a:solidFill>
              </a:rPr>
              <a:t>Hunt &amp; Thomas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291072" y="1481328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ABCEE"/>
                </a:solidFill>
              </a:rPr>
              <a:t>Think in systems, automate repetitive work, continuously learn — mindset for senior devs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029968"/>
            <a:ext cx="2697480" cy="950976"/>
          </a:xfrm>
          <a:prstGeom prst="roundRect">
            <a:avLst>
              <a:gd name="adj" fmla="val 11538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5216" y="2103120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3A4F9B"/>
          </a:solidFill>
          <a:ln/>
        </p:spPr>
      </p:sp>
      <p:sp>
        <p:nvSpPr>
          <p:cNvPr id="26" name="Text 24"/>
          <p:cNvSpPr/>
          <p:nvPr/>
        </p:nvSpPr>
        <p:spPr>
          <a:xfrm>
            <a:off x="585216" y="21031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Month 2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261872" y="2103120"/>
            <a:ext cx="1764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The Mythical Man-Month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261872" y="2322576"/>
            <a:ext cx="1764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4C8"/>
                </a:solidFill>
              </a:rPr>
              <a:t>Fred Brooks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85216" y="2505456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ABCEE"/>
                </a:solidFill>
              </a:rPr>
              <a:t>Why large software projects struggle — Brooks's Law, communication paths, conceptual integrity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310128" y="2029968"/>
            <a:ext cx="2697480" cy="950976"/>
          </a:xfrm>
          <a:prstGeom prst="roundRect">
            <a:avLst>
              <a:gd name="adj" fmla="val 11538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38144" y="2103120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F96167"/>
          </a:solidFill>
          <a:ln/>
        </p:spPr>
      </p:sp>
      <p:sp>
        <p:nvSpPr>
          <p:cNvPr id="32" name="Text 30"/>
          <p:cNvSpPr/>
          <p:nvPr/>
        </p:nvSpPr>
        <p:spPr>
          <a:xfrm>
            <a:off x="3438144" y="21031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Month 3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114800" y="2103120"/>
            <a:ext cx="1764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Clean Architecture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114800" y="2322576"/>
            <a:ext cx="1764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4C8"/>
                </a:solidFill>
              </a:rPr>
              <a:t>Robert C. Martin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38144" y="2505456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ABCEE"/>
                </a:solidFill>
              </a:rPr>
              <a:t>Dependency rule, layers, boundaries — the theory behind Clean Architecture in .NET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63056" y="2029968"/>
            <a:ext cx="2697480" cy="950976"/>
          </a:xfrm>
          <a:prstGeom prst="roundRect">
            <a:avLst>
              <a:gd name="adj" fmla="val 11538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91072" y="2103120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6291072" y="21031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Month 3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967728" y="2103120"/>
            <a:ext cx="1764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Code Complete 2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67728" y="2322576"/>
            <a:ext cx="1764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4C8"/>
                </a:solidFill>
              </a:rPr>
              <a:t>Steve McConnell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291072" y="2505456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ABCEE"/>
                </a:solidFill>
              </a:rPr>
              <a:t>Practical techniques for high-quality software — write maintainable code, prevent defects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3054096"/>
            <a:ext cx="2697480" cy="950976"/>
          </a:xfrm>
          <a:prstGeom prst="roundRect">
            <a:avLst>
              <a:gd name="adj" fmla="val 11538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85216" y="3127248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27AE60"/>
          </a:solidFill>
          <a:ln/>
        </p:spPr>
      </p:sp>
      <p:sp>
        <p:nvSpPr>
          <p:cNvPr id="44" name="Text 42"/>
          <p:cNvSpPr/>
          <p:nvPr/>
        </p:nvSpPr>
        <p:spPr>
          <a:xfrm>
            <a:off x="585216" y="312724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Month 4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261872" y="3127248"/>
            <a:ext cx="1764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Refactoring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261872" y="3346704"/>
            <a:ext cx="1764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4C8"/>
                </a:solidFill>
              </a:rPr>
              <a:t>Martin Fowler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85216" y="3529584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ABCEE"/>
                </a:solidFill>
              </a:rPr>
              <a:t>Improve code without changing behaviour — remove smells, simplify complex logic, small steps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310128" y="3054096"/>
            <a:ext cx="2697480" cy="950976"/>
          </a:xfrm>
          <a:prstGeom prst="roundRect">
            <a:avLst>
              <a:gd name="adj" fmla="val 11538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438144" y="3127248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8E44AD"/>
          </a:solidFill>
          <a:ln/>
        </p:spPr>
      </p:sp>
      <p:sp>
        <p:nvSpPr>
          <p:cNvPr id="50" name="Text 48"/>
          <p:cNvSpPr/>
          <p:nvPr/>
        </p:nvSpPr>
        <p:spPr>
          <a:xfrm>
            <a:off x="3438144" y="312724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Month 4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114800" y="3127248"/>
            <a:ext cx="1764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Domain-Driven Design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114800" y="3346704"/>
            <a:ext cx="1764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4C8"/>
                </a:solidFill>
              </a:rPr>
              <a:t>Eric Evans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438144" y="3529584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ABCEE"/>
                </a:solidFill>
              </a:rPr>
              <a:t>The 'blue book' — entities, value objects, bounded contexts, ubiquitous language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163056" y="3054096"/>
            <a:ext cx="2697480" cy="950976"/>
          </a:xfrm>
          <a:prstGeom prst="roundRect">
            <a:avLst>
              <a:gd name="adj" fmla="val 11538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291072" y="3127248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F39C12"/>
          </a:solidFill>
          <a:ln/>
        </p:spPr>
      </p:sp>
      <p:sp>
        <p:nvSpPr>
          <p:cNvPr id="56" name="Text 54"/>
          <p:cNvSpPr/>
          <p:nvPr/>
        </p:nvSpPr>
        <p:spPr>
          <a:xfrm>
            <a:off x="6291072" y="312724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Month 5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967728" y="3127248"/>
            <a:ext cx="1764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Peopleware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67728" y="3346704"/>
            <a:ext cx="1764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4C8"/>
                </a:solidFill>
              </a:rPr>
              <a:t>DeMarco &amp; Lister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291072" y="3529584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ABCEE"/>
                </a:solidFill>
              </a:rPr>
              <a:t>How teams, culture, and environment affect productivity — essential for tech lead path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57200" y="4078224"/>
            <a:ext cx="2697480" cy="950976"/>
          </a:xfrm>
          <a:prstGeom prst="roundRect">
            <a:avLst>
              <a:gd name="adj" fmla="val 11538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85216" y="4151376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3A4F9B"/>
          </a:solidFill>
          <a:ln/>
        </p:spPr>
      </p:sp>
      <p:sp>
        <p:nvSpPr>
          <p:cNvPr id="62" name="Text 60"/>
          <p:cNvSpPr/>
          <p:nvPr/>
        </p:nvSpPr>
        <p:spPr>
          <a:xfrm>
            <a:off x="585216" y="415137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Month 6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261872" y="4151376"/>
            <a:ext cx="1764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Design Patterns (GoF)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261872" y="4370832"/>
            <a:ext cx="1764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4C8"/>
                </a:solidFill>
              </a:rPr>
              <a:t>Gang of Four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85216" y="4553712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ABCEE"/>
                </a:solidFill>
              </a:rPr>
              <a:t>The 23 classic patterns — factory, decorator, strategy, observer, command — with structure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310128" y="4078224"/>
            <a:ext cx="2697480" cy="950976"/>
          </a:xfrm>
          <a:prstGeom prst="roundRect">
            <a:avLst>
              <a:gd name="adj" fmla="val 11538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438144" y="4151376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64748B"/>
          </a:solidFill>
          <a:ln/>
        </p:spPr>
      </p:sp>
      <p:sp>
        <p:nvSpPr>
          <p:cNvPr id="68" name="Text 66"/>
          <p:cNvSpPr/>
          <p:nvPr/>
        </p:nvSpPr>
        <p:spPr>
          <a:xfrm>
            <a:off x="3438144" y="415137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Advanced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4114800" y="4151376"/>
            <a:ext cx="1764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The Art of Computer Programming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4114800" y="4370832"/>
            <a:ext cx="1764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4C8"/>
                </a:solidFill>
              </a:rPr>
              <a:t>Donald Knuth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3438144" y="4553712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ABCEE"/>
                </a:solidFill>
              </a:rPr>
              <a:t>Deep foundations of algorithms and mathematical analysis — long-term investment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163056" y="4078224"/>
            <a:ext cx="2697480" cy="950976"/>
          </a:xfrm>
          <a:prstGeom prst="roundRect">
            <a:avLst>
              <a:gd name="adj" fmla="val 11538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6291072" y="4151376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1E2761"/>
          </a:solidFill>
          <a:ln/>
        </p:spPr>
      </p:sp>
      <p:sp>
        <p:nvSpPr>
          <p:cNvPr id="74" name="Text 72"/>
          <p:cNvSpPr/>
          <p:nvPr/>
        </p:nvSpPr>
        <p:spPr>
          <a:xfrm>
            <a:off x="6291072" y="415137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Advanced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967728" y="4151376"/>
            <a:ext cx="1764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Enterprise Integration Patterns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967728" y="4370832"/>
            <a:ext cx="1764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4C8"/>
                </a:solidFill>
              </a:rPr>
              <a:t>Hohpe &amp; Woolf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291072" y="4553712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ABCEE"/>
                </a:solidFill>
              </a:rPr>
              <a:t>Integration patterns: message channels, routers, transformers — essential for EA path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37744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SECURITY FRAMEWORKS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security architecture frameworks: when to use each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Not every framework suits every organisation. For most .NET Azure developers: Zero Trust is your daily practice. NIST CSF for posture. ISO 27001 for compliance. TOGAF for EA.</a:t>
            </a:r>
            <a:endParaRPr lang="en-US" sz="1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4582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2286000"/>
                <a:gridCol w="2971800"/>
              </a:tblGrid>
              <a:tr h="4773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Framework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Primary Focus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Relevance to You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73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Zero Trust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Architecture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Identity-centric security — never trust, always verify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Cloud-native and hybrid environments — Azure AD + Managed Identity IS Zero Trust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High — you are already applying it: JWT, Managed Identity, private endpoints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3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NIST CSF 2.0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Cybersecurity risk management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Any org improving security maturity — broad industry adoption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Medium — understand the 6 functions: Govern, Identify, Protect, Detect, Respond, Recover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773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ISO 27001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Information security management — ISMS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Compliance-focused orgs needing global credibility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High for SA — Transfer Agency clients may require ISO 27001 evidence from vendors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3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TOGAF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Enterprise architecture governance — not just security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Enterprise transformation programmes — org-wide standards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High for EA path — TOGAF 10 certification is your EA milestone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773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SABSA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Business-driven security architecture — risk context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Large enterprises, regulated industries (financial, healthcare)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Medium — Transfer Agency sector; understand risk attributes and traceability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3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COBIT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Governance and compliance management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Boards and audit-driven enterprises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Low-medium — relevant when you reach EA level and need governance language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773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NIST 800-53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Security controls catalogue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US federal / high-security environments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Low for SA context — but NIST CSF 2.0 (above) uses similar language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3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Gartner CARTA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Adaptive trust and continuous risk assessment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AI-driven, dynamic environments where static rules fail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Medium — the future direction; relevant for AI-enabled systems you'll build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340096"/>
            <a:ext cx="8458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6167"/>
                </a:solidFill>
              </a:rPr>
              <a:t>Interview insight: 'Which security framework does your organisation use?' — for most .NET Azure shops the answer is Zero Trust (enforced via Azure AD, Managed Identity, private endpoints, NSGs) even if they don't call it that by name.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377440" cy="246888"/>
          </a:xfrm>
          <a:prstGeom prst="roundRect">
            <a:avLst>
              <a:gd name="adj" fmla="val 48148"/>
            </a:avLst>
          </a:prstGeom>
          <a:solidFill>
            <a:srgbClr val="8E44A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PATTERNS IN PRODUCTION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patterns: Result, Specification, Chain of Responsibility &amp; Adapter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These four patterns appear constantly in real .NET systems but are underrepresented in interview prep. Know them with code.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Result pattern — errors as values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376732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Return success or failure without throwing exceptions for flow control. Exceptions are for exceptional cases.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1664208"/>
            <a:ext cx="3767328" cy="1133856"/>
          </a:xfrm>
          <a:prstGeom prst="roundRect">
            <a:avLst>
              <a:gd name="adj" fmla="val 6452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19072"/>
            <a:ext cx="3511296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Result&lt;Order&gt; PlaceOrder(PlaceOrderCommand cmd)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(!cmd.Items.Any())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Result.Failure&lt;Order&gt;("Order must have items");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order = Order.Create(cmd);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Result.Success(order);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Caller: if(result.IsSuccess) ... else log(result.Error)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73168" y="100584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Specification pattern — encapsulate queries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417320"/>
            <a:ext cx="376732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Encapsulate a query predicate as a named, reusable, composable object.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37760" y="1664208"/>
            <a:ext cx="3767328" cy="1133856"/>
          </a:xfrm>
          <a:prstGeom prst="roundRect">
            <a:avLst>
              <a:gd name="adj" fmla="val 6452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65776" y="1719072"/>
            <a:ext cx="3511296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ActiveOrdersForCustomer : Specification&lt;Order&gt;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ActiveOrdersForCustomer(int customerId)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=&gt; Query.Where(o =&gt; o.CustomerId == customerId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&amp;&amp; o.Status == OrderStatus.Active)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.OrderByDescending(o =&gt; o.CreatedAt);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Usage: await _repo.ListAsync(new ActiveOrdersForCustomer(id))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999232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" y="3108960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Chain of Responsibility — MediatR pipelines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" y="3410712"/>
            <a:ext cx="376732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Pass requests through a chain of handlers. Each handler decides to process or pass forward.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" y="3657600"/>
            <a:ext cx="3767328" cy="1115568"/>
          </a:xfrm>
          <a:prstGeom prst="roundRect">
            <a:avLst>
              <a:gd name="adj" fmla="val 6557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712464"/>
            <a:ext cx="351129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MediatR pipeline = Chain of Responsibility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Request flows: LoggingBehaviour → ValidationBehaviour → Handler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Each behaviour calls 'await next()' to pass to the next link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This IS the Chain of Responsibility pattern — named and applied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 new cross-cutting concern = add new pipeline behaviour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73168" y="2999232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3108960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Adapter pattern — translate between interfaces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410712"/>
            <a:ext cx="376732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Make incompatible interfaces work together. Wrap a third-party service behind your own interface.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37760" y="3657600"/>
            <a:ext cx="3767328" cy="1115568"/>
          </a:xfrm>
          <a:prstGeom prst="roundRect">
            <a:avLst>
              <a:gd name="adj" fmla="val 6557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65776" y="3712464"/>
            <a:ext cx="351129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Your interface (defined in Application layer)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IEmailService { Task SendAsync(Email email);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Adapter wraps SendGrid SDK (Infrastructure layer)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SendGridAdapter : IEmailService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async Task SendAsync(Email email)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msg = new SendGridMessage(); // translate YOUR model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msg.SetFrom(email.From);        // to SendGrid's model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_client.SendEmailAsync(msg);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4956048"/>
            <a:ext cx="8458200" cy="384048"/>
          </a:xfrm>
          <a:prstGeom prst="roundRect">
            <a:avLst>
              <a:gd name="adj" fmla="val 28571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" y="49926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BCEE"/>
                </a:solidFill>
              </a:rPr>
              <a:t>Resource: 'Design Patterns That Deliver' — thecodeman.net | Free chapter: Builder Pattern in Modern C# | All patterns shown in real production .NET code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37744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SA INTERVIEW FRAMEWORK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 Architect interview framework: the 14-step process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When given a system design problem in an interview, follow this exact sequence. It demonstrates architect thinking, not just technical knowledge.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109728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3A4F9B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097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96112" y="109728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Clarify Requirements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5216" y="1408176"/>
            <a:ext cx="245059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Functional (what it does) + NFRs (how well it does it) — never skip this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10128" y="1005840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38144" y="109728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438144" y="1097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49040" y="109728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Estimate Scale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38144" y="1408176"/>
            <a:ext cx="245059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Users, requests/sec, data volume, read/write ratio — drives all architecture decisions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63056" y="1005840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91072" y="109728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1097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01968" y="109728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Design APIs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91072" y="1408176"/>
            <a:ext cx="245059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REST endpoints, request/response shapes, auth model, versioning strategy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1993392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5216" y="208483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" y="2084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96112" y="208483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Design Data Model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5216" y="2395728"/>
            <a:ext cx="245059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SQL vs NoSQL, schema, indexes, partitioning, tenancy model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10128" y="1993392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38144" y="208483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39C12"/>
          </a:solidFill>
          <a:ln/>
        </p:spPr>
      </p:sp>
      <p:sp>
        <p:nvSpPr>
          <p:cNvPr id="28" name="Text 26"/>
          <p:cNvSpPr/>
          <p:nvPr/>
        </p:nvSpPr>
        <p:spPr>
          <a:xfrm>
            <a:off x="3438144" y="2084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749040" y="208483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High-Level Architecture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38144" y="2395728"/>
            <a:ext cx="245059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CDN → WAF → Load Balancer → API Gateway → Services → Message Bus → Data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63056" y="1993392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91072" y="208483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8E44AD"/>
          </a:solidFill>
          <a:ln/>
        </p:spPr>
      </p:sp>
      <p:sp>
        <p:nvSpPr>
          <p:cNvPr id="33" name="Text 31"/>
          <p:cNvSpPr/>
          <p:nvPr/>
        </p:nvSpPr>
        <p:spPr>
          <a:xfrm>
            <a:off x="6291072" y="2084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01968" y="208483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Design Architecture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91072" y="2395728"/>
            <a:ext cx="245059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Monolith vs microservices, sync vs async, bounded contexts, service boundaries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2980944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85216" y="30723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3A4F9B"/>
          </a:solidFill>
          <a:ln/>
        </p:spPr>
      </p:sp>
      <p:sp>
        <p:nvSpPr>
          <p:cNvPr id="38" name="Text 36"/>
          <p:cNvSpPr/>
          <p:nvPr/>
        </p:nvSpPr>
        <p:spPr>
          <a:xfrm>
            <a:off x="585216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96112" y="3072384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Plan Reliability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5216" y="3383280"/>
            <a:ext cx="245059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Circuit breaker, retry, timeout, bulkhead, DLQ, saga pattern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10128" y="2980944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438144" y="30723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/>
        </p:spPr>
      </p:sp>
      <p:sp>
        <p:nvSpPr>
          <p:cNvPr id="43" name="Text 41"/>
          <p:cNvSpPr/>
          <p:nvPr/>
        </p:nvSpPr>
        <p:spPr>
          <a:xfrm>
            <a:off x="3438144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749040" y="3072384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Plan Security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438144" y="3383280"/>
            <a:ext cx="245059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Zero Trust, JWT, RBAC, Key Vault, encryption in transit + at rest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63056" y="2980944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91072" y="30723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96167"/>
          </a:solidFill>
          <a:ln/>
        </p:spPr>
      </p:sp>
      <p:sp>
        <p:nvSpPr>
          <p:cNvPr id="48" name="Text 46"/>
          <p:cNvSpPr/>
          <p:nvPr/>
        </p:nvSpPr>
        <p:spPr>
          <a:xfrm>
            <a:off x="6291072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601968" y="3072384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Plan Observability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91072" y="3383280"/>
            <a:ext cx="245059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Structured logging, distributed tracing, metrics, alerting, dashboards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57200" y="3968496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85216" y="405993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7AE60"/>
          </a:solidFill>
          <a:ln/>
        </p:spPr>
      </p:sp>
      <p:sp>
        <p:nvSpPr>
          <p:cNvPr id="53" name="Text 51"/>
          <p:cNvSpPr/>
          <p:nvPr/>
        </p:nvSpPr>
        <p:spPr>
          <a:xfrm>
            <a:off x="585216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96112" y="405993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Discuss Trade-offs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85216" y="4370832"/>
            <a:ext cx="245059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Cost vs complexity vs performance — explicitly state what you're optimising for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310128" y="3968496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438144" y="405993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39C12"/>
          </a:solidFill>
          <a:ln/>
        </p:spPr>
      </p:sp>
      <p:sp>
        <p:nvSpPr>
          <p:cNvPr id="58" name="Text 56"/>
          <p:cNvSpPr/>
          <p:nvPr/>
        </p:nvSpPr>
        <p:spPr>
          <a:xfrm>
            <a:off x="3438144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749040" y="405993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Estimate Cost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438144" y="4370832"/>
            <a:ext cx="245059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Rough Azure cost — compute, storage, messaging, bandwidth — shows business awareness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163056" y="3968496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291072" y="405993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8E44AD"/>
          </a:solidFill>
          <a:ln/>
        </p:spPr>
      </p:sp>
      <p:sp>
        <p:nvSpPr>
          <p:cNvPr id="63" name="Text 61"/>
          <p:cNvSpPr/>
          <p:nvPr/>
        </p:nvSpPr>
        <p:spPr>
          <a:xfrm>
            <a:off x="6291072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601968" y="405993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Summarise &amp; Validate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291072" y="4370832"/>
            <a:ext cx="245059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Repeat back the decisions, confirm NFRs are met, invite questions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57200" y="4956048"/>
            <a:ext cx="845820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21792" y="49926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Key architect vocabulary: High Availability · Fault Tolerance · Resilience · Scalability · Elasticity · Observability · Event-Driven · Loose Coupling · Domain-Driven Design · Cloud Native · Zero Trust · SLA/SLO/SLI · RTO/RPO · Multi-Tenancy · Compliance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1828800" cy="246888"/>
          </a:xfrm>
          <a:prstGeom prst="roundRect">
            <a:avLst>
              <a:gd name="adj" fmla="val 48148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COMPLETE INDEX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handbook index — all 49 slides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Use this as your navigation guide. Each section is self-contained — jump to what you need.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3A4F9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1–2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87552" y="10424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Title + Master Flow Map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00584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3–4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30952" y="10424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CS Fundamentals — Big O + Data Structures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426464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42646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5–12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87552" y="14630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C# Fundamentals — Types, OOP, SOLID, Async, LINQ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0600" y="1426464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8E44AD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42646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13–14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30952" y="14630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Design Patterns — Creational, Structural, Behavioral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1847088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184708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15–18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87552" y="18836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Architecture — Clean Arch, CQRS, DDD, EF Core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1847088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184708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19–22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30952" y="18836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Engineering — Testing, DI, Observability, API Design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267712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3A4F9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26771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23–29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87552" y="23042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DevOps &amp; Cloud — Git, CI/CD, Docker, K8s, Security, Azure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2267712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26771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30–32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330952" y="23042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System Architecture — Design, Multi-tenancy, Microservices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2688336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688336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33–38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87552" y="27249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Career — Roles, Intent Architect, Study Plan, Interview Q&amp;A, Reference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2688336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2688336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39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330952" y="27249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DIVIDER — Reference Additions from 9 Infographics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3108960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3A4F9B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10896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87552" y="31455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How .NET Actually Works — Roslyn, JIT, AOT, GC Generations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3108960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10896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41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30952" y="31455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Vertical Slice Architecture vs Clean Architecture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3529584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352958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42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987552" y="35661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Architecture vs Tools — Strategic vs Tactical Pyramid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00600" y="3529584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8E44AD"/>
          </a:solidFill>
          <a:ln/>
        </p:spPr>
      </p:sp>
      <p:sp>
        <p:nvSpPr>
          <p:cNvPr id="46" name="Text 44"/>
          <p:cNvSpPr/>
          <p:nvPr/>
        </p:nvSpPr>
        <p:spPr>
          <a:xfrm>
            <a:off x="4800600" y="352958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43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330952" y="35661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AI-Powered DevOps Stack — Kagent, Harness AI, HolmesGPT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3950208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395020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44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987552" y="39867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.NET to AI Engineer — RAG, Embeddings, Agents, Guardrails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00600" y="3950208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F96167"/>
          </a:solidFill>
          <a:ln/>
        </p:spPr>
      </p:sp>
      <p:sp>
        <p:nvSpPr>
          <p:cNvPr id="52" name="Text 50"/>
          <p:cNvSpPr/>
          <p:nvPr/>
        </p:nvSpPr>
        <p:spPr>
          <a:xfrm>
            <a:off x="4800600" y="395020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30952" y="39867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12 Essential Books — Reading List with Priority Order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7200" y="4370832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437083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46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987552" y="44074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Security Architecture Frameworks — Zero Trust, NIST, ISO 27001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800600" y="4370832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8E44AD"/>
          </a:solidFill>
          <a:ln/>
        </p:spPr>
      </p:sp>
      <p:sp>
        <p:nvSpPr>
          <p:cNvPr id="58" name="Text 56"/>
          <p:cNvSpPr/>
          <p:nvPr/>
        </p:nvSpPr>
        <p:spPr>
          <a:xfrm>
            <a:off x="4800600" y="437083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47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330952" y="44074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Production Patterns — Result, Specification, Adapter, Chain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57200" y="4791456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4791456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48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987552" y="48280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SA Interview Framework — 12-Step System Design Process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800600" y="4791456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3A4F9B"/>
          </a:solidFill>
          <a:ln/>
        </p:spPr>
      </p:sp>
      <p:sp>
        <p:nvSpPr>
          <p:cNvPr id="64" name="Text 62"/>
          <p:cNvSpPr/>
          <p:nvPr/>
        </p:nvSpPr>
        <p:spPr>
          <a:xfrm>
            <a:off x="4800600" y="4791456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49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330952" y="48280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Complete Index (this slide)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.NET Developer to Enterprise Architect — Complete Handbook v2</dc:title>
  <dc:subject>PptxGenJS Presentation</dc:subject>
  <dc:creator>Bongani Nyoni</dc:creator>
  <cp:lastModifiedBy>Bongani Nyoni</cp:lastModifiedBy>
  <cp:revision>1</cp:revision>
  <dcterms:created xsi:type="dcterms:W3CDTF">2026-06-11T18:34:34Z</dcterms:created>
  <dcterms:modified xsi:type="dcterms:W3CDTF">2026-06-11T18:34:34Z</dcterms:modified>
</cp:coreProperties>
</file>