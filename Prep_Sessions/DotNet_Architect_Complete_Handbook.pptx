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A4F9B">
              <a:alpha val="28000"/>
            </a:srgbClr>
          </a:solidFill>
          <a:ln w="12700">
            <a:solidFill>
              <a:srgbClr val="3A4F9B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017520"/>
            <a:ext cx="3474720" cy="3474720"/>
          </a:xfrm>
          <a:prstGeom prst="ellipse">
            <a:avLst/>
          </a:prstGeom>
          <a:solidFill>
            <a:srgbClr val="3A4F9B">
              <a:alpha val="24000"/>
            </a:srgbClr>
          </a:solidFill>
          <a:ln w="12700">
            <a:solidFill>
              <a:srgbClr val="3A4F9B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Developer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2435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Enterprise Architect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C8"/>
                </a:solidFill>
              </a:rPr>
              <a:t>The Complete Handbook — Career Roadmap · Study Guide · Interview Prep · Architecture Reference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36576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82296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35 sections covering: </a:t>
            </a:r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CS Fundamentals · C# from scratch · OOP · SOLID · Patterns · Async · EF Core · Clean Architecture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CQRS · DDD · Testing · Git · CI/CD · Docker · Kubernetes · Azure · Security · JWT · Redis · Service Bus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System Design · Multi-tenancy · Microservices · Observability · DevOps · SA · EA · Intent Architect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Bongani Nyoni  ·  Senior .NET Developer  ·  CPUT BEng Tech Honours  ·  Ikamva Tech 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MASTER FLOW 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fits: code to production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Every stage below is covered in this deck. Tap any stage to understand it in detail.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3A4F9B">
              <a:alpha val="80000"/>
            </a:srgbClr>
          </a:solidFill>
          <a:ln w="10160">
            <a:solidFill>
              <a:srgbClr val="3A4F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C#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Clean Arch + CQRS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 + PR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Branch → Review → Merge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Build · Test · Scan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39C12">
              <a:alpha val="80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Image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Multi-stage build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98755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0424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 Registry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ACR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CD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Dev → Staging → Prod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1E2761">
              <a:alpha val="80000"/>
            </a:srgbClr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AKS / App Service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Pods · Ingress · HPA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Management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Gateway · Auth · Throttle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Layer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JWT · AD · Key Vault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208483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3A4F9B">
              <a:alpha val="80000"/>
            </a:srgbClr>
          </a:solidFill>
          <a:ln w="10160">
            <a:solidFill>
              <a:srgbClr val="3A4F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13969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560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Bus · Redis · Blob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27AE60">
              <a:alpha val="80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SQL / Cosmos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Data layer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39C12">
              <a:alpha val="80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Redis Cache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Cache-aside · TTL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8E44AD">
              <a:alpha val="80000"/>
            </a:srgbClr>
          </a:solidFill>
          <a:ln w="10160">
            <a:solidFill>
              <a:srgbClr val="8E44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Bus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Queues · Topics · DLQ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0D9488">
              <a:alpha val="8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Insights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0352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Traces · Logs · Alerts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49440" y="3182112"/>
            <a:ext cx="1572768" cy="932688"/>
          </a:xfrm>
          <a:prstGeom prst="roundRect">
            <a:avLst>
              <a:gd name="adj" fmla="val 9804"/>
            </a:avLst>
          </a:prstGeom>
          <a:solidFill>
            <a:srgbClr val="F96167">
              <a:alpha val="80000"/>
            </a:srgbClr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2369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36576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Monitor · Support · SRE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3525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C8"/>
                </a:solidFill>
              </a:rPr>
              <a:t>↓ Architecture decision sits above everything — it determines what this diagram looks like ↓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Fundamentals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Algorithms · Data Structures · Big O · Where they matter in enterprise .NET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CS FUNDAMENTALS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Big O notation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Big O describes how an algorithm's time or memory grows as input grows. Knowing this prevents production performance disasters.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Big O — the 6 you must know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4475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4447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43584" y="1463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Constant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43584" y="1645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Dictionary lookup, array index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79776" y="1517904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Lightning fast — no matter how big the 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1956816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95681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O(log 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43584" y="1975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Logarithmic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3584" y="215798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Binary search, balanced BST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79776" y="202996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Doubles input = one extra step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2468880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4688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43584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Linear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43584" y="2670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LINQ .Where(), List.Contains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79776" y="2542032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One step per element — scales with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" y="2980944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98094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 log n)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43584" y="2999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Linearithmic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43584" y="318211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Sorting (LINQ .OrderBy())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79776" y="3054096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Very acceptable for sorting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" y="3493008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4930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O(n²)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43584" y="3511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Quadratic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43584" y="3694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Nested foreach loops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79776" y="35661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Avoid — 1000 items = 1M operations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" y="4005072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00507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O(2ⁿ)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43584" y="40233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Exponential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43584" y="4206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Naive recursive Fibonacci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79776" y="4078224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Never in production code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structures — choose wisely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Wrong collection = hidden O(n²) in production. Choose based on your dominant operation.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Array / List&lt;T&gt;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1911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 O(1) · Add O(1)* · Insert O(n)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21424" y="17099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Ordered sequence, index access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2167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Dictionary&lt;K,V&gt;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2368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Get/Set/Contains O(1)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21424" y="2167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Lookup by key — use for caches, lookups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37760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HashSet&lt;T&gt;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3776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Contains O(1) · Add O(1)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21424" y="26243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Unique values, fast membership test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SortedDictionary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32826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Get O(log n) · Iterate sorted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21424" y="30815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Need sorted keys — e.g. priority queues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3538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LinkedList&lt;T&gt;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37760" y="37398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Insert/Delete O(1) with ref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21424" y="35387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Frequent middle insertions/deletions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37760" y="3995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Queue&lt;T&gt;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37760" y="4197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Enqueue/Dequeue O(1)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21424" y="39959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FIFO processing — background job queues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453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Stack&lt;T&gt;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37760" y="46542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Push/Pop O(1)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21424" y="4453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LIFO — undo systems, expression parsing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37760" y="4773168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Where Big O matters in enterprise 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4F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Fundamentals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Types · Memory · OOP · SOLID · Async · LINQ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TYPES &amp; MEMORY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types, reference types &amp; memory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Understanding stack vs heap prevents memory leaks, boxing overhead, and subtle bugs in high-throughput .NET services.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Stack vs Heap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stack is fast, auto-cleaned. The heap requires GC. Misusing them causes either GC pressure or stack overflow.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874520"/>
          </a:xfrm>
          <a:prstGeom prst="roundRect">
            <a:avLst>
              <a:gd name="adj" fmla="val 390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 — value types, auto-managed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30;          // 4 bytes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price = 9.99;   // 8 bytes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active = true;    // 1 byte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method exits, stack frame is popped — instant cleanup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Heap — reference types, GC-managed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customer = new Customer(); // reference on stack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// Customer object on heap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"Bongani";       // string is on heap (immutable)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Boxing — value type copied onto heap (AVOID in hot paths)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boxed = age;  // copies int to heap — GC pressure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unboxed = (int)boxed; // unbox — another copy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Span&lt;T&gt; — stack-allocated slice, ZERO allocation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ReadOnlySpan&lt;char&gt; span = "Hello World".AsSpan();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first = span[..5]; // "Hello" — no heap allocation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621024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struct = value type on stack; class = reference type on heap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 = immutable reference type with value equality (C#9+)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 struct = immutable value type (C#10+)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IDisposable: deterministic cleanup of unmanaged resources (DB connections, streams)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using statement = guaranteed Dispose() even if exception thrown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GC generations: Gen0 (short-lived), Gen1, Gen2 (long-lived) — avoid Gen2 pressure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Modern C# type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67328" cy="2359152"/>
          </a:xfrm>
          <a:prstGeom prst="roundRect">
            <a:avLst>
              <a:gd name="adj" fmla="val 310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472184"/>
            <a:ext cx="3511296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Nullable reference types (C#8+) — opt-in null safety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 name  = "Bongani"; // non-nullable — compiler warns if null assigned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email = null;      // nullable — explicit intent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Records — immutable, value equality, with-expressions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Customer(int Id, string Name, string Email);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c1 = new Customer(1, "Bongani", "b@test.com");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c2 = c1 with { Email = "new@test.com" }; // copy with mutation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matching (C#9+)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label = order.Status switch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OrderStatus.Pending  =&gt; "Awaiting payment",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OrderStatus.Shipped  =&gt; "On the way",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OrderStatus.Delivered when order.Total &gt; 1000 =&gt; "VIP delivered",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 =&gt; "Unknown"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Init-only properties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Id    { get; init; } // settable only in constructor/object init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decimal Total { get; init;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38130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var = compile-time type inference — not dynamic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const = compile-time constant; readonly = set once at construction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Nullable types: int? — adds null to any value type — use sparingly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Span&lt;T&gt; and Memory&lt;T&gt;: slice without allocation — essential for performance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Primary constructors (C#12): class OrderService(IOrderRepository repo)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OOP — FOUR PILLARS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OOP: the four pillars with explanations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Encapsulation hides state. Abstraction hides complexity. Inheritance shares behaviour. Polymorphism lets one interface serve many types.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Encapsulation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Protect internal state. Only expose what callers need. Prevents your object from being put in an invalid state by outside code.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private fields + public properties — not public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private set: read anywhere, write only inside the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Expose behaviour not data: account.Deposit(100) not account.Balance += 100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Access modifiers: private &lt; protected &lt; internal &lt; public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Benefits: invariants are always maintained; refactor internals without breaking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Violation: god objects, public fields, anemic domain models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Abstraction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Show only the interface; hide the implementation. You use List&lt;T&gt; without knowing how it resizes internally.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 = pure contract: what, not how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abstract class = partial implementation + forced contract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Program to the abstraction: IOrderRepository not SqlOrderRepository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swap implementations without changing callers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 enable unit testing — inject a fake instead of a real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Every dependency should be expressed as an interface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Inheritance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Share code between related types. A child automatically has all members of its parent. Use sparingly — prefer composition.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class Dog : Animal — Dog IS-A Animal; gets all Animal members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virtual + override: child provides its own version of parent method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abstract method: parent declares shape, child must implement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sealed: prevents further subclassing (string, Int32 are sealed)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base.Method(): call parent version from child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Prefer composition: class Car { Engine _e; } over class Car : Engine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Polymorphism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Many forms. One variable of type Animal can point to a Dog or Cat. The correct method is chosen at runtime.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Runtime (dynamic): List&lt;Shape&gt; — Shape.Area() calls the right override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Interface: IOrderRepository repo = new SqlRepo() or new FakeRepo()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is/as for safe downcasting: if (a is Dog d) { d.Fetch(); 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switch expression with patterns: o switch { Dog d =&gt; ..., Cat c =&gt; ... }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Polymorphism + interfaces = the foundation of testable, extensible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This is WHY you inject IService, not the concrete class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SOLID — SRP &amp; OCP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SOLID: S — Single Responsibility · O — Open/Closed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SOLID is 5 principles that make code easier to change and test. Violating them creates code that breaks in unexpected places when you change something unrelated.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 — Single Responsibility Principle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517904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class = one reason to change. If adding a new email provider forces you to change OrderService, it has two responsibilities.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3767328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83664"/>
            <a:ext cx="35112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VIOLATES SRP — 3 reasons to change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PlaceOrder(Order o) { /* business logic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SendEmail(Order o)  { /* email logic — reason 2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SaveToDb(Order o)   { /* DB logic — reason 3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one reason each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   { void PlaceOrder(Order o) { 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OrderEmailer    { void SendEmail(Order o) { 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OrderRepository { void Save(Order o) { } 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291840"/>
            <a:ext cx="3794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you can't name the class in one noun, it probably does too much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 class with &gt;200 lines is a smell — consider splitting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SRP at layer level: Domain / Application / Infrastructure are separate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 Clean Architecture SRP is enforced structurally by the folder layout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Tests: SRP classes are easy to test — few dependencies, clear purpose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'Give me an example of SRP violation you fixed'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 — Open/Closed Principle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17904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Open for extension, closed for modification. Add new behaviour by adding new code, not by editing tested existing code.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767328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883664"/>
            <a:ext cx="35112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VIOLATES OCP — adding VIP discount = edit this 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CalcDiscount(Order o, string type)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if(type=="loyalty") return o.Total * 0.1m;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if(type=="bulk")    return o.Total * 0.15m;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editing tested code = risk of regression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add new discount = add new 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IDiscountStrategy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decimal Calculate(Order o);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LoyaltyDiscount : IDiscountStrategy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BulkDiscount    : IDiscountStrategy { ...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VIP discount: add VipDiscount class, touch nothing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7947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Achieved through: interfaces, abstract classes, strategy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MediatR: new command = new handler file — never edit existing handlers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New type = new class, not a new if/else branch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Existing code is tested — don't break it to add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OCP makes large codebases safe to extend — essential at enterprise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the Strategy pattern enforce OCP?'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SOLID — LSP · ISP · DIP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SOLID: L — Liskov · I — Interface Segregation · D — Dependency Inversion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These three principles ensure subclasses behave correctly, interfaces stay focused, and business logic never depends on infrastructure.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L — Liskov Substitution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If Dog inherits Animal, you must be able to use Dog wherever Animal is expected without anything breaking.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Subclass must not STRENGTHEN preconditions — accept at least as much as parent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Subclass must not WEAKEN postconditions — return at least as much as parent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Classic violation: Square extends Rectangle but breaks SetWidth behaviour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Test: if you have 'if(x is SubType)' workarounds, LSP is violated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Practical: design for 'is-a' relationships carefully — Square IS-NOT-A Rectangle behaviourally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'Describe an LSP violation you have seen'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2424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I — Interface Segregation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92424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Don't force a class to implement methods it doesn't need. Split large interfaces into focused ones.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92424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Large interface with 10 methods = most classes implement 3 and throw on the rest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Split by client need: IOrderReader / IOrderWriter instead of IOrderRepository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Common in .NET: IEnumerable &lt; ICollection &lt; IList — each layer adds more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Smaller interfaces = easier to mock in unit tests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Real example: you inject IOrderReader in a read-only handler — it can't accidentally write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'Why is ISP important for testability?'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71616" y="100584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1097280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D — Dependency Inversion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9632" y="1399032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7A9FD4"/>
                </a:solidFill>
              </a:rPr>
              <a:t>High-level (business logic) must not depend on low-level (SQL, SMTP). Both depend on abstractions (interfaces).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99632" y="1719072"/>
            <a:ext cx="244144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OrderService depends on IOrderRepository, not SqlOrderRepository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The interface is defined in the Domain/Application layer — not Infrastructure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Infrastructure layer depends inward — never the other way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This is WHY Clean Architecture and DI containers exist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Testing benefit: inject FakeRepository — no DB needed in unit tests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DI and DIP?'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8458200" cy="1005840"/>
          </a:xfrm>
          <a:prstGeom prst="roundRect">
            <a:avLst>
              <a:gd name="adj" fmla="val 1090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SOLID applied: the before and after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2428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297680"/>
            <a:ext cx="7973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(all 5 violated): one class creates SQL directly, sends email, has Fax() that throws, if/else for types, breaks parent contract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(all 5 applied): OrderService(IOrderRepository, IEmailService, IDiscountStrategy) — testable, extendable, each class one reason to change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ENGINEERING PRINCIPLES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· KISS · YAGNI · Fail Fast · Idempotency &amp; more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These principles are the 'common sense' of software engineering. Violating them creates fragile, over-engineered, hard-to-maintain systems.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DRY · KISS · YAGNI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three principles that prevent over-engineering and duplication — the most common mistakes junior developers make.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DRY: Don't Repeat Yourself — duplicated logic = two places to fix bugs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KISS: Keep It Simple — the simplest solution that solves the problem wins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YAGNI: You Aren't Gonna Need It — don't build features before they're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DRY violation: copy-pasting business logic across handlers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KISS violation: microservices for a 3-table CRUD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YAGNI violation: building a plugin system before you have 2 plugins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Balance: DRY can be taken too far — wrong abstraction is worse than duplication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Fail Fast · Defensive Programming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Fail fast means detect errors as early as possible. Defensive programming means never trust input.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Fail fast: validate at the entry point — don't let bad data travel deep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Guard clauses: if (id &lt;= 0) throw new ArgumentException() at top of method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FluentValidation: validate command before handler runs (pipeline behaviour)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Defensive: never assume strings are non-null, never assume enums are valid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Null object pattern: return empty list not null — callers don't need null checks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ArgumentNullException.ThrowIfNull(repo) in constructor — fail at registration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is fail-fast important in a microservices architecture?'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Idempotency · Immutability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Idempotent operations can be safely retried. Immutable data cannot be corrupted by concurrent access.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Idempotency: same request sent N times = same result as sending it once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Required for: Service Bus consumers, payment APIs, retry policies (Polly)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Achieve with: idempotency key header, check-before-insert, upsert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Immutability: record types, readonly fields, init-only properties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Immutable value objects: Money, Address — equality by value, no mutation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Thread safety: immutable objects need no locking — safe for concurrency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you make a Service Bus consumer idempotent?'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Twelve-Factor App · Separation of Concerns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Twelve-Factor is the definitive guide to cloud-native app design. Separation of Concerns is why we have layers at all.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3: Config in environment — never hardcode; use Key Vault / App Settings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6: Stateless processes — no session state in memory; use Redis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7: Port binding — app exposes a port; doesn't depend on runtime container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 9: Disposability — fast startup, graceful shutdown (SIGTERM handling)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SoC: each layer has one concern — API handles HTTP, Domain handles business rules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Law of Demeter: only talk to direct dependencies — 'don't talk to strangers'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'Which Twelve-Factor principles apply to your current system?'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ASYNC / AWAIT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Async/await: the mental model and the rules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async/await is about freeing threads during I/O waits, not about running things in parallel. Understanding this prevents deadlocks and thread pool starvation.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How it really 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Like a waiter: takes your order, doesn't stand at the kitchen waiting — serves other tables. await = walking away; callback = food's ready.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46504"/>
            <a:ext cx="3767328" cy="1938528"/>
          </a:xfrm>
          <a:prstGeom prst="roundRect">
            <a:avLst>
              <a:gd name="adj" fmla="val 377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01368"/>
            <a:ext cx="351129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blocks the thread, causes deadlock in ASP.NET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Order GetOrder(int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_repo.GetByIdAsync(id).Result; // DEADLOCK RISK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— thread freed while DB is queried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Task&lt;Order?&gt; GetOrderAsync(int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await _repo.GetByIdAsync(id);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thread returned to pool at 'await'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 resumes here when DB responds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 — run multiple I/O operations simultaneously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Task&lt;DashboardDto&gt; GetDashboardAsync(int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ordersTask   = _repo.GetOrdersAsync(id);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customerTask = _repo.GetCustomerAsync(id);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Task.WhenAll(ordersTask, customerTask); // parallel!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DashboardDto(ordersTask.Result, customerTask.Result);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2160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The 7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005072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.Result or .Wait() — causes deadlocks in ASP.NET Core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void only for event handlers — exceptions vanish otherwise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Always propagate CancellationToken — enables graceful cancellation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ConfigureAwait(false) in library code — avoids unnecessary context capture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Task not async void — makes exceptions observable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IAsyncEnumerable&lt;T&gt; for streaming large datasets from DB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ValueTask&lt;T&gt; for hot-path operations that are usually synchronous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Advanced patterns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767328" cy="2240280"/>
          </a:xfrm>
          <a:prstGeom prst="roundRect">
            <a:avLst>
              <a:gd name="adj" fmla="val 326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472184"/>
            <a:ext cx="351129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 concurrency — don't hammer the database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semaphore = new SemaphoreSlim(5); // max 5 concurrent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tasks = items.Select(async item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semaphore.WaitAsync(ct);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  { return await ProcessAsync(item, ct);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finally { semaphore.Release();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Task.WhenAll(tasks);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 large results — don't load all into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order in _repo.StreamOrdersAsync(filter, ct))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ProcessOneAsync(order, ct);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Channel — high-performance producer/consumer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channel = Channel.CreateBounded&lt;Order&gt;(capacity:100);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channel.Writer.WriteAsync(order,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o in channel.Reader.ReadAllAsync(ct))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ProcessAsync(o, ct);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694176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Interview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986784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What is the difference between Task and ValueTask?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Task allocates on heap; ValueTask avoids allocation when result is synchronous — use in hot paths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What causes a deadlock with async/await?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Calling .Result on a Task in a context with a SynchronizationContext (old ASP.NET, WinForms)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Q: How do you cancel an async operation?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A: Pass CancellationToken through every async method; call token.ThrowIfCancellationRequested()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2801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LINQ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LINQ: query anything with the same syntax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LINQ (Language Integrated Query) works on any IEnumerable&lt;T&gt; — in-memory lists, EF Core (SQL), XML, or custom data sources. Deferred execution is the key concept.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Core operators with use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.Where(o =&gt; o.Status == "Active")           // filter — O(n)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.OrderByDescending(o =&gt; o.Total)            // sort — O(n log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.GroupBy(o =&gt; o.CustomerId)                 // group — O(n)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.Select(g =&gt; new OrderSummaryDto {          // transform (projection)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CustomerId = g.Key,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OrderCount = g.Count(),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TotalSpent = g.Sum(o =&gt; o.Total),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LastOrder  = g.Max(o =&gt; o.CreatedAt)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.Take(10)                                   // limit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.ToList();                                  // ← MATERIALISE HERE (execute)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SelectMany — flatten nested collections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allItems = orders.SelectMany(o =&gt; o.Items);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Join — like SQL INNER JOIN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enriched = orders.Join(customers,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 =&gt; o.CustomerId, c =&gt; c.Id,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(o, c) =&gt; new { Order = o, CustomerName = c.Name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Aggregate — reduce to a single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totalRevenue = orders.Aggregate(0m, (acc, o) =&gt; acc + o.Total);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 / All — short-circuit evaluation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hasOverdue = orders.Any(o =&gt; o.DueDate &lt; DateTime.Today);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allPaid    = orders.All(o =&gt; o.IsPaid);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950208"/>
            <a:ext cx="47548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DEFERRED EXECUTION: query is not run until ToList(), First(), foreach, or Count()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EF Core translates Where/Select/OrderBy/GroupBy to SQL — runs on DB server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Client eval: calling a C# method inside Where() = LOAD ALL ROWS first — dangerous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AsNoTracking(): 30-40% faster for read-only EF queries — no change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FirstOrDefault() is safe; First() throws if empty; Single() throws if more than 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Any() stops at first match; Count() &gt; 0 scans all — use Any() for membership test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Prefer Select() projections — load only columns you need, not full entities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LINQ interview Q&amp;A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4447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What is deferred execution?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673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Query builds a description; runs only when enumerated. ToList() forces execution.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89320" y="21031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Difference between Select and SelectMany?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2331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Select transforms each element 1:1. SelectMany flattens one-to-many (Order → Items).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89320" y="2761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Why is Any() better than Count() &gt; 0?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990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Any() stops at first match — O(1) best case. Count() always scans all — O(n).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89320" y="34198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What is N+1 problem with EF LINQ?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3648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Loading orders then foreach loading customer = N+1 DB queries. Fix: .Include(o =&gt; o.Customer).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40782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When does EF LINQ break?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4306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When you call C# methods inside Where() that EF can't translate to SQL — moves to client eval.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74320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DESIGN PATTERNS — CREATIONAL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patterns: Factory · Abstract Factory · Builder · Singleton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Creational patterns separate object creation from usage. They make systems flexible and testable.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Factory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Create objects through an interface without exposing the concrete type. Callers never use 'new ConcreteType()' directly.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IShapeFactory.Create('circle') returns IShape — caller doesn't know which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ServiceFactory.CreateForTenant(tenantType) — silo vs pool strategy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change the created type without changing callers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 .NET: IHttpClientFactory — creates configured HttpClient instances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Design: single Create method returning an interface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'Why is new() a dependency and how do you remove it?'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Builder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Construct complex objects step by step. The same construction process can produce different representations.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new OrderBuilder().ForCustomer(1).WithItem(p1,2).WithDiscount('PROMO').Build()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Fluent API: each method returns this — enables method chaining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Used in: WebApplicationBuilder, EF Core ModelBuilder, HttpClient configuration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readable construction of complex objects with many optional fields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Vs constructor: builder is clearer when you have &gt;4 parameters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'When would you choose Builder over a constructor?'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Singleton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Ensure only one instance exists. In .NET, the DI container manages this — you rarely implement it manually.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AddSingleton&lt;T&gt;(): one instance for the lifetime of the application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Use for: configuration, caches, HTTP clients, connection pools, feature flags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DANGER: Singleton that holds mutable state must be thread-safe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inject Scoped service into Singleton — captive dependency bug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 NOT implement manually in .NET — let the DI container manage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captive dependency problem?'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Abstract Factory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Create families of related objects without specifying their concrete classes. UI factory for different platforms.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IPaymentGatewayFactory: CreateForRegion('ZA') vs CreateForRegion('EU')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ITenantServicesFactory: SiloServices vs PoolServices per tenant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Benefit: consistent object families — all SA objects use SA rules together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Different from Factory Method: creates families, not single objects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Real example: EF Core uses this for different database providers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'Difference between Factory Method and Abstract Factory?'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32918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DESIGN PATTERNS — STRUCTURAL &amp; BEHAVIORAL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Patterns: Decorator · Strategy · Observer · Mediator · Command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These patterns show up constantly in enterprise .NET — Decorator in MediatR pipelines, Observer in domain events, Strategy in discount calculations.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Decorator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Add behaviour to an object without changing it. Wrap it in another object with the same interface.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LoggingRepository wraps SqlRepository — adds logging, SqlRepository unchanged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pipeline behaviours ARE Decorator — each wraps the next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Decorator = Open/Closed in practice: add logging by adding a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Chain decorators: SqlRepository → CachingRepository → LoggingRepository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 .NET: Stream is a decorator (GZipStream wraps FileStream)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MediatR pipeline behaviours use the Decorator pattern?'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Define a family of algorithms, encapsulate each one, and make them interchangeable at runtime.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IDiscountStrategy with LoyaltyDiscount, BulkDiscount, VipDiscount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Inject via DI — swap strategy without changing OrderService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Strategy = OCP in practice: new discount type = new class only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IPaymentGateway: StripeGateway, PayFastGateway — swap per region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 flags: inject different strategy based on flag 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Strategy implement the Open/Closed Principle?'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Observer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When one object changes, all its dependents are notified automatically. C# events/delegates are the built-in Observer.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C# events: order.OrderPlaced += (s,e) =&gt; SendEmail(e)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Domain events: Order raises OrderPlacedEvent — multiple handlers subscribe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INotification + INotificationHandler — ordered, async observer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= Observer at infrastructure level — topic + multiple subscribers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Benefit: decouples the publisher from the subscribers — neither knows about each other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'Difference between domain events and integration events?'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Mediator &amp; Command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Mediator decouples components — they communicate through it, not directly. Command encapsulates a request as an object.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MediatR IS the Mediator — sender.Send(command) — sender doesn't know the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Command: PlaceOrderCommand encapsulates all data to place an order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Commands can be queued, retried, logged, undone — because they're objects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Enables: audit log, undo/redo, event sourcing, CQRS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Mediator benefit: add a new handler without changing the sender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MediatR implement both Mediator and Command patterns?'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CLEAN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layers, rules &amp; folder structure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dependency rule: source code dependencies only point INWARD. Domain knows nothing about SQL, HTTP, or Azure. Nothing should force a change to the Domain layer.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7899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78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3350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Pure C#. Zero NuGet dependencies. Business rules live here and NOWHERE else.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165506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Entities: Order, Customer — have identity (Id), mutable state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 objects: Money, Address — immutable, equality by value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events: OrderPlaced, PaymentFailed — facts that happened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Interfaces: IOrderRepository — defined here, implemented in Infrastructure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Aggregates: consistency boundary — always load/save the Aggregate Root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Business invariants: Order.CanShip() returns domain-validated bool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98755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7899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78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33502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Orchestrates the Domain. Use cases (what the app can DO). Depends only on Domain.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65506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CQRS: Commands (write) + Queries (read)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Command/query handlers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Pipeline behaviours: validation, logging, caching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Application services: coordinate multiple domain operations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DTOs and mapping (AutoMapper or manual)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Interfaces for infrastructure: IEmailService (defined here)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" y="318211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Infrastructure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43814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Implements interfaces. Can be swapped (SQL → Cosmos) without touching Domain or Application.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" y="375818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SqlOrderRepository implements IOrderRepository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AppDbContext: EF Core config + migrations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Azure SDK clients: Service Bus, Blob, Key Vault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External API clients: payment gateways, email providers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Depends on: Domain + Application (for interfaces it implements)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55264" y="3090672"/>
            <a:ext cx="2633472" cy="1956816"/>
          </a:xfrm>
          <a:prstGeom prst="roundRect">
            <a:avLst>
              <a:gd name="adj" fmla="val 56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82112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3A4F9B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182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/ 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43814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Entry point. HTTP → Command/Query. No business logic here.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758184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Minimal API endpoints or ASP.NET Core controllers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Middleware: auth, error handling, request logging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DI registration in Program.cs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OpenAPI / Swagger documentation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Maps: HTTP req → command → MediatR → HTTP response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53328" y="987552"/>
            <a:ext cx="2834640" cy="4059936"/>
          </a:xfrm>
          <a:prstGeom prst="roundRect">
            <a:avLst>
              <a:gd name="adj" fmla="val 38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10972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Folder structure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1408176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4630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MyApp.sln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MyApp.Domain/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Entities/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Events/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ValueObjects/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MyApp.Application/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Orders/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├─ Commands/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│  └─ Queries/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Behaviours/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MyApp.Infrastructure/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Persistence/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Services/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MyApp.API/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Endpoints/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 Middleware/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tests/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Unit/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Integration/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Architecture/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99632" y="354787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Interview Q: 'How do you enforce Clean Architecture rules in CI?'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3813048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BCEE"/>
                </a:solidFill>
              </a:rPr>
              <a:t>A: NetArchTest — assert that Domain has no dependency on Infrastructure. Runs as a unit test in CI pipeline, fails the build if violated.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9632" y="44805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C8"/>
                </a:solidFill>
              </a:rPr>
              <a:t>Best resource: 'Clean Architecture' — Robert C. Martin (Uncle Bob)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CQRS + MEDIATR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and MediatR: commands, queries &amp; pipeline behaviours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CQRS separates reads from writes. A Command changes state and returns nothing (or just an ID). A Query reads state and NEVER changes it. MediatR wires them together.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Command (write side)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Commands represent intent: PlaceOrder, CancelOrder. They validate, execute business logic, and raise domain events.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2011680"/>
          </a:xfrm>
          <a:prstGeom prst="roundRect">
            <a:avLst>
              <a:gd name="adj" fmla="val 363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 — intent to change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PlaceOrderCommand(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CustomerId, List&lt;OrderItemDto&gt; 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IRequest&lt;Result&lt;int&gt;&gt;;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Handler — all logic for this use case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PlaceOrderHandler(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IOrderRepository repo, IUnitOfWork uow,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IPublisher publisher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IRequestHandler&lt;PlaceOrderCommand, Result&lt;int&gt;&gt;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Task&lt;Result&lt;int&gt;&gt; Handle(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PlaceOrderCommand cmd, CancellationToken ct)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order = Order.Create(cmd.CustomerId, cmd.Items);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Order.Create() enforces all business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repo.AddAsync(order,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uow.SaveChangesAsync(ct);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publisher.Publish(new OrderPlacedEvent(order.Id),ct);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Result.Success(order.Id);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58184"/>
            <a:ext cx="37947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Name commands after INTENT: PlaceOrder not CreateOrderRecord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handler is independent — one file, one responsibility (SRP)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Commands should validate via pipeline behaviour BEFORE the handler runs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Result&lt;T&gt; pattern: return success/failure without throwing for flow control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Domain events raised INSIDE the handler — infrastructure handles them outside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should commands not return the full entity?'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Query + Pipeline Behaviour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67328" cy="1298448"/>
          </a:xfrm>
          <a:prstGeom prst="roundRect">
            <a:avLst>
              <a:gd name="adj" fmla="val 563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472184"/>
            <a:ext cx="35112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Query — reads state, NEVER modifies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GetOrdersQuery(int CustomerId, int Page)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IRequest&lt;PagedResult&lt;OrderDto&gt;&gt;;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GetOrdersHandler(AppDbContext ctx)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IRequestHandler&lt;GetOrdersQuery, PagedResult&lt;OrderDto&gt;&gt;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Task&lt;PagedResult&lt;OrderDto&gt;&gt; Handle(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GetOrdersQuery q, CancellationToken ct)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ctx.Orders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.Where(o =&gt; o.CustomerId == q.CustomerId)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.AsNoTracking().ProjectTo&lt;OrderDto&gt;()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.ToPagedResultAsync(q.Page,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Validation Pipeline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035808"/>
            <a:ext cx="3767328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3090672"/>
            <a:ext cx="35112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BEFORE every handler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ValidationBehaviour&lt;TReq,TRes&gt;(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IEnumerable&lt;IValidator&lt;TReq&gt;&gt; validators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IPipelineBehavior&lt;TReq,TRes&gt;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Task&lt;TRes&gt; Handle(TReq req,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RequestHandlerDelegate&lt;TRes&gt; next, CancellationToken ct)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failures = validators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.SelectMany(v =&gt; v.Validate(req).Errors).ToList();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if(failures.Any()) throw new ValidationException(failures);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next(); // call the actual handler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407822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Other behaviours: logging, performance timing, caching, retry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Behaviours are Decorators — each wraps the next in the chain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Register: services.AddTransient(typeof(IPipelineBehavior&lt;,&gt;), typeof(ValidationBehaviour&lt;,&gt;))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Order matters: Logging → Validation →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 pipeline behaviours implement cross-cutting concerns?'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DOMAIN-DRIVEN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Domain-driven design: ubiquitous language to bounded contexts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DDD is both a language (to communicate with the business) and a set of patterns (to model complex business logic in code). When the code speaks the same language as the business, bugs disappear.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Building blocks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Use DDD vocabulary when talking to business stakeholders and writing code — bridge the communication gap.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Entity: has identity (OrderId) — same object across time, mutable state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Value Object: no identity (Money, Address) — equality by value, IMMUTABLE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Aggregate: consistency boundary — always access through the Aggregate Root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Aggregate Root: the only entry point (Order, not OrderItem directly)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Event: a fact that happened (OrderPlaced, PaymentReceived)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Repository: one per Aggregate Root — IOrderRepository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Bounded contexts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'Order' in Billing means Invoice. 'Order' in Fulfilment means Shipment. Different models for the same word. Each context has its own code.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Bounded Context = a subsystem with its own domain model and language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Context map: how contexts relate — Shared Kernel, Customer/Supplier, Conformist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Anti-Corruption Layer (ACL): translate between contexts — don't pollute your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One bounded context = one microservice (when you eventually split)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Ubiquitous language: code uses exactly the same words as the business uses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If you find yourself adding 'type' flags, you may need two bounded contexts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8458200" cy="1481328"/>
          </a:xfrm>
          <a:prstGeom prst="roundRect">
            <a:avLst>
              <a:gd name="adj" fmla="val 740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511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Aggregate design example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8039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58768"/>
            <a:ext cx="7973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 is the Aggregate Root — it owns its Items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: AggregateRoot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List&lt;OrderItem&gt; _items = [];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IReadOnlyList&lt;OrderItem&gt; Items =&gt; _items.AsReadOnly(); // protected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Order Create(int customerId, List&lt;OrderItemDto&gt; items)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order = new Order(customerId);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items.ForEach(i =&gt; order.AddItem(i)); // domain method enforces invariants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order.RaiseDomainEvent(new OrderCreatedEvent(order.Id)); // domain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order;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AddItem(OrderItemDto item)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(item.Quantity &lt;= 0) throw new DomainException("Quantity must be positive");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_items.Add(new OrderItem(item.ProductId, item.Quantity, item.Price));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 CORE + DAPPER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&amp; Dapper: when to use each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EF Core for writes and complex domain queries. Dapper for complex read queries and reporting where raw SQL is cleaner. Use both in the same project.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EF Core essentials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DbContext — Unit of Work + gateway to 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AppDbContext(DbContextOptions&lt;AppDbContext&gt; opts,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ITenantContext tenant) : DbContext(opts)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DbSet&lt;Order&gt; Orders =&gt; Set&lt;Order&gt;();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override void OnModelCreating(ModelBuilder mb)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mb.ApplyConfigurationsFromAssembly(GetType().Assembly);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Global filter — EVERY query adds WHERE TenantId = @id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mb.Entity&lt;Order&gt;().HasQueryFilter(o =&gt; o.TenantId == tenant.Id);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override async Task&lt;int&gt; SaveChangesAsync(CancellationToken ct=default){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(var e in ChangeTracker.Entries&lt;BaseEntity&gt;())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(e.State == EntityState.Added) e.Entity.CreatedAt = DateTime.UtcNow;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base.SaveChangesAsync(ct);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Fluent config — separate file per entity (IEntityTypeConfiguration&lt;T&gt;)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Migrations: dotnet ef migrations add Init → dotnet ef database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611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EF Core vs Dapper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83080"/>
                <a:gridCol w="178308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EF 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Dapper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Writes + complex domain queries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Read queries + reporting SQL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Mapping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Automatic + configurable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Manual or Dapper conventions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SQL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Generated SQL (inspectable)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You write the SQL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Good with AsNoTracking()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Slightly faster for simple reads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Migrations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Built-in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Manual / Flyway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Common EF Core pitfalls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1426464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N+1: foreach order → load customer = N+1 queries. Fix: .Include(o =&gt; o.Customer)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Client eval: Where(o =&gt; MyMethod(o)) loads ALL rows first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SaveChanges inside loop: batch all changes, save once at the 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Long-lived DbContext: always Scoped (per request), never Singleton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Missing index: EF doesn't add indexes automatically — add via fluent config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Over-fetching: Select(o =&gt; new Dto { ... }) only loads needed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Soft delete: HasQueryFilter(o =&gt; !o.IsDeleted) — never leaks deleted records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Concurrency: use RowVersion + DbUpdateConcurrencyException handler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pyramid, tools &amp; architecture tests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testing pyramid: many fast unit tests, fewer integration tests, minimal E2E tests. Architecture tests enforce structural rules at build time.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Unit tests (70%)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Fast, isolated, mock everything external. One failing test = one problem. Run in milliseconds.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xUnit (preferred) / NUnit / MSTest — all fine, xUnit is most modern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NSubstitute (preferred) or Moq for mocking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FluentAssertions: result.Should().BeTrue() — readable failures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Naming: MethodName_Scenario_ExpectedBehaviour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HANDLER not the controller — business logic is in the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Each test: Arrange → Act → Assert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No DB, no HTTP, no files — inject fakes for everything external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Integration tests (20%)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Test real interactions — real DB, real HTTP. Use Testcontainers to spin up a real SQL Server in Docker.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WebApplicationFactory&lt;Program&gt;: spin up real ASP.NET Core in 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Testcontainers: spin up real SQL Server / Redis / Service Bus in Docker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Override DI registrations: use test DB, not prod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full pipeline: HTTP request → handler → DB → HTTP response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Slower (seconds) — run in CI, not on every save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Respawn (Jimmy Bogard): clean DB between tests without recreating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Contract tests: Pact.NET — verify API consumer and provider agree on schema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Architecture tests (∞ value, 0 maintenance)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Assert structural rules as unit tests. NetArchTest runs in milliseconds and fails the build if architecture is violated.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Domain must not depend on Infrastructure — verified every build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All handlers must be in Application layer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Entities must not have public setters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NetArchTest.Rules NuGet — 5 lines to enforce a rule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Run in CI — prevents architecture drift silently accumulating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Pair with Roslyn Analyser for compile-time enforcement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enforce Clean Architecture in a team?'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Test best practices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Good tests are an asset. Bad tests are a maintenance burden.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Coverage target: 80% line coverage as a CI gate — not a goal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Mutation testing: Stryker.NET verifies tests actually catch bugs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Don't test implementation detail — test observable behaviour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Test the unhappy path too: null inputs, boundary values, domain exceptions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Fake vs Mock vs Stub: Fake has logic; Mock verifies calls; Stub returns canned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Builder pattern for test data: new OrderBuilder().WithOverduePayment().Build()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a Mock and a Stub?'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 &amp; OPTIONS PATTERN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 lifetimes &amp; the Options pattern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 is built into ASP.NET Core. Choosing the wrong lifetime causes stale data, memory leaks, or threading bugs — the captive dependency problem is the most common.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Lifetimes explained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3767328" cy="2286000"/>
          </a:xfrm>
          <a:prstGeom prst="roundRect">
            <a:avLst>
              <a:gd name="adj" fmla="val 32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35112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SINGLETON — one instance for app lifetime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builder.Services.AddSingleton&lt;ICache, RedisCache&gt;();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config, caches, HTTP clients, connection pools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DANGER: must be thread-safe if it holds state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SCOPED — one per HTTP request (or per scope)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builder.Services.AddScoped&lt;IOrderRepository, SqlOrderRepository&gt;();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builder.Services.AddScoped&lt;AppDbContext&gt;();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DbContext, repositories, anything per-request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NEVER inject into Singleton — captive dependency!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TRANSIENT — new instance every injection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builder.Services.AddTransient&lt;IEmailSender, SmtpEmailSender&gt;();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for: lightweight, stateless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Avoid for DbContext — too many instances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CLASSIC BUG: Singleton holds reference to Scoped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ConfigService {            // Singleton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ConfigService(AppDbContext ctx) {}    // AppDbContext is Scoped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First request's DbContext is held forever → stale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749040"/>
            <a:ext cx="37947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DbContext MUST be Scoped — one per request, tracks changes for that request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HttpClient: use IHttpClientFactory (Singleton) — avoids socket exhaustion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IServiceProvider.CreateScope() for background services needing Scoped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Test: IServiceScopeFactory.CreateScope().ServiceProvider.GetRequiredService&lt;T&gt;()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'Explain the captive dependency problem with a concrete example'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Options pattern — strongly-typed config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426464"/>
            <a:ext cx="3767328" cy="2084832"/>
          </a:xfrm>
          <a:prstGeom prst="roundRect">
            <a:avLst>
              <a:gd name="adj" fmla="val 3509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481328"/>
            <a:ext cx="3511296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appsettings.json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"Email": { "SmtpHost": "smtp.sg.com", "Port": 587, "From": "noreply@co.za" }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Strongly-typed options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EmailOptions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const string Section = "Email";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[Required] public string SmtpHost { get; set; } =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[Range(1,65535)] public int Port { get; set;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[Required][EmailAddress] public string From { get; set; } =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with validation on startup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builder.Services.AddOptions&lt;EmailOptions&gt;()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.BindConfiguration(EmailOptions.Section)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.ValidateDataAnnotations()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.ValidateOnStart(); // fail fast at app start, not first use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Inject and use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EmailService(IOptions&lt;EmailOptions&gt; opts)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Send()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cfg = opts.Value; // strongly typed, validated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cfg.SmtpHost, cfg.Port, cfg.From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3547872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 Options interfaces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840480"/>
            <a:ext cx="37947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IOptions&lt;T&gt;: snapshot at app start — simplest, no live reload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IOptionsSnapshot&lt;T&gt;: refreshed per request — good for per-tenant config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IOptionsMonitor&lt;T&gt;: live reload without restart — good for feature flags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Prefer ValidateOnStart() — catch config errors immediately at deployment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use config["key"] strings — always a typed options 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'Why use IOptions over IConfiguration directly?'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560320" cy="246888"/>
          </a:xfrm>
          <a:prstGeom prst="roundRect">
            <a:avLst>
              <a:gd name="adj" fmla="val 481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OBSERVABILITY &amp; RESILIENCE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logging, tracing, metrics &amp; Polly resilience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You cannot fix what you cannot see. Observability = structured logging + distributed tracing + metrics. Polly = resilience against failures in downstream services.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Structured logging with Serilog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Structured logging embeds searchable properties in log messages. Unstructured logs are unsearchable strings — useless at scale.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_logger.LogInformation("Order {OrderId} placed by {CustomerId}", id, custId)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The {} syntax embeds searchable properties — query in Log Analytics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Serilog.AspNetCore: request logging middleware in one 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Log levels: Trace &lt; Debug &lt; Information &lt; Warning &lt; Error &lt; Critical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log: passwords, JWT tokens, PII, connection strings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LogContext.PushProperty('TenantId', id) — ambient enrichment for all logs in scope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structured and unstructured logging?'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Distributed tracing (OpenTelemetry)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One user request may cross 5 services. Distributed tracing links all the spans into one trace so you can see the full picture.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Activity API: automatic for HttpClient, EF Core, Service Bus, ASP.NET 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W3C traceparent header: propagated across service boundaries automatically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 Insights: end-to-end transaction map — see all hops in one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Custom span: using var activity = ActivitySource.StartActivity('ProcessOrder')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Correlation ID: inject into all log messages via enricher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Export to: App Insights / Jaeger / Zipkin / OTLP endpoint — vendor-neutral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trace a request across 3 microservices?'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Polly v8 resilience pipelines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Polly adds resilience to any call that can fail: HTTP, DB, Service Bus. Configure once, apply everywhere via DI.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Retry: 3 attempts with exponential backoff + jitter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Circuit breaker: after 5 failures, open for 30s — fast fail, spare the downstream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Timeout: fail after 2s — don't hang waiting for a dead 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Hedge: send duplicate request if first is slow — race to first response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Bulkhead: limit concurrent calls to downstream — prevent cascade failure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services.AddResiliencePipeline('downstream', b =&gt; b.AddRetry().AddCircuitBreaker())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Retry and Circuit Breaker?'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Health checks &amp;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Health checks tell Kubernetes and App Service whether your app is ready to serve traffic. Metrics drive alerts.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app.MapHealthChecks('/health/ready'): is DB available? Cache up? Deps healthy?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app.MapHealthChecks('/health/live'): is the process alive? (simple 200 response)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AKS readiness probe: won't route traffic until /health/ready returns 200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Custom metric: Meter.CreateCounter&lt;long&gt;('orders.placed') — push to App Insights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Alert on: p99 latency &gt; 2s, error rate &gt; 1%, GC Gen2 collections high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Prometheus + Grafana: industry-standard metrics stack — Azure Monitor Workspace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a liveness probe and readiness probe?'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design: principles, versioning &amp; error contracts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Good API design is a contract with your consumers. Breaking it costs trust and forces them to change their code. Design contracts first, implement second.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REST principles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4754880" cy="1783080"/>
          </a:xfrm>
          <a:prstGeom prst="roundRect">
            <a:avLst>
              <a:gd name="adj" fmla="val 410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81328"/>
            <a:ext cx="44988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Resource-oriented nouns — not verbs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/api/v1/orders/{id}          // read 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/api/v1/orders?status=active // filter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/api/v1/orders               // create (returns 201 + Location header)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/api/v1/orders/{id}          // full replace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 /api/v1/orders/{id}          // partial 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/api/v1/orders/{id}          // delete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Consistent error shape (RFC 7807 Problem Details)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"https://api.myco.com/errors/validation",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"Validation failed",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422,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"detail": "CustomerId is required",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"traceId": "00-abc123-def456-00"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Idempotency key for POST (safe retry)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/api/v1/orders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Idempotency-Key: client-generated-uuid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246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HTTP status codes to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538728"/>
            <a:ext cx="4754880" cy="1225296"/>
          </a:xfrm>
          <a:prstGeom prst="roundRect">
            <a:avLst>
              <a:gd name="adj" fmla="val 597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93592"/>
            <a:ext cx="449884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200: OK — success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201: Created — POST succeeded, return Location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204: No Content — DELETE/PUT succeeded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400: Bad Request — client sent invalid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401: Unauthorized — not authenticated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403: Forbidden — authenticated but not allowed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404: Not Found — resource doesn't exist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409: Conflict — duplicate, optimistic concurrency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422: Unprocessable — validation failed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429: Too Many Requests — rate limited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500: Internal Server Error — server bug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33872" y="1005840"/>
            <a:ext cx="3063240" cy="388620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Versioning &amp; design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426464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URL versioning: /api/v1/ — simplest, most discoverable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Header: api-version: 2.0 — cleaner URLs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Asp.Versioning.Http NuGet — version support in .NET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Deprecated version: Sunset: Sat, 01 Jan 2026 00:00:00 GMT header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OpenAPI/Swagger: Swashbuckle or Scalar — auto-generated docs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Pagination: cursor-based (after=lastId) or skip+take with totalCount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HATEOAS: include related action links in response (advanced)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gRPC: binary protocol, strongly typed (protobuf), faster than REST — use for internal service-to-service calls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GraphQL: client specifies shape — good for flexible frontends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use gRPC over REST?'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REST interview: 'What makes an API truly RESTful?'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4F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Azure Cloud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Git · CI/CD · Docker · Kubernetes · Security · Redis · Service Bus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GIT &amp; SOURCE CONTROL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Git: branching, commits &amp; enterprise practices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Git is more than version control — it is the gating mechanism that ensures quality before code reaches production. Branch protection and conventional commits are non-negotiable in enterprise teams.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Branching 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Trunk-based development (short-lived branches, merge daily) is preferred over long-lived GitFlow for CI/CD teams.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main = production state at all times — never push directly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feature/&lt;ticket-id&gt; — short-lived (days, not weeks)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→ code review → CI green → squash merge → main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Branch protection: require 1 approval + all CI checks pass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Conventional commits: feat: / fix: / chore: / refactor: / docs: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Tags for releases: v1.2.3 — auto-generate release notes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GitFlow: use for OSS libraries; avoid for microservices teams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Secrets &amp;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 secret committed to Git can never be truly removed — it lives in history forever. Rotate immediately if discovered.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commit: connection strings, API keys, passwords, certificates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Local dev: dotnet user-secrets — stored outside the repo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CI/CD: Key Vault or pipeline secret variables — never hardcoded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Pre-commit hook: git-secrets blocks known secret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committed: rotate the secret immediately (not just delete the commit)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GitHub/Azure DevOps secret scanning: alerts on detected secrets in pushes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do you do if a developer commits an API key?'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Pull requests &amp; code reviews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PRs are where knowledge spreads and quality is gated. Good PR descriptions and small PRs are professional discipline.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description: what changed, why, how to test, risk level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 size: &lt;400 lines changed — large PRs get rubber-stamped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Squash merge: keeps main history clean — one commit per feature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Link to ticket: traceability from code to requirement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Review checklist: tests present? SOLID respected? Security considered?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Reviewers: at least one senior developer for critical paths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makes a good pull request description?'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Release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Semantic versioning communicates the impact of a change. Tags enable rollback to any version.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semver: MAJOR.MINOR.PATCH — breaking.feature.bugfix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MAJOR: breaking change; MINOR: new feature (backwards compatible); PATCH: bugfix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Release notes: auto-generated from conventional commit messages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Changelog: CHANGELOG.md — maintained by tooling (semantic-release)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Hotfix: branch from main, fix, merge back with PATCH bump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Feature flags: deploy code without activating it — decouple deploy from release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use a feature flag instead of a branch?'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CI/CD PIPELINES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from commit to production, safely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CI proves the code works. CD proves it can be deployed. Both together mean every merge to main is releasable. This is the gold standard for enterprise .NET teams.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CI pipeline stages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Fail fast: cheapest checks first. A typo fails in 30 seconds, not after a 10-minute Docker build.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7099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0976" y="1728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Restore &amp;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7647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dotnet restore → dotnet build — catch compile errors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157984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1579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Unit tests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dotnet test — fast, no DB, must be &gt;80% coverage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2606040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6060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" y="26243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Code quality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6609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SonarQube SAST, code smell detection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" y="3054096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0540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30723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Dependency scan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31089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OWASP NuGet dependency-check for CVEs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" y="3502152"/>
            <a:ext cx="27432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5021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0976" y="3520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Docker 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35570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Multi-stage Dockerfile → push to ACR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" y="4023360"/>
            <a:ext cx="3767328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078224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Actions example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restore &amp;&amp; dotnet build --no-restore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test --no-build --collect:"XPlat Code Coverage"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sonarsource/sonarcloud-github-action@master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CD deployment strategies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Goal: deploy without users noticing. The three strategies differ in risk, complexity and rollback speed.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1709928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17465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Rolling update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1965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Replace instances one at a time. Brief mixed-version period. Simplest to implement.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4920" y="214884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Re-deploy previous image tag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368296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2404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Blue-green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2624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New version runs alongside old. Switch traffic all at once. Easy rollback: flip switch.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74920" y="2807208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Flip traffic back to blue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3026664"/>
            <a:ext cx="3767328" cy="603504"/>
          </a:xfrm>
          <a:prstGeom prst="roundRect">
            <a:avLst>
              <a:gd name="adj" fmla="val 12121"/>
            </a:avLst>
          </a:prstGeom>
          <a:solidFill>
            <a:srgbClr val="0D1B4B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Canary release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3282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5% of traffic to new version. Monitor errors. Increase if healthy over 30 minutes.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74920" y="3465576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Rollback: Route 0% to canary, investigate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37760" y="3703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Environments &amp; approval gates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3986784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dev: auto-deploy on every merge to main — no approval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staging: auto-deploy + mandatory manual approval gate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production: manual approval + change record + scheduled window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Rollback: re-deploy previous Docker image tag — seconds not minutes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Health check: /health/ready must return 200 within 60s of deploy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difference between CI and CD?'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'Describe blue-green deployment and its benefits'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DOCKER &amp; KUBERNETES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containers &amp; AKS Kubernetes essentials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Docker packages your app and its dependencies into a portable image. Kubernetes runs many containers reliably across many servers, healing failures automatically.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Multi-stage Dockerfile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Multi-stage: build in SDK image (large), copy artifacts to runtime image (small). Production image is minimal — faster pull, smaller attack surface.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901952"/>
          </a:xfrm>
          <a:prstGeom prst="roundRect">
            <a:avLst>
              <a:gd name="adj" fmla="val 384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 (large SDK image — not shipped)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mcr.microsoft.com/dotnet/sdk:9.0 AS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/src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["MyApp.API/MyApp.API.csproj", "MyApp.API/"]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dotnet restore "MyApp.API/MyApp.API.csproj"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dotnet publish "MyApp.API/MyApp.API.csproj" -c Release -o /app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runtime (small runtime image — this is what ships)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mcr.microsoft.com/dotnet/aspnet:9.0 AS final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as non-root user — security best practice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$APP_UID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["dotnet", "MyApp.API.dll"]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648456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Runtime image is ~200MB vs SDK image ~900MB — use multi-stage always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docker-compose.yml: local dev with real dependencies (SQL Server, Redis)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HEALTHCHECK in Dockerfile: Docker knows if container is unhealthy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.dockerignore: exclude bin/, obj/, .git — smaller build context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Trivy or Grype: scan image for CVEs in CI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Never run as root in production — USER instruction in Dockerfile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'What is a multi-stage Docker build and why use it?'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AKS Kubernetes concepts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You describe WHAT you want. Kubernetes makes it happen and keeps it that way — healing failures, scaling pods, routing traffic.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709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Pod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9904" y="170992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Smallest unit — one or more containers, shared network + storage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Deployment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9904" y="21488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Desired state — '3 replicas of image:v2.1'. Self-healing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5877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9904" y="258775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Stable DNS + IP for a pod set — pods come and go, Service is stable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Ingress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9904" y="302666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HTTP routing — routes /api/orders → orders-service + TLS termination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34655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ConfigMap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346557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Non-secret config injected as env vars or files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39044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Secret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9904" y="39044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Base64-encoded sensitive data — reference from Key Vault in prod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0" y="43434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HPA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9904" y="434340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A1A2E"/>
                </a:solidFill>
              </a:rPr>
              <a:t>Horizontal Pod Autoscaler — add pods when CPU/custom metric rises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3904488"/>
            <a:ext cx="3767328" cy="877824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3959352"/>
            <a:ext cx="351129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Deployment manifest (key fields)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 { type: RollingUpdate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myacr.azurecr.io/myapp:v2.1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resources: { requests: {cpu: 100m, memory: 128Mi}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readinessProbe: { httpGet: {path: /health/ready, port: 8080} }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&amp; IDENTITY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JWT anatomy, OAuth 2.0, Azure AD &amp; Key Vault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Every request must prove identity (authentication) and what it's allowed to do (authorisation). JWT is the token format; OAuth 2.0 is the flow; Azure AD is the issuer.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JWT token anatomy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Header.Payload.Signature — three base64 JSON objects. Signature proves it wasn't tampered with. Payload contains claims — facts about the subject.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09928"/>
            <a:ext cx="3767328" cy="1719072"/>
          </a:xfrm>
          <a:prstGeom prst="roundRect">
            <a:avLst>
              <a:gd name="adj" fmla="val 425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64792"/>
            <a:ext cx="3511296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Decoded JWT payload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 "user-guid",            // who this token is about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"iss":  "https://login.microsoftonline.com/{tenant}", // issuer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"aud":  "api://my-app-client-id",  // intended recipient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1749600000,             // expiry (Unix timestamp)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 1749596400,             // issued 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["Admin","ReadOnly"],  // RBAC roles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"tid":  "tenant-id-guid",       // Azure AD tenant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"tenantId": "acme-corp"         // custom claim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Signature: RS256(base64(header) + '.' + base64(payload), privateKey)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Validated using Azure AD's PUBLIC KEY (JWKS endpoint)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456432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Validate in .NET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730752"/>
            <a:ext cx="3767328" cy="1042416"/>
          </a:xfrm>
          <a:prstGeom prst="roundRect">
            <a:avLst>
              <a:gd name="adj" fmla="val 701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785616"/>
            <a:ext cx="3511296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.AddAuthentication(JwtBearerDefaults.AuthenticationScheme)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.AddJwtBearer(o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o.Authority = "https://login.microsoftonline.com/{tid}";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o.Audience  = "api://my-app-client-id";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Azure AD's public key fetched automatically from Authority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Controller: [Authorize(Roles = "Admin")]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Policy: [Authorize(Policy = "CanPlaceOrder")]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OAuth 2.0 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OAuth 2.0 is the protocol for getting access tokens. Choose the flow based on whether a human is present.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1709928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7465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Auth Code + PKCE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965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Web, SPA, mobile — user logs 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74920" y="21488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Redirect → user authenticates → auth code → exchange for token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2404872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441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Client Credentials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6609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Service-to-service — no human user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Service sends clientId + secret → gets token → calls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0" y="3099816"/>
            <a:ext cx="3767328" cy="640080"/>
          </a:xfrm>
          <a:prstGeom prst="roundRect">
            <a:avLst>
              <a:gd name="adj" fmla="val 11429"/>
            </a:avLst>
          </a:prstGeom>
          <a:solidFill>
            <a:srgbClr val="0D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On-Behalf-Of (OBO)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355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C8"/>
                </a:solidFill>
              </a:rPr>
              <a:t>API calling another API on user's behalf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4920" y="3538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FAB"/>
                </a:solidFill>
              </a:rPr>
              <a:t>API receives user token → exchanges for token for downstream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38130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Vault + Managed Identity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096512"/>
            <a:ext cx="3767328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4151376"/>
            <a:ext cx="351129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Managed Identity — no credentials stored anywhere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 = new SecretClient(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Uri("https://myvault.vault.azure.net"),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DefaultAzureCredential()); // uses MI automatically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Never store clientId/secret in config for Azure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 in appsettings: "@Microsoft.KeyVault(VaultName=x;SecretName=y)"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AZURE 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infrastructure: full service map with guidance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Azure has hundreds of services. Knowing WHEN to use each — and when NOT to — is what separates a developer from a cloud architect.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Compute — choose your host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choice determines your operational overhead. More control = more responsibility.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App Service: managed PaaS — Microsoft handles OS patches, scaling. Use for: simple APIs, easy to operate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Container Apps: serverless containers, scale to zero. Use for: event-driven, variable load workloads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AKS: full Kubernetes control. Use for: complex multi-service, 24/7 high-scale workloads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Functions: serverless, event-triggered. Use for: background jobs, scheduled tasks, lightweight APIs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Decision: App Service first → Container Apps → AKS (add complexity only when justified)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Networking — secure the perimeter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Every production Azure system should have a VNet. Expose as little as possible to the internet.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VNet: isolate resources from internet — always use in production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NSG: Network Security Group — firewall rules per subnet (stateful)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Private Endpoint: PaaS service (SQL, Storage, Key Vault) accessible only from VNet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Application Gateway (L7 load balancer + WAF): WAF blocks OWASP top-10 attacks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API Management: single entry point, policies, rate limiting, dev portal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Front Door: global CDN + WAF + anycast routing — for globally distributed APIs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Messaging — async 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Async messaging decouples services. Producer doesn't care if consumer is slow or temporarily down.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Queues: one message → one consumer (point-to-point)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Service Bus Topics: one message → many consumers (fan-out / pub-sub)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Grid: reactive events for Azure resource events (blob uploaded, etc.)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Hubs: high-throughput streaming (millions of events/sec) — analytics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Dead-letter queue: failed messages for inspection and replay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 Service Bus for: business events between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 Event Hubs for: telemetry, logs, click streams at scale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— choose the right 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There is no single best database. Use the right store for the access pattern.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SQL: relational, ACID, perfect for structured business data — your default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Cosmos DB: globally distributed NoSQL, multi-model. Use when: global scale, schema flexibility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Redis Cache: in-memory key-value — sub-millisecond reads. Use for: caching, sessions, rate limiting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Blob Storage: files, images, documents, backups — cheap object storage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Table Storage: simple NoSQL, very cheap. Use for: logs, diagnostics, simple key-value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choose Cosmos DB over Azure SQL?'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REDIS &amp; SERVICE BUS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&amp; Service Bus: patterns, code &amp; pitfalls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Redis = fast memory cache. Service Bus = reliable async messaging. Together they are the backbone of every scalable .NET Azure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Redis: cache-aside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Check cache first. Miss → go to DB → store in cache. Always set TTL. Always invalidate on write.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691640"/>
            <a:ext cx="3767328" cy="2011680"/>
          </a:xfrm>
          <a:prstGeom prst="roundRect">
            <a:avLst>
              <a:gd name="adj" fmla="val 363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46504"/>
            <a:ext cx="35112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Task&lt;CustomerDto?&gt; GetAsync(int 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key = $"customer:{id}";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Check 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cached = await _cache.GetStringAsync(key,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(cached != 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JsonSerializer.Deserialize&lt;CustomerDto&gt;(cached)!;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Miss — go to 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customer = await _repo.GetByIdAsync(id,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(customer is null) return null;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Store with TTL — ALWAYS set expiry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_cache.SetStringAsync(key,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JsonSerializer.Serialize(customer),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DistributedCacheEntryOptions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AbsoluteExpirationRelativeToNow = TimeSpan.FromMinutes(5)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ct);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customer;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update — invalidate 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_cache.RemoveAsync($"customer:{id}", ct);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3739896"/>
            <a:ext cx="37947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Unbounded cache (no TTL) = memory leak — always set TTL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Stale-while-revalidate: return stale + trigger background refresh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Cache stampede: all threads miss simultaneously → Redlock distributed lock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Redis also does: rate limiting, pub/sub, distributed sessions, leaderboards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Never cache sensitive PII without encryption at rest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'What is the cache stampede problem and how do you fix it?'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Service Bus: patterns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Without Service Bus: Email service down = email lost. With Service Bus: message waits in queue until Email service recovers.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709928"/>
            <a:ext cx="3767328" cy="1920240"/>
          </a:xfrm>
          <a:prstGeom prst="roundRect">
            <a:avLst>
              <a:gd name="adj" fmla="val 381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764792"/>
            <a:ext cx="35112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Publisher — OrderService sends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_sender.SendMessageAsync(new ServiceBusMessage(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JsonSerializer.SerializeToUtf8Bytes(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OrderPlacedEvent(order.Id, order.Total)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MessageId = Guid.NewGuid().ToString(), // idempotency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   = "OrderPlaced",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SessionId = order.CustomerId.ToString() // ordered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— EmailService handles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 Handle(ProcessMessageEventArgs args)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evt = JsonSerializer.Deserialize&lt;OrderPlacedEvent&gt;(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args.Message.Body);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_email.SendConfirmationAsync(evt!);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args.CompleteMessageAsync(args.Message); // 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If this throws: message stays in queue for retry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After maxDeliveryCount: moved to Dead-Letter Queue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Queue: competing consumers — one message to one consumer (load balancing)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Topic + subscriptions: fan-out — Email, Inventory, Analytics all get OrderPlaced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Dead-letter queue (DLQ): inspect and replay failed messages — production essential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Message lock: consumer holds lease; must Complete before lock expires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Idempotent consumer: store MessageId in DB to detect duplicates on retry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Session: guaranteed order per SessionId (per customer, per tenant)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Interview: 'How do you make a Service Bus consumer idempotent?'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Design · DDD · Multi-tenancy · Microservices · Distributed Systems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trade-offs, NFRs &amp; architect thinking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Architects don't choose the best technology. They choose the best technology for these specific constraints: budget, team, compliance, scale, and timeline.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CAP theorem &amp; 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In distributed systems, you can only guarantee 2 of 3: Consistency, Availability, Partition Tolerance. Partition tolerance is always required — so the real choice is C vs 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Consistency: every read gets the latest write (SQL, your Transfer Agency)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Availability: every request gets a response, possibly stale (Cosmos AP mode)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Strong consistency: ACID, 2PC distributed transactions — simple but slow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Eventual consistency: Service Bus events, CQRS read models — fast but stale temporarily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BASE: Basically Available, Soft state, Eventually consistent — NoSQL default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'How does CAP theorem affect your service bus consumer design?'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Non-functional requirements (NFRs)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NFRs define HOW the system behaves, not WHAT it does. Missing NFRs lead to systems that work in demos but fail in production.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Latency: p95 &lt; 200ms, p99 &lt; 500ms at the API Gateway — measure at the edge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Availability: 99.9% = 8.7 hrs downtime/yr; 99.99% = 52 min/yr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RTO: how fast to restore after disaster? (hours? minutes? seconds?)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RPO: how much data can be lost? (0 for financial — synchronous replication)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Throughput: 1,000 req/s? 100,000 req/s? Determines DB + cache + pod 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Compliance: GDPR (EU data), POPIA (ZA data protection), PCI-DSS (payments)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Monolith vs microservices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Start with modular monolith. Split ONLY when you have concrete evidence: different scale needs, different teams, different release frequency.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Modular monolith: one deployable unit, logical module boundaries, shared DB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Microservices: independent deployable, independent DB, communicate via events/HTTP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Distributed monolith: worst of both worlds — split but tightly coupled. AVOID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Split signal: different teams need independent releases OR one service needs 10×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service owns its own database — no shared DB between services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Interview: 'When would you advise AGAINST microservices?'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Distributed system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Every pattern solves a specific failure mode. Know the problem first, then apply the pattern.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Saga: distributed transaction across services — choreography (events) or orchestration (coordinator)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Outbox pattern: write to DB + outbox table in one transaction — publish events reliably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Circuit breaker: stop calling failing service — fast fail, allow recovery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Retry + exponential backoff: handle transient failures without hammering the downstream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Bulkhead: limit concurrent calls — prevent one slow service taking down everything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Event sourcing: store events not current state — full audit trail, rebuild any point in time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MULTI-TENANCY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Multi-tenancy: silo, pool &amp; bridge patterns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 tenant is an organisation using your SaaS. Your Transfer Agency almost certainly uses the silo model. SaaS products use pool or bridge. Know the trade-offs before you decide.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Silo — DB per tenant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Maximum data isolation — breach affects one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Easy compliance: GDPR, POPIA, PCI-DSS per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Independent backup, restore, migration per tenant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Simple: no TenantId columns, no query filters needed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Highest infra cost — N databases = N connection pools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Cross-tenant reporting is hard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Schema migrations run N times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management grows with tenants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Transfer Agency, healthcare, legal, high-compliance SaaS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10128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38144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438144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Pool — Shared DB + TenantId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38144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38144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Lowest cost — dense packing, one database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Single migration to maintain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Simple cross-tenant analytics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38144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38144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Missing WHERE TenantId = data leak (CRITICAL risk)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Noisy neighbour: one tenant's query slows all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RLS required for safety — adds DB complexity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38144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SMB SaaS, internal tooling, low-sensitivity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005840"/>
            <a:ext cx="2697480" cy="3913632"/>
          </a:xfrm>
          <a:prstGeom prst="roundRect">
            <a:avLst>
              <a:gd name="adj" fmla="val 4068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91072" y="1097280"/>
            <a:ext cx="2450592" cy="274320"/>
          </a:xfrm>
          <a:prstGeom prst="roundRect">
            <a:avLst>
              <a:gd name="adj" fmla="val 20000"/>
            </a:avLst>
          </a:prstGeom>
          <a:solidFill>
            <a:srgbClr val="3A4F9B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1097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Bridge — Shared compute, separate DBs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91072" y="1426464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Pros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1645920"/>
            <a:ext cx="24505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DB-level isolation without RLS risk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Cost-efficient shared compute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Balance of cost vs compliance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91072" y="265176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Cons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2871216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string management grows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Connection pool overhead per tenant DB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91072" y="38404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0D1B4B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3858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EE"/>
                </a:solidFill>
              </a:rPr>
              <a:t>Use when: Most common modern SaaS — best balance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8458200" cy="365760"/>
          </a:xfrm>
          <a:prstGeom prst="roundRect">
            <a:avLst>
              <a:gd name="adj" fmla="val 30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95604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010912"/>
            <a:ext cx="7973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Pool model: EF Core global query filter — automatically adds WHERE TenantId = @id to EVERY 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mb.Entity&lt;Order&gt;().HasQueryFilter(o =&gt; o.TenantId == _tenantContext.TenantId);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Paths &amp; Intent Architect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C8"/>
                </a:solidFill>
              </a:rPr>
              <a:t>DevOps · Solutions Architect · Enterprise Architect · Tool Builder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ROLES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 career paths: roles, responsibilities &amp; certifications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role builds on the previous. The skills compound. DevOps and Solutions Architect can be pursued in parallel from senior developer level.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Senior .NET Developer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A4F9B"/>
                </a:solidFill>
              </a:rPr>
              <a:t>Cert: AZ-204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5216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Own a feature area end-to-end — design, build, test, deploy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Mentor junior developers — code reviews, pair programming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Contribute to architecture decisions with evidence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Deep CQRS, Clean Architecture, DDD expertise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Performance profiling and optimisation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0128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38144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DevOps Engineer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39C12"/>
                </a:solidFill>
              </a:rPr>
              <a:t>Cert: AZ-400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38144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Own CI/CD pipelines from YAML to deployment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Infrastructure as Code: Bicep or Terraform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Kubernetes cluster operations and upgrades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Observability: dashboards, alerts, on-call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Security scanning in pipelines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097280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Solutions Architect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83296" y="10972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96167"/>
                </a:solidFill>
              </a:rPr>
              <a:t>Cert: AZ-305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91072" y="1389888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Design the technical blueprint for a system or project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Produce C4 models, ADRs, API contracts, event schemas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Define NFRs: latency, availability, RTO, RPO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Present trade-offs to technical and non-technical stakeholders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Threat modelling (STRIDE), security architecture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Architect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Cert: AZ-305 + specialisation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5216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Multi-region, highly available Azure architecture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Landing zones, hub-spoke networking, private connectivity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Azure Well-Architected Framework: 5 pillars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Cost optimisation: right-sizing, reserved instances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FinOps: tag resources, showback/chargeback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38144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Enterprise Architect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30368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E2761"/>
                </a:solidFill>
              </a:rPr>
              <a:t>Cert: TOGAF 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38144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Organisation-wide technology strategy and roadmap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Governance: standards, patterns, vendor selection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Business capability mapping (ArchiMate)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Portfolio management: what to build vs buy vs retire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Board-level technology investment advice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3035808"/>
            <a:ext cx="26974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312724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Tool Builder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83296" y="31272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44AD"/>
                </a:solidFill>
              </a:rPr>
              <a:t>Cert: Roslyn + architecture depth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91072" y="3419856"/>
            <a:ext cx="245059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Build Roslyn analysers and source generators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Develop Intent Architect modules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Create internal developer platforms (IDPs)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Design DSLs and code generation pipelines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Sell tools to other developers and teams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INTENT ARCHITECT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Architect: architecture-centric AI code automation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South African-built .NET platform. Visual design → deterministic code generation → AI agents constrained by your architecture. 4×–10× faster development.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You describe your system visually. IA generates code that 100% conforms to your chosen architecture. When design changes, IA regenerates — automatically.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Visual designer: define entities, services, events — living blueprints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Architecture modules: Clean Arch, CQRS, EF Core, FastEndpoints, gRPC, React, Angular, 100+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Code generation: every file conforms to pattern — zero drift between developers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AI agents: Claude/Copilot code within IA's architecture guardrails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Regeneration: change entity field → IA updates all affected files instantly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South African company: offices in Cape Town and Amsterdam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10972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Problems it solves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The 6 most expensive problems in large .NET teams — eliminated systematically.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Boilerplate: every feature needs same scaffolding — IA generates in seconds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Architecture drift: Dev A vs Dev B implement the same pattern differently — IA prevents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Onboarding: new developer learns from IA output, not tribal knowledge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Large-scale refactors: change architecture pattern → IA regenerates everything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Code review overhead: no need to check pattern compliance — IA guarantees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Context for AI: structured design gives AI agents accurate, bounded context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Real customer results (SA &amp; global)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Verified case studies from IA's website — including several South African enterprises you know.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Teljoy (SA): 2 years done in 6 months — 4× speedup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DVT (SA, Capgemini): 90% of time on business logic (was 40%)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PSG (SA): 100% consistency across 30+ microservices with 1 junior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Aryzac: 12-month rewrite done in 57 hours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TFG (SA): automated standards enforcement across 40+ applications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Senwes (SA): 200 hours reduced to 24 hours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80944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307238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How to build tools like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649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9FD4"/>
                </a:solidFill>
              </a:rPr>
              <a:t>The path to tool-builder level. Start with Roslyn analysers — not a full platform.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363931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1: Roslyn analyser — enforce one architecture rule at compile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2: Source generator — IIncrementalGenerator, emit a repository from [Entity]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3: dotnet new template — team's standard project structure in one command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4: CLI scaffolder — generate full bounded context from a spec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Year 5+: Visual tool — domain model → generated code (IA's space)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Prerequisite: 5+ years senior .NET + deep architecture + compiler API knowledge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12-MONTH STUDY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study plan: senior dev to solutions architect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Starting from: Senior .NET developer. You already know CQRS, Clean Architecture, Azure basics. Target: AZ-305 certified Solutions Architect with IA module capability.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09728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Q1: C# &amp; SOLID depth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40817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Apply all 5 SOLID principles to one real class at work — document it as an ADR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Async deep dive: 'Concurrency in C#' by Stephen Cleary (free online)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Roslyn: write first analyser — warn when Domain entity has public setter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AZ-204: 1 hr/day on Microsoft Learn — complete in 8 weeks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Intent Architect: install, complete Getting Started, generate CRUD module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56048" y="109728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Q2: Architecture foundations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6048" y="140817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AZ-305 study: start now — architecture cert is the career milestone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C4 Context + Container diagram for your Transfer Agency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3 ADRs for real decisions made in the last 6 months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DDD: map one bounded context in your codebase — document in Structurizr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Multi-tenancy: implement pool model on a side project with EF Core global 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" y="310896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08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Q3: Cloud &amp; DevOps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341985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AZ-305 exam: take and pass — you are now a certified Solutions Architect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AZ-400: start studying — prove DevOps ownership to employers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Terraform: provision Azure resources for portfolio project from scratch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source generator: IIncrementalGenerator generating repository from [Entity]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Full CI/CD pipeline: build from scratch in GitHub Actions — own the YAML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56048" y="310896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31089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Q4: Architect-level projects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6048" y="3419856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Build a SaaS product: .NET + Azure + CI/CD + multi-tenancy — real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Write Intent Architect custom module for your team's standard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System design practice: Design Twitter, WhatsApp, Uber — whiteboard sessions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Structurizr DSL: automate C4 diagrams from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CEE"/>
                </a:solidFill>
              </a:rPr>
              <a:t>Read: 'Designing Data-Intensive Applications' (Kleppmann) — cover to cover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INTERVIEW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interview questions: senior dev, SA &amp; EA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 answers included. The pattern: explain what it is + why it matters + when to use it + a real example from your experience.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4582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7899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78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Explain SOLID with an example from your codebase.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13350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I applied SRP by splitting our OrderService which handled both business logic and email sending into OrderService + EmailService. The email provider changed later without touching OrderService.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167335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6733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88720" y="169164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What is the difference between async/await and parallel programming?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19293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Async/await frees threads during I/O waits — one thread serves many requests. Parallel uses multiple threads for CPU work. Use async for DB/HTTP; use Parallel.ForEachAsync for batch CPU 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26771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3A4F9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267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Senior Dev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88720" y="228600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prevent N+1 queries in EF Core?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88720" y="25237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Use .Include() for related data. Use .Select() projection to load only needed columns. Instrument with MiniProfiler or App Insights SQL tracking to detect N+1 in tests.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286207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620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decide between monolith and microservices?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31181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Start with modular monolith. Split when: different teams need independent releases, or one component needs 10× the scale of the rest. Never split prematurely — complexity cost is high.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345643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456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88720" y="347472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Explain the CAP theorem and how it applies to your system.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88720" y="37124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CAP: you can only guarantee 2 of Consistency, Availability, Partition Tolerance. For our Transfer Agency (financial data) we chose CP — SQL with ACID transactions. An email notification service could be AP — eventual consistency is fine.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" y="405079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0507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88720" y="406908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Q: How do you approach a technology strategy for an organisation?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88720" y="43068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2E"/>
                </a:solidFill>
              </a:rPr>
              <a:t>A: Start with business capabilities — what does the organisation need to be able to DO? Then map current systems to capabilities. Identify gaps, duplications, and technical debt. Produce a 3-year roadmap aligned to business objectives.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2194560" cy="246888"/>
          </a:xfrm>
          <a:prstGeom prst="roundRect">
            <a:avLst>
              <a:gd name="adj" fmla="val 48148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MASTER CHEAT SHEET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reference: terms, certifications &amp; resources</a:t>
            </a:r>
            <a:endParaRPr lang="en-US" sz="2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458200" cy="4096512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1371600"/>
                <a:gridCol w="2606040"/>
              </a:tblGrid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 / Tool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resource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SOLID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SRP,OCP,LSP,ISP,DIP — 5 OOP design principles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All devs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Code — Uncle Bob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CAP theorem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Consistency vs Availability in distributed systems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DDIA — Kleppmann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CQRS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Separate read and write models for different optimisation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Jimmy Bogard blog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DDD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Model complex business domains in code using business language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Blue book — Evans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Arch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Dependencies point inward — Domain knows nothing about infra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Clean Arch — Uncle Bob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Roslyn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C# compiler as a library — parse, analyse, generate code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Tool builder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learn.microsoft.com/dotnet/csharp/roslyn-sdk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Source generator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IIncrementalGenerator — emit .cs files at compile time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Tool builder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Roslyn SDK docs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NetArchTest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Assert Clean Arch rules in unit tests — CI enforcement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NuGet: NetArchTest.Rules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Structurizr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C4 model DSL — living architecture diagrams from code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structurizr.com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TOGAF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Enterprise Architecture framework — TOGAF 10 certification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opengroup.org/togaf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Architecture Decision Record — documents WHY, not WHAT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EA, 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adr.github.io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AZ-204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Developer Associate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Mid–senior dev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AZ-305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Solutions Architect Expert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SA, Cloud Arch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AZ-400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Azure DevOps Engineer Expert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DevOps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Microsoft Learn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Intent Architect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Architecture-centric AI code gen platform for .NET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All roles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intentarchitect.com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Polly v8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Resilience: retry, circuit breaker, timeout, hedge, bulkhead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pollydocs.org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25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OpenTelemetry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Vendor-neutral observability: traces, metrics, logs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Senior dev, DevOps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opentelemetry.io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Developer to Enterprise Architect — Complete Handbook</dc:title>
  <dc:subject>PptxGenJS Presentation</dc:subject>
  <dc:creator>Bongani Nyoni</dc:creator>
  <cp:lastModifiedBy>Bongani Nyoni</cp:lastModifiedBy>
  <cp:revision>1</cp:revision>
  <dcterms:created xsi:type="dcterms:W3CDTF">2026-06-11T12:03:49Z</dcterms:created>
  <dcterms:modified xsi:type="dcterms:W3CDTF">2026-06-11T12:03:49Z</dcterms:modified>
</cp:coreProperties>
</file>